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3"/>
  </p:notesMasterIdLst>
  <p:sldIdLst>
    <p:sldId id="256" r:id="rId6"/>
    <p:sldId id="257" r:id="rId7"/>
    <p:sldId id="258" r:id="rId8"/>
    <p:sldId id="259" r:id="rId9"/>
    <p:sldId id="260" r:id="rId10"/>
    <p:sldId id="261" r:id="rId11"/>
    <p:sldId id="262" r:id="rId12"/>
  </p:sldIdLst>
  <p:sldSz cx="18288000" cy="10287000"/>
  <p:notesSz cx="6858000" cy="9144000"/>
  <p:embeddedFontLst>
    <p:embeddedFont>
      <p:font typeface="Calibri (MS) Bold" charset="1" panose="020F0702030404030204"/>
      <p:regular r:id="rId16"/>
    </p:embeddedFont>
    <p:embeddedFont>
      <p:font typeface="Cambria Bold" charset="1" panose="02040803050406030204"/>
      <p:regular r:id="rId17"/>
    </p:embeddedFont>
    <p:embeddedFont>
      <p:font typeface="Calibri (MS) Italics" charset="1" panose="020F05020202040A0204"/>
      <p:regular r:id="rId18"/>
    </p:embeddedFont>
    <p:embeddedFont>
      <p:font typeface="Calibri (MS)" charset="1" panose="020F0502020204030204"/>
      <p:regular r:id="rId19"/>
    </p:embeddedFont>
    <p:embeddedFont>
      <p:font typeface="Cambria Italics" charset="1" panose="020405030504060A0204"/>
      <p:regular r:id="rId25"/>
    </p:embeddedFont>
    <p:embeddedFont>
      <p:font typeface="Cambria Bold Italics" charset="1" panose="020408030504060A0204"/>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notesMasters/notesMaster1.xml" Type="http://schemas.openxmlformats.org/officeDocument/2006/relationships/notesMaster"/><Relationship Id="rId14" Target="theme/theme2.xml" Type="http://schemas.openxmlformats.org/officeDocument/2006/relationships/theme"/><Relationship Id="rId15" Target="notesSlides/notesSlide1.xml" Type="http://schemas.openxmlformats.org/officeDocument/2006/relationships/note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notesSlides/notesSlide2.xml" Type="http://schemas.openxmlformats.org/officeDocument/2006/relationships/notesSlide"/><Relationship Id="rId21" Target="notesSlides/notesSlide3.xml" Type="http://schemas.openxmlformats.org/officeDocument/2006/relationships/notesSlide"/><Relationship Id="rId22" Target="notesSlides/notesSlide4.xml" Type="http://schemas.openxmlformats.org/officeDocument/2006/relationships/notesSlide"/><Relationship Id="rId23" Target="notesSlides/notesSlide5.xml" Type="http://schemas.openxmlformats.org/officeDocument/2006/relationships/notesSlide"/><Relationship Id="rId24" Target="notesSlides/notesSlide6.xml" Type="http://schemas.openxmlformats.org/officeDocument/2006/relationships/notesSlide"/><Relationship Id="rId25" Target="fonts/font25.fntdata" Type="http://schemas.openxmlformats.org/officeDocument/2006/relationships/font"/><Relationship Id="rId26" Target="notesSlides/notesSlide7.xml" Type="http://schemas.openxmlformats.org/officeDocument/2006/relationships/notesSlide"/><Relationship Id="rId27" Target="fonts/font27.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Good morning, everyone. Thank you for joining me for this executive walkthrough of Lab 4, where I used NotebookLM to answer a deceptively simple question: which forecasting method actually wins, region by region?</a:t>
            </a:r>
          </a:p>
          <a:p>
            <a:r>
              <a:rPr lang="en-US"/>
              <a:t/>
            </a:r>
          </a:p>
          <a:p>
            <a:r>
              <a:rPr lang="en-US"/>
              <a:t>Here's the business scenario. Our national retailer tested six different forecasting methods — Naive, Simple Exponential Smoothing, Holt Linear, Holt-Winters, ARIMA, and Prophet — against five years of historical sales data across five regions: North, South, East, West, and Central.</a:t>
            </a:r>
          </a:p>
          <a:p>
            <a:r>
              <a:rPr lang="en-US"/>
              <a:t/>
            </a:r>
          </a:p>
          <a:p>
            <a:r>
              <a:rPr lang="en-US"/>
              <a:t>But raw accuracy numbers only tell half the story. So alongside the accuracy data, our regional analysts also logged qualitative notes describing each region's actual demand behavior — things like seasonality, growth trends, and volatility.</a:t>
            </a:r>
          </a:p>
          <a:p>
            <a:r>
              <a:rPr lang="en-US"/>
              <a:t/>
            </a:r>
          </a:p>
          <a:p>
            <a:r>
              <a:rPr lang="en-US"/>
              <a:t>My objective in this lab was to bring both of those data sources into NotebookLM, let it synthesize the numbers with the narrative, and produce a set of regional forecasting recommendations that are not just statistically accurate, but operationally explainable to this leadership team.</a:t>
            </a:r>
          </a:p>
          <a:p>
            <a:r>
              <a:rPr lang="en-US"/>
              <a:t/>
            </a:r>
          </a:p>
          <a:p>
            <a:r>
              <a:rPr lang="en-US"/>
              <a:t>Over the next few slides, I'll walk you through exactly how I set that up, what I asked the AI, what it found, and — just as importantly — where I had to challenge its output rather than take it at face value.</a:t>
            </a:r>
          </a:p>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Let's talk about how I actually set this up in NotebookLM, because the setup matters as much as the prompting.</a:t>
            </a:r>
          </a:p>
          <a:p>
            <a:r>
              <a:rPr lang="en-US"/>
              <a:t/>
            </a:r>
          </a:p>
          <a:p>
            <a:r>
              <a:rPr lang="en-US"/>
              <a:t>I uploaded two sources. The first is forecast_method_accuracy.csv, which contains the error rate — measured in MAPE, or mean absolute percentage error — for all six forecasting methods, in every one of our five regions. Lower error means a more accurate forecast.</a:t>
            </a:r>
          </a:p>
          <a:p>
            <a:r>
              <a:rPr lang="en-US"/>
              <a:t/>
            </a:r>
          </a:p>
          <a:p>
            <a:r>
              <a:rPr lang="en-US"/>
              <a:t>The second source is region_notes.csv. This is qualitative. It's the on-the-ground commentary from our regional analysts describing what demand actually looks like in their region — is it seasonal, is it flat, is it trending, is it volatile.</a:t>
            </a:r>
          </a:p>
          <a:p>
            <a:r>
              <a:rPr lang="en-US"/>
              <a:t/>
            </a:r>
          </a:p>
          <a:p>
            <a:r>
              <a:rPr lang="en-US"/>
              <a:t>The reason I uploaded both, instead of just asking NotebookLM to rank the numbers, is that accuracy alone doesn't tell leadership why a method works. A model can win on paper and still be the wrong long-term choice if it doesn't match the underlying demand behavior.</a:t>
            </a:r>
          </a:p>
          <a:p>
            <a:r>
              <a:rPr lang="en-US"/>
              <a:t/>
            </a:r>
          </a:p>
          <a:p>
            <a:r>
              <a:rPr lang="en-US"/>
              <a:t>So my first grounding prompt explicitly asked NotebookLM to reason across both files together — to explain why the top-performing method in each region either matched or conflicted with what the analyst notes described. That dual-source instruction is what shaped every answer that followed.</a:t>
            </a:r>
          </a:p>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is the core analytical slide, so let's walk through it region by region.</a:t>
            </a:r>
          </a:p>
          <a:p>
            <a:r>
              <a:rPr lang="en-US"/>
              <a:t/>
            </a:r>
          </a:p>
          <a:p>
            <a:r>
              <a:rPr lang="en-US"/>
              <a:t>In the North, Holt-Winters wins clearly at 7.1% error. That makes total sense — the analyst notes describe strong seasonal fluctuation with predictable Q4 holiday spikes, and Holt-Winters is purpose-built to capture both trend and repeating seasonal cycles. The model and the story agree.</a:t>
            </a:r>
          </a:p>
          <a:p>
            <a:r>
              <a:rPr lang="en-US"/>
              <a:t/>
            </a:r>
          </a:p>
          <a:p>
            <a:r>
              <a:rPr lang="en-US"/>
              <a:t>Central tells a very similar tale. Holt-Winters again wins, at 6.8% error, and the notes describe strong quarterly seasonality layered on top of moderate growth. Again, expected alignment between the math and the narrative.</a:t>
            </a:r>
          </a:p>
          <a:p>
            <a:r>
              <a:rPr lang="en-US"/>
              <a:t/>
            </a:r>
          </a:p>
          <a:p>
            <a:r>
              <a:rPr lang="en-US"/>
              <a:t>West is a little more interesting: Prophet edges out ARIMA, 11.2% versus 11.5%. The region shows steady upward growth with moderate seasonal peaks — exactly the kind of trend-plus-seasonality pattern Prophet was designed to decompose.</a:t>
            </a:r>
          </a:p>
          <a:p>
            <a:r>
              <a:rPr lang="en-US"/>
              <a:t/>
            </a:r>
          </a:p>
          <a:p>
            <a:r>
              <a:rPr lang="en-US"/>
              <a:t>Now here's where it gets genuinely interesting, and where I want you to pay close attention, because these next two regions are the ones I dig into on the following slides. In the South, Prophet wins by a wide margin — 9.2% versus the next-best ARIMA at 15.1%. And in the East, the simplest method on the list, Naive, actually wins outright at 5.1% error, beating every sophisticated model we tested.</a:t>
            </a:r>
          </a:p>
          <a:p>
            <a:r>
              <a:rPr lang="en-US"/>
              <a:t/>
            </a:r>
          </a:p>
          <a:p>
            <a:r>
              <a:rPr lang="en-US"/>
              <a:t>Those two results — South and East — are the ones NotebookLM flagged as most worth explaining to this leadership team, and that's exactly where I'm headed next.</a:t>
            </a:r>
          </a:p>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Let's zoom in on the South region, because this is the result that most surprised me when I first saw it, and it's exactly the kind of finding a good AI synthesis tool should surface.</a:t>
            </a:r>
          </a:p>
          <a:p>
            <a:r>
              <a:rPr lang="en-US"/>
              <a:t/>
            </a:r>
          </a:p>
          <a:p>
            <a:r>
              <a:rPr lang="en-US"/>
              <a:t>On paper, every method in the South performs worse than in any other region — even the winner, Prophet, has a 9.2% error rate, which is higher than the winning error rate everywhere else. That tells us something on its own: the South is simply a harder region to forecast.</a:t>
            </a:r>
          </a:p>
          <a:p>
            <a:r>
              <a:rPr lang="en-US"/>
              <a:t/>
            </a:r>
          </a:p>
          <a:p>
            <a:r>
              <a:rPr lang="en-US"/>
              <a:t>But look at the gap. Prophet beats the next-best method, ARIMA, by nearly six full percentage points — 9.2% versus 15.1%. That's not a marginal win, that's a decisive one.</a:t>
            </a:r>
          </a:p>
          <a:p>
            <a:r>
              <a:rPr lang="en-US"/>
              <a:t/>
            </a:r>
          </a:p>
          <a:p>
            <a:r>
              <a:rPr lang="en-US"/>
              <a:t>I asked NotebookLM to explain that gap specifically, using the analyst notes. The South's notes describe unpredictable, weather-driven monsoon surges — non-linear spikes tied to holidays and weather events, not a clean repeating calendar pattern.</a:t>
            </a:r>
          </a:p>
          <a:p>
            <a:r>
              <a:rPr lang="en-US"/>
              <a:t/>
            </a:r>
          </a:p>
          <a:p>
            <a:r>
              <a:rPr lang="en-US"/>
              <a:t>Here's the business reasoning: methods like Holt-Winters and ARIMA assume a relatively stable, repeating structure to seasonality. When demand spikes are irregular and event-driven rather than calendar-driven, those models smooth right through the surge and miss it. Prophet, on the other hand, is built with automatic changepoint detection — it's designed to notice abrupt shifts in the trend and adjust rather than average them away.</a:t>
            </a:r>
          </a:p>
          <a:p>
            <a:r>
              <a:rPr lang="en-US"/>
              <a:t/>
            </a:r>
          </a:p>
          <a:p>
            <a:r>
              <a:rPr lang="en-US"/>
              <a:t>The executive takeaway here is simple: our most volatile, most chaotic region needs our most adaptive model — not necessarily the one that looks most sophisticated in a vendor brochure, but the one engineered specifically for irregular shocks.</a:t>
            </a:r>
          </a:p>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Now let's flip to the opposite lesson, in the East region, because this one is arguably more important for how we operate day to day.</a:t>
            </a:r>
          </a:p>
          <a:p>
            <a:r>
              <a:rPr lang="en-US"/>
              <a:t/>
            </a:r>
          </a:p>
          <a:p>
            <a:r>
              <a:rPr lang="en-US"/>
              <a:t>In the East, the simplest possible forecasting method — Naive, which essentially just carries last period's value forward — wins outright at 5.1% error. Simple Exponential Smoothing is a close second at 5.3%. And notice the pattern as you move down the list: Holt Linear, Holt-Winters, ARIMA, and Prophet all perform worse, not better, as they get more sophisticated.</a:t>
            </a:r>
          </a:p>
          <a:p>
            <a:r>
              <a:rPr lang="en-US"/>
              <a:t/>
            </a:r>
          </a:p>
          <a:p>
            <a:r>
              <a:rPr lang="en-US"/>
              <a:t>Why? The analyst notes for the East describe very stable, flat demand with only minor random variation — no meaningful trend, no seasonality to speak of.</a:t>
            </a:r>
          </a:p>
          <a:p>
            <a:r>
              <a:rPr lang="en-US"/>
              <a:t/>
            </a:r>
          </a:p>
          <a:p>
            <a:r>
              <a:rPr lang="en-US"/>
              <a:t>When I asked NotebookLM to explain this pattern, it correctly identified this as a textbook overfitting scenario. The more complex models are built to detect trend and seasonal structure. When that structure genuinely doesn't exist in the data, those models don't just fail to add value — they actively manufacture false patterns out of random noise, and that noise-chasing behavior increases their error.</a:t>
            </a:r>
          </a:p>
          <a:p>
            <a:r>
              <a:rPr lang="en-US"/>
              <a:t/>
            </a:r>
          </a:p>
          <a:p>
            <a:r>
              <a:rPr lang="en-US"/>
              <a:t>The executive takeaway is one I'd like this room to remember: more advanced does not mean more accurate. Model selection should always be driven by the actual complexity of the demand pattern, not by which tool sounds the most impressive. In a flat, stable region like the East, running a lightweight Naive or SES model isn't just adequate — it's measurably the better choice, and it's cheaper and faster to maintain.</a:t>
            </a:r>
          </a:p>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Let's bring this together into what leadership actually needs: a default method per region that our forecasting team can operationalize starting next quarter.</a:t>
            </a:r>
          </a:p>
          <a:p>
            <a:r>
              <a:rPr lang="en-US"/>
              <a:t/>
            </a:r>
          </a:p>
          <a:p>
            <a:r>
              <a:rPr lang="en-US"/>
              <a:t>North defaults to Holt-Winters, because the region's defining feature is predictable, repeating seasonality around the holidays.</a:t>
            </a:r>
          </a:p>
          <a:p>
            <a:r>
              <a:rPr lang="en-US"/>
              <a:t/>
            </a:r>
          </a:p>
          <a:p>
            <a:r>
              <a:rPr lang="en-US"/>
              <a:t>South defaults to Prophet, because it's the only method flexible enough to absorb irregular, weather-driven surges without leadership having to intervene and re-forecast manually every time there's a surprise.</a:t>
            </a:r>
          </a:p>
          <a:p>
            <a:r>
              <a:rPr lang="en-US"/>
              <a:t/>
            </a:r>
          </a:p>
          <a:p>
            <a:r>
              <a:rPr lang="en-US"/>
              <a:t>East defaults to Naive — and I want to underline that this is a considered recommendation, not a shortcut. It is the mathematically best-performing option and the cheapest to run.</a:t>
            </a:r>
          </a:p>
          <a:p>
            <a:r>
              <a:rPr lang="en-US"/>
              <a:t/>
            </a:r>
          </a:p>
          <a:p>
            <a:r>
              <a:rPr lang="en-US"/>
              <a:t>West defaults to Prophet, since it's carrying both a genuine growth trend and moderate seasonal peaks, and Prophet handles that combination slightly better than ARIMA.</a:t>
            </a:r>
          </a:p>
          <a:p>
            <a:r>
              <a:rPr lang="en-US"/>
              <a:t/>
            </a:r>
          </a:p>
          <a:p>
            <a:r>
              <a:rPr lang="en-US"/>
              <a:t>And Central defaults to Holt-Winters, for the same reason as North: strong, structured seasonality that a dedicated seasonal model captures well.</a:t>
            </a:r>
          </a:p>
          <a:p>
            <a:r>
              <a:rPr lang="en-US"/>
              <a:t/>
            </a:r>
          </a:p>
          <a:p>
            <a:r>
              <a:rPr lang="en-US"/>
              <a:t>The unifying principle across all five recommendations is this: we are not choosing one company-wide forecasting standard. We are matching model sophistication to the actual shape of regional demand, and that region-by-region discipline is what's driving the accuracy gains you see in this table.</a:t>
            </a:r>
          </a:p>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Finally, I want to close with an honest critique of the tool itself, because part of this lab is evaluating NotebookLM, not just trusting it.</a:t>
            </a:r>
          </a:p>
          <a:p>
            <a:r>
              <a:rPr lang="en-US"/>
              <a:t/>
            </a:r>
          </a:p>
          <a:p>
            <a:r>
              <a:rPr lang="en-US"/>
              <a:t>Where it genuinely added value: once I gave it explicit dual-source prompts, it did real synthesis. It connected Prophet's technical strength in changepoint detection to the South's weather-driven demand shocks. It independently recognized the overfitting pattern in the East, even though I never used that word in my prompt — it inferred the concept from the data. And it produced one coherent decision framework across all five regions instead of five disconnected answers.</a:t>
            </a:r>
          </a:p>
          <a:p>
            <a:r>
              <a:rPr lang="en-US"/>
              <a:t/>
            </a:r>
          </a:p>
          <a:p>
            <a:r>
              <a:rPr lang="en-US"/>
              <a:t>Where it fell short: left to its own devices, its first-pass answers tended to just restate the lowest error number per region without explaining why. I had to explicitly prompt it to compare methods and reference the qualitative notes before it did any real reasoning. It also didn't proactively raise caveats — for example, five years of data is a relatively short history for validating a seasonal model, and I had to ask about that limitation directly rather than have it surface unprompted.</a:t>
            </a:r>
          </a:p>
          <a:p>
            <a:r>
              <a:rPr lang="en-US"/>
              <a:t/>
            </a:r>
          </a:p>
          <a:p>
            <a:r>
              <a:rPr lang="en-US"/>
              <a:t>My overall verdict: NotebookLM is a strong synthesis engine when it's directed with specific, cross-source prompts, but it is not yet a substitute for a human analyst's judgment about what's worth flagging. The value it added in this lab came from the questions I asked it, not from the tool working autonomously — which is exactly the kind of finding I'd want any of you to keep in mind before handing a tool like this a fully autonomous role in our forecasting process.</a:t>
            </a:r>
          </a:p>
          <a:p>
            <a:r>
              <a:rPr lang="en-US"/>
              <a:t/>
            </a:r>
          </a:p>
          <a:p>
            <a:r>
              <a:rPr lang="en-US"/>
              <a:t>That concludes my walkthrough. Thank you.</a:t>
            </a:r>
          </a:p>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jpeg" Type="http://schemas.openxmlformats.org/officeDocument/2006/relationships/image"/><Relationship Id="rId4" Target="../media/image3.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41A45"/>
        </a:solidFill>
      </p:bgPr>
    </p:bg>
    <p:spTree>
      <p:nvGrpSpPr>
        <p:cNvPr id="1" name=""/>
        <p:cNvGrpSpPr/>
        <p:nvPr/>
      </p:nvGrpSpPr>
      <p:grpSpPr>
        <a:xfrm>
          <a:off x="0" y="0"/>
          <a:ext cx="0" cy="0"/>
          <a:chOff x="0" y="0"/>
          <a:chExt cx="0" cy="0"/>
        </a:xfrm>
      </p:grpSpPr>
      <p:grpSp>
        <p:nvGrpSpPr>
          <p:cNvPr name="Group 2" id="2"/>
          <p:cNvGrpSpPr/>
          <p:nvPr/>
        </p:nvGrpSpPr>
        <p:grpSpPr>
          <a:xfrm rot="0">
            <a:off x="1234440" y="1371600"/>
            <a:ext cx="15087600" cy="548640"/>
            <a:chOff x="0" y="0"/>
            <a:chExt cx="20116800" cy="731520"/>
          </a:xfrm>
        </p:grpSpPr>
        <p:sp>
          <p:nvSpPr>
            <p:cNvPr name="Freeform 3" id="3"/>
            <p:cNvSpPr/>
            <p:nvPr/>
          </p:nvSpPr>
          <p:spPr>
            <a:xfrm flipH="false" flipV="false" rot="0">
              <a:off x="0" y="0"/>
              <a:ext cx="20116800" cy="731520"/>
            </a:xfrm>
            <a:custGeom>
              <a:avLst/>
              <a:gdLst/>
              <a:ahLst/>
              <a:cxnLst/>
              <a:rect r="r" b="b" t="t" l="l"/>
              <a:pathLst>
                <a:path h="731520" w="20116800">
                  <a:moveTo>
                    <a:pt x="0" y="0"/>
                  </a:moveTo>
                  <a:lnTo>
                    <a:pt x="20116800" y="0"/>
                  </a:lnTo>
                  <a:lnTo>
                    <a:pt x="20116800" y="731520"/>
                  </a:lnTo>
                  <a:lnTo>
                    <a:pt x="0" y="731520"/>
                  </a:lnTo>
                  <a:close/>
                </a:path>
              </a:pathLst>
            </a:custGeom>
            <a:blipFill>
              <a:blip r:embed="rId3">
                <a:alphaModFix amt="0"/>
              </a:blip>
              <a:stretch>
                <a:fillRect l="0" t="-485838" r="0" b="-485838"/>
              </a:stretch>
            </a:blipFill>
          </p:spPr>
        </p:sp>
        <p:sp>
          <p:nvSpPr>
            <p:cNvPr name="TextBox 4" id="4"/>
            <p:cNvSpPr txBox="true"/>
            <p:nvPr/>
          </p:nvSpPr>
          <p:spPr>
            <a:xfrm>
              <a:off x="0" y="-47625"/>
              <a:ext cx="20116800" cy="779145"/>
            </a:xfrm>
            <a:prstGeom prst="rect">
              <a:avLst/>
            </a:prstGeom>
          </p:spPr>
          <p:txBody>
            <a:bodyPr anchor="ctr" rtlCol="false" tIns="0" lIns="0" bIns="0" rIns="0"/>
            <a:lstStyle/>
            <a:p>
              <a:pPr algn="l">
                <a:lnSpc>
                  <a:spcPts val="2340"/>
                </a:lnSpc>
              </a:pPr>
              <a:r>
                <a:rPr lang="en-US" b="true" sz="1950" spc="299">
                  <a:solidFill>
                    <a:srgbClr val="B08D57"/>
                  </a:solidFill>
                  <a:latin typeface="Calibri (MS) Bold"/>
                  <a:ea typeface="Calibri (MS) Bold"/>
                  <a:cs typeface="Calibri (MS) Bold"/>
                  <a:sym typeface="Calibri (MS) Bold"/>
                </a:rPr>
                <a:t> DATA ANALYTICS &amp; BUSINESS FORECASTING</a:t>
              </a:r>
            </a:p>
          </p:txBody>
        </p:sp>
      </p:grpSp>
      <p:grpSp>
        <p:nvGrpSpPr>
          <p:cNvPr name="Group 5" id="5"/>
          <p:cNvGrpSpPr/>
          <p:nvPr/>
        </p:nvGrpSpPr>
        <p:grpSpPr>
          <a:xfrm rot="0">
            <a:off x="1234440" y="2057400"/>
            <a:ext cx="15773400" cy="3154680"/>
            <a:chOff x="0" y="0"/>
            <a:chExt cx="21031200" cy="4206240"/>
          </a:xfrm>
        </p:grpSpPr>
        <p:sp>
          <p:nvSpPr>
            <p:cNvPr name="Freeform 6" id="6"/>
            <p:cNvSpPr/>
            <p:nvPr/>
          </p:nvSpPr>
          <p:spPr>
            <a:xfrm flipH="false" flipV="false" rot="0">
              <a:off x="0" y="0"/>
              <a:ext cx="21031200" cy="4206240"/>
            </a:xfrm>
            <a:custGeom>
              <a:avLst/>
              <a:gdLst/>
              <a:ahLst/>
              <a:cxnLst/>
              <a:rect r="r" b="b" t="t" l="l"/>
              <a:pathLst>
                <a:path h="4206240" w="21031200">
                  <a:moveTo>
                    <a:pt x="0" y="0"/>
                  </a:moveTo>
                  <a:lnTo>
                    <a:pt x="21031200" y="0"/>
                  </a:lnTo>
                  <a:lnTo>
                    <a:pt x="21031200" y="4206240"/>
                  </a:lnTo>
                  <a:lnTo>
                    <a:pt x="0" y="4206240"/>
                  </a:lnTo>
                  <a:close/>
                </a:path>
              </a:pathLst>
            </a:custGeom>
            <a:blipFill>
              <a:blip r:embed="rId3">
                <a:alphaModFix amt="0"/>
              </a:blip>
              <a:stretch>
                <a:fillRect l="0" t="-47425" r="0" b="-47425"/>
              </a:stretch>
            </a:blipFill>
          </p:spPr>
        </p:sp>
        <p:sp>
          <p:nvSpPr>
            <p:cNvPr name="TextBox 7" id="7"/>
            <p:cNvSpPr txBox="true"/>
            <p:nvPr/>
          </p:nvSpPr>
          <p:spPr>
            <a:xfrm>
              <a:off x="0" y="9525"/>
              <a:ext cx="21031200" cy="4196715"/>
            </a:xfrm>
            <a:prstGeom prst="rect">
              <a:avLst/>
            </a:prstGeom>
          </p:spPr>
          <p:txBody>
            <a:bodyPr anchor="ctr" rtlCol="false" tIns="0" lIns="0" bIns="0" rIns="0"/>
            <a:lstStyle/>
            <a:p>
              <a:pPr algn="l">
                <a:lnSpc>
                  <a:spcPts val="7200"/>
                </a:lnSpc>
              </a:pPr>
              <a:r>
                <a:rPr lang="en-US" sz="6300" b="true">
                  <a:solidFill>
                    <a:srgbClr val="FFFFFF"/>
                  </a:solidFill>
                  <a:latin typeface="Cambria Bold"/>
                  <a:ea typeface="Cambria Bold"/>
                  <a:cs typeface="Cambria Bold"/>
                  <a:sym typeface="Cambria Bold"/>
                </a:rPr>
                <a:t>Which Forecasting Method</a:t>
              </a:r>
            </a:p>
            <a:p>
              <a:pPr algn="l">
                <a:lnSpc>
                  <a:spcPts val="7200"/>
                </a:lnSpc>
              </a:pPr>
              <a:r>
                <a:rPr lang="en-US" sz="6300" b="true">
                  <a:solidFill>
                    <a:srgbClr val="FFFFFF"/>
                  </a:solidFill>
                  <a:latin typeface="Cambria Bold"/>
                  <a:ea typeface="Cambria Bold"/>
                  <a:cs typeface="Cambria Bold"/>
                  <a:sym typeface="Cambria Bold"/>
                </a:rPr>
                <a:t>Actually Wins, Region by Region?</a:t>
              </a:r>
            </a:p>
          </p:txBody>
        </p:sp>
      </p:grpSp>
      <p:grpSp>
        <p:nvGrpSpPr>
          <p:cNvPr name="Group 8" id="8"/>
          <p:cNvGrpSpPr/>
          <p:nvPr/>
        </p:nvGrpSpPr>
        <p:grpSpPr>
          <a:xfrm rot="0">
            <a:off x="1234440" y="5143500"/>
            <a:ext cx="13441680" cy="960120"/>
            <a:chOff x="0" y="0"/>
            <a:chExt cx="17922240" cy="1280160"/>
          </a:xfrm>
        </p:grpSpPr>
        <p:sp>
          <p:nvSpPr>
            <p:cNvPr name="Freeform 9" id="9"/>
            <p:cNvSpPr/>
            <p:nvPr/>
          </p:nvSpPr>
          <p:spPr>
            <a:xfrm flipH="false" flipV="false" rot="0">
              <a:off x="0" y="0"/>
              <a:ext cx="17922239" cy="1280160"/>
            </a:xfrm>
            <a:custGeom>
              <a:avLst/>
              <a:gdLst/>
              <a:ahLst/>
              <a:cxnLst/>
              <a:rect r="r" b="b" t="t" l="l"/>
              <a:pathLst>
                <a:path h="1280160" w="17922239">
                  <a:moveTo>
                    <a:pt x="0" y="0"/>
                  </a:moveTo>
                  <a:lnTo>
                    <a:pt x="17922239" y="0"/>
                  </a:lnTo>
                  <a:lnTo>
                    <a:pt x="17922239" y="1280160"/>
                  </a:lnTo>
                  <a:lnTo>
                    <a:pt x="0" y="1280160"/>
                  </a:lnTo>
                  <a:close/>
                </a:path>
              </a:pathLst>
            </a:custGeom>
            <a:blipFill>
              <a:blip r:embed="rId3">
                <a:alphaModFix amt="0"/>
              </a:blip>
              <a:stretch>
                <a:fillRect l="0" t="-222790" r="0" b="-222790"/>
              </a:stretch>
            </a:blipFill>
          </p:spPr>
        </p:sp>
        <p:sp>
          <p:nvSpPr>
            <p:cNvPr name="TextBox 10" id="10"/>
            <p:cNvSpPr txBox="true"/>
            <p:nvPr/>
          </p:nvSpPr>
          <p:spPr>
            <a:xfrm>
              <a:off x="0" y="-38100"/>
              <a:ext cx="17922240" cy="1318260"/>
            </a:xfrm>
            <a:prstGeom prst="rect">
              <a:avLst/>
            </a:prstGeom>
          </p:spPr>
          <p:txBody>
            <a:bodyPr anchor="ctr" rtlCol="false" tIns="0" lIns="0" bIns="0" rIns="0"/>
            <a:lstStyle/>
            <a:p>
              <a:pPr algn="l">
                <a:lnSpc>
                  <a:spcPts val="2879"/>
                </a:lnSpc>
              </a:pPr>
              <a:r>
                <a:rPr lang="en-US" sz="2400" i="true">
                  <a:solidFill>
                    <a:srgbClr val="CADCFC"/>
                  </a:solidFill>
                  <a:latin typeface="Calibri (MS) Italics"/>
                  <a:ea typeface="Calibri (MS) Italics"/>
                  <a:cs typeface="Calibri (MS) Italics"/>
                  <a:sym typeface="Calibri (MS) Italics"/>
                </a:rPr>
                <a:t>An Executive Analysis Using NotebookLM to Synthesize Quantitative Accuracy and Qualitative Demand Patterns</a:t>
              </a:r>
            </a:p>
          </p:txBody>
        </p:sp>
      </p:grpSp>
      <p:grpSp>
        <p:nvGrpSpPr>
          <p:cNvPr name="Group 11" id="11"/>
          <p:cNvGrpSpPr/>
          <p:nvPr/>
        </p:nvGrpSpPr>
        <p:grpSpPr>
          <a:xfrm rot="0">
            <a:off x="1234440" y="6652260"/>
            <a:ext cx="685800" cy="685800"/>
            <a:chOff x="0" y="0"/>
            <a:chExt cx="914400" cy="914400"/>
          </a:xfrm>
        </p:grpSpPr>
        <p:sp>
          <p:nvSpPr>
            <p:cNvPr name="Freeform 12" id="12"/>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CADCFC"/>
            </a:solidFill>
          </p:spPr>
        </p:sp>
      </p:grpSp>
      <p:grpSp>
        <p:nvGrpSpPr>
          <p:cNvPr name="Group 13" id="13"/>
          <p:cNvGrpSpPr/>
          <p:nvPr/>
        </p:nvGrpSpPr>
        <p:grpSpPr>
          <a:xfrm rot="0">
            <a:off x="1234440" y="6652260"/>
            <a:ext cx="685800" cy="685800"/>
            <a:chOff x="0" y="0"/>
            <a:chExt cx="914400" cy="914400"/>
          </a:xfrm>
        </p:grpSpPr>
        <p:sp>
          <p:nvSpPr>
            <p:cNvPr name="Freeform 14" id="14"/>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3">
                <a:alphaModFix amt="0"/>
              </a:blip>
              <a:stretch>
                <a:fillRect l="-78303" t="0" r="-78303" b="0"/>
              </a:stretch>
            </a:blipFill>
          </p:spPr>
        </p:sp>
        <p:sp>
          <p:nvSpPr>
            <p:cNvPr name="TextBox 15" id="15"/>
            <p:cNvSpPr txBox="true"/>
            <p:nvPr/>
          </p:nvSpPr>
          <p:spPr>
            <a:xfrm>
              <a:off x="0" y="-38100"/>
              <a:ext cx="914400" cy="952500"/>
            </a:xfrm>
            <a:prstGeom prst="rect">
              <a:avLst/>
            </a:prstGeom>
          </p:spPr>
          <p:txBody>
            <a:bodyPr anchor="ctr" rtlCol="false" tIns="0" lIns="0" bIns="0" rIns="0"/>
            <a:lstStyle/>
            <a:p>
              <a:pPr algn="ctr">
                <a:lnSpc>
                  <a:spcPts val="2879"/>
                </a:lnSpc>
              </a:pPr>
              <a:r>
                <a:rPr lang="en-US" sz="2400" b="true">
                  <a:solidFill>
                    <a:srgbClr val="141A45"/>
                  </a:solidFill>
                  <a:latin typeface="Calibri (MS) Bold"/>
                  <a:ea typeface="Calibri (MS) Bold"/>
                  <a:cs typeface="Calibri (MS) Bold"/>
                  <a:sym typeface="Calibri (MS) Bold"/>
                </a:rPr>
                <a:t>N</a:t>
              </a:r>
            </a:p>
          </p:txBody>
        </p:sp>
      </p:grpSp>
      <p:grpSp>
        <p:nvGrpSpPr>
          <p:cNvPr name="Group 16" id="16"/>
          <p:cNvGrpSpPr/>
          <p:nvPr/>
        </p:nvGrpSpPr>
        <p:grpSpPr>
          <a:xfrm rot="0">
            <a:off x="754380" y="7379208"/>
            <a:ext cx="1645920" cy="411480"/>
            <a:chOff x="0" y="0"/>
            <a:chExt cx="2194560" cy="548640"/>
          </a:xfrm>
        </p:grpSpPr>
        <p:sp>
          <p:nvSpPr>
            <p:cNvPr name="Freeform 17" id="17"/>
            <p:cNvSpPr/>
            <p:nvPr/>
          </p:nvSpPr>
          <p:spPr>
            <a:xfrm flipH="false" flipV="false" rot="0">
              <a:off x="0" y="0"/>
              <a:ext cx="2194560" cy="548640"/>
            </a:xfrm>
            <a:custGeom>
              <a:avLst/>
              <a:gdLst/>
              <a:ahLst/>
              <a:cxnLst/>
              <a:rect r="r" b="b" t="t" l="l"/>
              <a:pathLst>
                <a:path h="548640" w="2194560">
                  <a:moveTo>
                    <a:pt x="0" y="0"/>
                  </a:moveTo>
                  <a:lnTo>
                    <a:pt x="2194560" y="0"/>
                  </a:lnTo>
                  <a:lnTo>
                    <a:pt x="2194560" y="548640"/>
                  </a:lnTo>
                  <a:lnTo>
                    <a:pt x="0" y="548640"/>
                  </a:lnTo>
                  <a:close/>
                </a:path>
              </a:pathLst>
            </a:custGeom>
            <a:blipFill>
              <a:blip r:embed="rId3">
                <a:alphaModFix amt="0"/>
              </a:blip>
              <a:stretch>
                <a:fillRect l="0" t="-27940" r="0" b="-27940"/>
              </a:stretch>
            </a:blipFill>
          </p:spPr>
        </p:sp>
        <p:sp>
          <p:nvSpPr>
            <p:cNvPr name="TextBox 18" id="18"/>
            <p:cNvSpPr txBox="true"/>
            <p:nvPr/>
          </p:nvSpPr>
          <p:spPr>
            <a:xfrm>
              <a:off x="0" y="-38100"/>
              <a:ext cx="2194560" cy="586740"/>
            </a:xfrm>
            <a:prstGeom prst="rect">
              <a:avLst/>
            </a:prstGeom>
          </p:spPr>
          <p:txBody>
            <a:bodyPr anchor="ctr" rtlCol="false" tIns="0" lIns="0" bIns="0" rIns="0"/>
            <a:lstStyle/>
            <a:p>
              <a:pPr algn="ctr">
                <a:lnSpc>
                  <a:spcPts val="1800"/>
                </a:lnSpc>
              </a:pPr>
              <a:r>
                <a:rPr lang="en-US" sz="1500">
                  <a:solidFill>
                    <a:srgbClr val="CADCFC"/>
                  </a:solidFill>
                  <a:latin typeface="Calibri (MS)"/>
                  <a:ea typeface="Calibri (MS)"/>
                  <a:cs typeface="Calibri (MS)"/>
                  <a:sym typeface="Calibri (MS)"/>
                </a:rPr>
                <a:t>North</a:t>
              </a:r>
            </a:p>
          </p:txBody>
        </p:sp>
      </p:grpSp>
      <p:grpSp>
        <p:nvGrpSpPr>
          <p:cNvPr name="Group 19" id="19"/>
          <p:cNvGrpSpPr/>
          <p:nvPr/>
        </p:nvGrpSpPr>
        <p:grpSpPr>
          <a:xfrm rot="0">
            <a:off x="3086100" y="6652260"/>
            <a:ext cx="685800" cy="685800"/>
            <a:chOff x="0" y="0"/>
            <a:chExt cx="914400" cy="914400"/>
          </a:xfrm>
        </p:grpSpPr>
        <p:sp>
          <p:nvSpPr>
            <p:cNvPr name="Freeform 20" id="20"/>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CADCFC"/>
            </a:solidFill>
          </p:spPr>
        </p:sp>
      </p:grpSp>
      <p:grpSp>
        <p:nvGrpSpPr>
          <p:cNvPr name="Group 21" id="21"/>
          <p:cNvGrpSpPr/>
          <p:nvPr/>
        </p:nvGrpSpPr>
        <p:grpSpPr>
          <a:xfrm rot="0">
            <a:off x="3086100" y="6652260"/>
            <a:ext cx="685800" cy="685800"/>
            <a:chOff x="0" y="0"/>
            <a:chExt cx="914400" cy="914400"/>
          </a:xfrm>
        </p:grpSpPr>
        <p:sp>
          <p:nvSpPr>
            <p:cNvPr name="Freeform 22" id="22"/>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3">
                <a:alphaModFix amt="0"/>
              </a:blip>
              <a:stretch>
                <a:fillRect l="-78303" t="0" r="-78303" b="0"/>
              </a:stretch>
            </a:blipFill>
          </p:spPr>
        </p:sp>
        <p:sp>
          <p:nvSpPr>
            <p:cNvPr name="TextBox 23" id="23"/>
            <p:cNvSpPr txBox="true"/>
            <p:nvPr/>
          </p:nvSpPr>
          <p:spPr>
            <a:xfrm>
              <a:off x="0" y="-38100"/>
              <a:ext cx="914400" cy="952500"/>
            </a:xfrm>
            <a:prstGeom prst="rect">
              <a:avLst/>
            </a:prstGeom>
          </p:spPr>
          <p:txBody>
            <a:bodyPr anchor="ctr" rtlCol="false" tIns="0" lIns="0" bIns="0" rIns="0"/>
            <a:lstStyle/>
            <a:p>
              <a:pPr algn="ctr">
                <a:lnSpc>
                  <a:spcPts val="2879"/>
                </a:lnSpc>
              </a:pPr>
              <a:r>
                <a:rPr lang="en-US" sz="2400" b="true">
                  <a:solidFill>
                    <a:srgbClr val="141A45"/>
                  </a:solidFill>
                  <a:latin typeface="Calibri (MS) Bold"/>
                  <a:ea typeface="Calibri (MS) Bold"/>
                  <a:cs typeface="Calibri (MS) Bold"/>
                  <a:sym typeface="Calibri (MS) Bold"/>
                </a:rPr>
                <a:t>S</a:t>
              </a:r>
            </a:p>
          </p:txBody>
        </p:sp>
      </p:grpSp>
      <p:grpSp>
        <p:nvGrpSpPr>
          <p:cNvPr name="Group 24" id="24"/>
          <p:cNvGrpSpPr/>
          <p:nvPr/>
        </p:nvGrpSpPr>
        <p:grpSpPr>
          <a:xfrm rot="0">
            <a:off x="2606040" y="7379208"/>
            <a:ext cx="1645920" cy="411480"/>
            <a:chOff x="0" y="0"/>
            <a:chExt cx="2194560" cy="548640"/>
          </a:xfrm>
        </p:grpSpPr>
        <p:sp>
          <p:nvSpPr>
            <p:cNvPr name="Freeform 25" id="25"/>
            <p:cNvSpPr/>
            <p:nvPr/>
          </p:nvSpPr>
          <p:spPr>
            <a:xfrm flipH="false" flipV="false" rot="0">
              <a:off x="0" y="0"/>
              <a:ext cx="2194560" cy="548640"/>
            </a:xfrm>
            <a:custGeom>
              <a:avLst/>
              <a:gdLst/>
              <a:ahLst/>
              <a:cxnLst/>
              <a:rect r="r" b="b" t="t" l="l"/>
              <a:pathLst>
                <a:path h="548640" w="2194560">
                  <a:moveTo>
                    <a:pt x="0" y="0"/>
                  </a:moveTo>
                  <a:lnTo>
                    <a:pt x="2194560" y="0"/>
                  </a:lnTo>
                  <a:lnTo>
                    <a:pt x="2194560" y="548640"/>
                  </a:lnTo>
                  <a:lnTo>
                    <a:pt x="0" y="548640"/>
                  </a:lnTo>
                  <a:close/>
                </a:path>
              </a:pathLst>
            </a:custGeom>
            <a:blipFill>
              <a:blip r:embed="rId3">
                <a:alphaModFix amt="0"/>
              </a:blip>
              <a:stretch>
                <a:fillRect l="0" t="-27940" r="0" b="-27940"/>
              </a:stretch>
            </a:blipFill>
          </p:spPr>
        </p:sp>
        <p:sp>
          <p:nvSpPr>
            <p:cNvPr name="TextBox 26" id="26"/>
            <p:cNvSpPr txBox="true"/>
            <p:nvPr/>
          </p:nvSpPr>
          <p:spPr>
            <a:xfrm>
              <a:off x="0" y="-38100"/>
              <a:ext cx="2194560" cy="586740"/>
            </a:xfrm>
            <a:prstGeom prst="rect">
              <a:avLst/>
            </a:prstGeom>
          </p:spPr>
          <p:txBody>
            <a:bodyPr anchor="ctr" rtlCol="false" tIns="0" lIns="0" bIns="0" rIns="0"/>
            <a:lstStyle/>
            <a:p>
              <a:pPr algn="ctr">
                <a:lnSpc>
                  <a:spcPts val="1800"/>
                </a:lnSpc>
              </a:pPr>
              <a:r>
                <a:rPr lang="en-US" sz="1500">
                  <a:solidFill>
                    <a:srgbClr val="CADCFC"/>
                  </a:solidFill>
                  <a:latin typeface="Calibri (MS)"/>
                  <a:ea typeface="Calibri (MS)"/>
                  <a:cs typeface="Calibri (MS)"/>
                  <a:sym typeface="Calibri (MS)"/>
                </a:rPr>
                <a:t>South</a:t>
              </a:r>
            </a:p>
          </p:txBody>
        </p:sp>
      </p:grpSp>
      <p:grpSp>
        <p:nvGrpSpPr>
          <p:cNvPr name="Group 27" id="27"/>
          <p:cNvGrpSpPr/>
          <p:nvPr/>
        </p:nvGrpSpPr>
        <p:grpSpPr>
          <a:xfrm rot="0">
            <a:off x="4937760" y="6652260"/>
            <a:ext cx="685800" cy="685800"/>
            <a:chOff x="0" y="0"/>
            <a:chExt cx="914400" cy="914400"/>
          </a:xfrm>
        </p:grpSpPr>
        <p:sp>
          <p:nvSpPr>
            <p:cNvPr name="Freeform 28" id="28"/>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CADCFC"/>
            </a:solidFill>
          </p:spPr>
        </p:sp>
      </p:grpSp>
      <p:grpSp>
        <p:nvGrpSpPr>
          <p:cNvPr name="Group 29" id="29"/>
          <p:cNvGrpSpPr/>
          <p:nvPr/>
        </p:nvGrpSpPr>
        <p:grpSpPr>
          <a:xfrm rot="0">
            <a:off x="4937760" y="6652260"/>
            <a:ext cx="685800" cy="685800"/>
            <a:chOff x="0" y="0"/>
            <a:chExt cx="914400" cy="914400"/>
          </a:xfrm>
        </p:grpSpPr>
        <p:sp>
          <p:nvSpPr>
            <p:cNvPr name="Freeform 30" id="30"/>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3">
                <a:alphaModFix amt="0"/>
              </a:blip>
              <a:stretch>
                <a:fillRect l="-78303" t="0" r="-78303" b="0"/>
              </a:stretch>
            </a:blipFill>
          </p:spPr>
        </p:sp>
        <p:sp>
          <p:nvSpPr>
            <p:cNvPr name="TextBox 31" id="31"/>
            <p:cNvSpPr txBox="true"/>
            <p:nvPr/>
          </p:nvSpPr>
          <p:spPr>
            <a:xfrm>
              <a:off x="0" y="-38100"/>
              <a:ext cx="914400" cy="952500"/>
            </a:xfrm>
            <a:prstGeom prst="rect">
              <a:avLst/>
            </a:prstGeom>
          </p:spPr>
          <p:txBody>
            <a:bodyPr anchor="ctr" rtlCol="false" tIns="0" lIns="0" bIns="0" rIns="0"/>
            <a:lstStyle/>
            <a:p>
              <a:pPr algn="ctr">
                <a:lnSpc>
                  <a:spcPts val="2879"/>
                </a:lnSpc>
              </a:pPr>
              <a:r>
                <a:rPr lang="en-US" sz="2400" b="true">
                  <a:solidFill>
                    <a:srgbClr val="141A45"/>
                  </a:solidFill>
                  <a:latin typeface="Calibri (MS) Bold"/>
                  <a:ea typeface="Calibri (MS) Bold"/>
                  <a:cs typeface="Calibri (MS) Bold"/>
                  <a:sym typeface="Calibri (MS) Bold"/>
                </a:rPr>
                <a:t>E</a:t>
              </a:r>
            </a:p>
          </p:txBody>
        </p:sp>
      </p:grpSp>
      <p:grpSp>
        <p:nvGrpSpPr>
          <p:cNvPr name="Group 32" id="32"/>
          <p:cNvGrpSpPr/>
          <p:nvPr/>
        </p:nvGrpSpPr>
        <p:grpSpPr>
          <a:xfrm rot="0">
            <a:off x="4457700" y="7379208"/>
            <a:ext cx="1645920" cy="411480"/>
            <a:chOff x="0" y="0"/>
            <a:chExt cx="2194560" cy="548640"/>
          </a:xfrm>
        </p:grpSpPr>
        <p:sp>
          <p:nvSpPr>
            <p:cNvPr name="Freeform 33" id="33"/>
            <p:cNvSpPr/>
            <p:nvPr/>
          </p:nvSpPr>
          <p:spPr>
            <a:xfrm flipH="false" flipV="false" rot="0">
              <a:off x="0" y="0"/>
              <a:ext cx="2194560" cy="548640"/>
            </a:xfrm>
            <a:custGeom>
              <a:avLst/>
              <a:gdLst/>
              <a:ahLst/>
              <a:cxnLst/>
              <a:rect r="r" b="b" t="t" l="l"/>
              <a:pathLst>
                <a:path h="548640" w="2194560">
                  <a:moveTo>
                    <a:pt x="0" y="0"/>
                  </a:moveTo>
                  <a:lnTo>
                    <a:pt x="2194560" y="0"/>
                  </a:lnTo>
                  <a:lnTo>
                    <a:pt x="2194560" y="548640"/>
                  </a:lnTo>
                  <a:lnTo>
                    <a:pt x="0" y="548640"/>
                  </a:lnTo>
                  <a:close/>
                </a:path>
              </a:pathLst>
            </a:custGeom>
            <a:blipFill>
              <a:blip r:embed="rId3">
                <a:alphaModFix amt="0"/>
              </a:blip>
              <a:stretch>
                <a:fillRect l="0" t="-27940" r="0" b="-27940"/>
              </a:stretch>
            </a:blipFill>
          </p:spPr>
        </p:sp>
        <p:sp>
          <p:nvSpPr>
            <p:cNvPr name="TextBox 34" id="34"/>
            <p:cNvSpPr txBox="true"/>
            <p:nvPr/>
          </p:nvSpPr>
          <p:spPr>
            <a:xfrm>
              <a:off x="0" y="-38100"/>
              <a:ext cx="2194560" cy="586740"/>
            </a:xfrm>
            <a:prstGeom prst="rect">
              <a:avLst/>
            </a:prstGeom>
          </p:spPr>
          <p:txBody>
            <a:bodyPr anchor="ctr" rtlCol="false" tIns="0" lIns="0" bIns="0" rIns="0"/>
            <a:lstStyle/>
            <a:p>
              <a:pPr algn="ctr">
                <a:lnSpc>
                  <a:spcPts val="1800"/>
                </a:lnSpc>
              </a:pPr>
              <a:r>
                <a:rPr lang="en-US" sz="1500">
                  <a:solidFill>
                    <a:srgbClr val="CADCFC"/>
                  </a:solidFill>
                  <a:latin typeface="Calibri (MS)"/>
                  <a:ea typeface="Calibri (MS)"/>
                  <a:cs typeface="Calibri (MS)"/>
                  <a:sym typeface="Calibri (MS)"/>
                </a:rPr>
                <a:t>East</a:t>
              </a:r>
            </a:p>
          </p:txBody>
        </p:sp>
      </p:grpSp>
      <p:grpSp>
        <p:nvGrpSpPr>
          <p:cNvPr name="Group 35" id="35"/>
          <p:cNvGrpSpPr/>
          <p:nvPr/>
        </p:nvGrpSpPr>
        <p:grpSpPr>
          <a:xfrm rot="0">
            <a:off x="6789420" y="6652260"/>
            <a:ext cx="685800" cy="685800"/>
            <a:chOff x="0" y="0"/>
            <a:chExt cx="914400" cy="914400"/>
          </a:xfrm>
        </p:grpSpPr>
        <p:sp>
          <p:nvSpPr>
            <p:cNvPr name="Freeform 36" id="36"/>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CADCFC"/>
            </a:solidFill>
          </p:spPr>
        </p:sp>
      </p:grpSp>
      <p:grpSp>
        <p:nvGrpSpPr>
          <p:cNvPr name="Group 37" id="37"/>
          <p:cNvGrpSpPr/>
          <p:nvPr/>
        </p:nvGrpSpPr>
        <p:grpSpPr>
          <a:xfrm rot="0">
            <a:off x="6789420" y="6652260"/>
            <a:ext cx="685800" cy="685800"/>
            <a:chOff x="0" y="0"/>
            <a:chExt cx="914400" cy="914400"/>
          </a:xfrm>
        </p:grpSpPr>
        <p:sp>
          <p:nvSpPr>
            <p:cNvPr name="Freeform 38" id="38"/>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3">
                <a:alphaModFix amt="0"/>
              </a:blip>
              <a:stretch>
                <a:fillRect l="-78303" t="0" r="-78303" b="0"/>
              </a:stretch>
            </a:blipFill>
          </p:spPr>
        </p:sp>
        <p:sp>
          <p:nvSpPr>
            <p:cNvPr name="TextBox 39" id="39"/>
            <p:cNvSpPr txBox="true"/>
            <p:nvPr/>
          </p:nvSpPr>
          <p:spPr>
            <a:xfrm>
              <a:off x="0" y="-38100"/>
              <a:ext cx="914400" cy="952500"/>
            </a:xfrm>
            <a:prstGeom prst="rect">
              <a:avLst/>
            </a:prstGeom>
          </p:spPr>
          <p:txBody>
            <a:bodyPr anchor="ctr" rtlCol="false" tIns="0" lIns="0" bIns="0" rIns="0"/>
            <a:lstStyle/>
            <a:p>
              <a:pPr algn="ctr">
                <a:lnSpc>
                  <a:spcPts val="2879"/>
                </a:lnSpc>
              </a:pPr>
              <a:r>
                <a:rPr lang="en-US" sz="2400" b="true">
                  <a:solidFill>
                    <a:srgbClr val="141A45"/>
                  </a:solidFill>
                  <a:latin typeface="Calibri (MS) Bold"/>
                  <a:ea typeface="Calibri (MS) Bold"/>
                  <a:cs typeface="Calibri (MS) Bold"/>
                  <a:sym typeface="Calibri (MS) Bold"/>
                </a:rPr>
                <a:t>W</a:t>
              </a:r>
            </a:p>
          </p:txBody>
        </p:sp>
      </p:grpSp>
      <p:grpSp>
        <p:nvGrpSpPr>
          <p:cNvPr name="Group 40" id="40"/>
          <p:cNvGrpSpPr/>
          <p:nvPr/>
        </p:nvGrpSpPr>
        <p:grpSpPr>
          <a:xfrm rot="0">
            <a:off x="6309360" y="7379208"/>
            <a:ext cx="1645920" cy="411480"/>
            <a:chOff x="0" y="0"/>
            <a:chExt cx="2194560" cy="548640"/>
          </a:xfrm>
        </p:grpSpPr>
        <p:sp>
          <p:nvSpPr>
            <p:cNvPr name="Freeform 41" id="41"/>
            <p:cNvSpPr/>
            <p:nvPr/>
          </p:nvSpPr>
          <p:spPr>
            <a:xfrm flipH="false" flipV="false" rot="0">
              <a:off x="0" y="0"/>
              <a:ext cx="2194560" cy="548640"/>
            </a:xfrm>
            <a:custGeom>
              <a:avLst/>
              <a:gdLst/>
              <a:ahLst/>
              <a:cxnLst/>
              <a:rect r="r" b="b" t="t" l="l"/>
              <a:pathLst>
                <a:path h="548640" w="2194560">
                  <a:moveTo>
                    <a:pt x="0" y="0"/>
                  </a:moveTo>
                  <a:lnTo>
                    <a:pt x="2194560" y="0"/>
                  </a:lnTo>
                  <a:lnTo>
                    <a:pt x="2194560" y="548640"/>
                  </a:lnTo>
                  <a:lnTo>
                    <a:pt x="0" y="548640"/>
                  </a:lnTo>
                  <a:close/>
                </a:path>
              </a:pathLst>
            </a:custGeom>
            <a:blipFill>
              <a:blip r:embed="rId3">
                <a:alphaModFix amt="0"/>
              </a:blip>
              <a:stretch>
                <a:fillRect l="0" t="-27940" r="0" b="-27940"/>
              </a:stretch>
            </a:blipFill>
          </p:spPr>
        </p:sp>
        <p:sp>
          <p:nvSpPr>
            <p:cNvPr name="TextBox 42" id="42"/>
            <p:cNvSpPr txBox="true"/>
            <p:nvPr/>
          </p:nvSpPr>
          <p:spPr>
            <a:xfrm>
              <a:off x="0" y="-38100"/>
              <a:ext cx="2194560" cy="586740"/>
            </a:xfrm>
            <a:prstGeom prst="rect">
              <a:avLst/>
            </a:prstGeom>
          </p:spPr>
          <p:txBody>
            <a:bodyPr anchor="ctr" rtlCol="false" tIns="0" lIns="0" bIns="0" rIns="0"/>
            <a:lstStyle/>
            <a:p>
              <a:pPr algn="ctr">
                <a:lnSpc>
                  <a:spcPts val="1800"/>
                </a:lnSpc>
              </a:pPr>
              <a:r>
                <a:rPr lang="en-US" sz="1500">
                  <a:solidFill>
                    <a:srgbClr val="CADCFC"/>
                  </a:solidFill>
                  <a:latin typeface="Calibri (MS)"/>
                  <a:ea typeface="Calibri (MS)"/>
                  <a:cs typeface="Calibri (MS)"/>
                  <a:sym typeface="Calibri (MS)"/>
                </a:rPr>
                <a:t>West</a:t>
              </a:r>
            </a:p>
          </p:txBody>
        </p:sp>
      </p:grpSp>
      <p:grpSp>
        <p:nvGrpSpPr>
          <p:cNvPr name="Group 43" id="43"/>
          <p:cNvGrpSpPr/>
          <p:nvPr/>
        </p:nvGrpSpPr>
        <p:grpSpPr>
          <a:xfrm rot="0">
            <a:off x="8641080" y="6652260"/>
            <a:ext cx="685800" cy="685800"/>
            <a:chOff x="0" y="0"/>
            <a:chExt cx="914400" cy="914400"/>
          </a:xfrm>
        </p:grpSpPr>
        <p:sp>
          <p:nvSpPr>
            <p:cNvPr name="Freeform 44" id="44"/>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CADCFC"/>
            </a:solidFill>
          </p:spPr>
        </p:sp>
      </p:grpSp>
      <p:grpSp>
        <p:nvGrpSpPr>
          <p:cNvPr name="Group 45" id="45"/>
          <p:cNvGrpSpPr/>
          <p:nvPr/>
        </p:nvGrpSpPr>
        <p:grpSpPr>
          <a:xfrm rot="0">
            <a:off x="8641080" y="6652260"/>
            <a:ext cx="685800" cy="685800"/>
            <a:chOff x="0" y="0"/>
            <a:chExt cx="914400" cy="914400"/>
          </a:xfrm>
        </p:grpSpPr>
        <p:sp>
          <p:nvSpPr>
            <p:cNvPr name="Freeform 46" id="46"/>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3">
                <a:alphaModFix amt="0"/>
              </a:blip>
              <a:stretch>
                <a:fillRect l="-78303" t="0" r="-78303" b="0"/>
              </a:stretch>
            </a:blipFill>
          </p:spPr>
        </p:sp>
        <p:sp>
          <p:nvSpPr>
            <p:cNvPr name="TextBox 47" id="47"/>
            <p:cNvSpPr txBox="true"/>
            <p:nvPr/>
          </p:nvSpPr>
          <p:spPr>
            <a:xfrm>
              <a:off x="0" y="-38100"/>
              <a:ext cx="914400" cy="952500"/>
            </a:xfrm>
            <a:prstGeom prst="rect">
              <a:avLst/>
            </a:prstGeom>
          </p:spPr>
          <p:txBody>
            <a:bodyPr anchor="ctr" rtlCol="false" tIns="0" lIns="0" bIns="0" rIns="0"/>
            <a:lstStyle/>
            <a:p>
              <a:pPr algn="ctr">
                <a:lnSpc>
                  <a:spcPts val="2879"/>
                </a:lnSpc>
              </a:pPr>
              <a:r>
                <a:rPr lang="en-US" sz="2400" b="true">
                  <a:solidFill>
                    <a:srgbClr val="141A45"/>
                  </a:solidFill>
                  <a:latin typeface="Calibri (MS) Bold"/>
                  <a:ea typeface="Calibri (MS) Bold"/>
                  <a:cs typeface="Calibri (MS) Bold"/>
                  <a:sym typeface="Calibri (MS) Bold"/>
                </a:rPr>
                <a:t>C</a:t>
              </a:r>
            </a:p>
          </p:txBody>
        </p:sp>
      </p:grpSp>
      <p:grpSp>
        <p:nvGrpSpPr>
          <p:cNvPr name="Group 48" id="48"/>
          <p:cNvGrpSpPr/>
          <p:nvPr/>
        </p:nvGrpSpPr>
        <p:grpSpPr>
          <a:xfrm rot="0">
            <a:off x="8161020" y="7379208"/>
            <a:ext cx="1645920" cy="411480"/>
            <a:chOff x="0" y="0"/>
            <a:chExt cx="2194560" cy="548640"/>
          </a:xfrm>
        </p:grpSpPr>
        <p:sp>
          <p:nvSpPr>
            <p:cNvPr name="Freeform 49" id="49"/>
            <p:cNvSpPr/>
            <p:nvPr/>
          </p:nvSpPr>
          <p:spPr>
            <a:xfrm flipH="false" flipV="false" rot="0">
              <a:off x="0" y="0"/>
              <a:ext cx="2194560" cy="548640"/>
            </a:xfrm>
            <a:custGeom>
              <a:avLst/>
              <a:gdLst/>
              <a:ahLst/>
              <a:cxnLst/>
              <a:rect r="r" b="b" t="t" l="l"/>
              <a:pathLst>
                <a:path h="548640" w="2194560">
                  <a:moveTo>
                    <a:pt x="0" y="0"/>
                  </a:moveTo>
                  <a:lnTo>
                    <a:pt x="2194560" y="0"/>
                  </a:lnTo>
                  <a:lnTo>
                    <a:pt x="2194560" y="548640"/>
                  </a:lnTo>
                  <a:lnTo>
                    <a:pt x="0" y="548640"/>
                  </a:lnTo>
                  <a:close/>
                </a:path>
              </a:pathLst>
            </a:custGeom>
            <a:blipFill>
              <a:blip r:embed="rId3">
                <a:alphaModFix amt="0"/>
              </a:blip>
              <a:stretch>
                <a:fillRect l="0" t="-27940" r="0" b="-27940"/>
              </a:stretch>
            </a:blipFill>
          </p:spPr>
        </p:sp>
        <p:sp>
          <p:nvSpPr>
            <p:cNvPr name="TextBox 50" id="50"/>
            <p:cNvSpPr txBox="true"/>
            <p:nvPr/>
          </p:nvSpPr>
          <p:spPr>
            <a:xfrm>
              <a:off x="0" y="-38100"/>
              <a:ext cx="2194560" cy="586740"/>
            </a:xfrm>
            <a:prstGeom prst="rect">
              <a:avLst/>
            </a:prstGeom>
          </p:spPr>
          <p:txBody>
            <a:bodyPr anchor="ctr" rtlCol="false" tIns="0" lIns="0" bIns="0" rIns="0"/>
            <a:lstStyle/>
            <a:p>
              <a:pPr algn="ctr">
                <a:lnSpc>
                  <a:spcPts val="1800"/>
                </a:lnSpc>
              </a:pPr>
              <a:r>
                <a:rPr lang="en-US" sz="1500">
                  <a:solidFill>
                    <a:srgbClr val="CADCFC"/>
                  </a:solidFill>
                  <a:latin typeface="Calibri (MS)"/>
                  <a:ea typeface="Calibri (MS)"/>
                  <a:cs typeface="Calibri (MS)"/>
                  <a:sym typeface="Calibri (MS)"/>
                </a:rPr>
                <a:t>Central</a:t>
              </a:r>
            </a:p>
          </p:txBody>
        </p:sp>
      </p:grpSp>
      <p:sp>
        <p:nvSpPr>
          <p:cNvPr name="AutoShape 51" id="51"/>
          <p:cNvSpPr/>
          <p:nvPr/>
        </p:nvSpPr>
        <p:spPr>
          <a:xfrm rot="13200">
            <a:off x="1220124" y="8700135"/>
            <a:ext cx="7435272" cy="0"/>
          </a:xfrm>
          <a:prstGeom prst="line">
            <a:avLst/>
          </a:prstGeom>
          <a:ln cap="rnd" w="19050">
            <a:solidFill>
              <a:srgbClr val="B08D57"/>
            </a:solidFill>
            <a:prstDash val="solid"/>
            <a:headEnd type="none" len="sm" w="sm"/>
            <a:tailEnd type="none" len="sm" w="sm"/>
          </a:ln>
        </p:spPr>
      </p:sp>
      <p:grpSp>
        <p:nvGrpSpPr>
          <p:cNvPr name="Group 52" id="52"/>
          <p:cNvGrpSpPr/>
          <p:nvPr/>
        </p:nvGrpSpPr>
        <p:grpSpPr>
          <a:xfrm rot="0">
            <a:off x="1234440" y="8915400"/>
            <a:ext cx="10972800" cy="548640"/>
            <a:chOff x="0" y="0"/>
            <a:chExt cx="14630400" cy="731520"/>
          </a:xfrm>
        </p:grpSpPr>
        <p:sp>
          <p:nvSpPr>
            <p:cNvPr name="Freeform 53" id="53"/>
            <p:cNvSpPr/>
            <p:nvPr/>
          </p:nvSpPr>
          <p:spPr>
            <a:xfrm flipH="false" flipV="false" rot="0">
              <a:off x="0" y="0"/>
              <a:ext cx="14630400" cy="731520"/>
            </a:xfrm>
            <a:custGeom>
              <a:avLst/>
              <a:gdLst/>
              <a:ahLst/>
              <a:cxnLst/>
              <a:rect r="r" b="b" t="t" l="l"/>
              <a:pathLst>
                <a:path h="731520" w="14630400">
                  <a:moveTo>
                    <a:pt x="0" y="0"/>
                  </a:moveTo>
                  <a:lnTo>
                    <a:pt x="14630400" y="0"/>
                  </a:lnTo>
                  <a:lnTo>
                    <a:pt x="14630400" y="731520"/>
                  </a:lnTo>
                  <a:lnTo>
                    <a:pt x="0" y="731520"/>
                  </a:lnTo>
                  <a:close/>
                </a:path>
              </a:pathLst>
            </a:custGeom>
            <a:blipFill>
              <a:blip r:embed="rId3">
                <a:alphaModFix amt="0"/>
              </a:blip>
              <a:stretch>
                <a:fillRect l="0" t="-339700" r="0" b="-339700"/>
              </a:stretch>
            </a:blipFill>
          </p:spPr>
        </p:sp>
        <p:sp>
          <p:nvSpPr>
            <p:cNvPr name="TextBox 54" id="54"/>
            <p:cNvSpPr txBox="true"/>
            <p:nvPr/>
          </p:nvSpPr>
          <p:spPr>
            <a:xfrm>
              <a:off x="0" y="-47625"/>
              <a:ext cx="14630400" cy="779145"/>
            </a:xfrm>
            <a:prstGeom prst="rect">
              <a:avLst/>
            </a:prstGeom>
          </p:spPr>
          <p:txBody>
            <a:bodyPr anchor="ctr" rtlCol="false" tIns="0" lIns="0" bIns="0" rIns="0"/>
            <a:lstStyle/>
            <a:p>
              <a:pPr algn="l">
                <a:lnSpc>
                  <a:spcPts val="2340"/>
                </a:lnSpc>
              </a:pPr>
              <a:r>
                <a:rPr lang="en-US" sz="1950">
                  <a:solidFill>
                    <a:srgbClr val="CADCFC"/>
                  </a:solidFill>
                  <a:latin typeface="Calibri (MS)"/>
                  <a:ea typeface="Calibri (MS)"/>
                  <a:cs typeface="Calibri (MS)"/>
                  <a:sym typeface="Calibri (MS)"/>
                </a:rPr>
                <a:t> Name : Navithanjali M S [24BAD077]  ·  Course - Buisness Intelligence / Section  B.tech.AIDS  </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4F6FB"/>
        </a:solidFill>
      </p:bgPr>
    </p:bg>
    <p:spTree>
      <p:nvGrpSpPr>
        <p:cNvPr id="1" name=""/>
        <p:cNvGrpSpPr/>
        <p:nvPr/>
      </p:nvGrpSpPr>
      <p:grpSpPr>
        <a:xfrm>
          <a:off x="0" y="0"/>
          <a:ext cx="0" cy="0"/>
          <a:chOff x="0" y="0"/>
          <a:chExt cx="0" cy="0"/>
        </a:xfrm>
      </p:grpSpPr>
      <p:grpSp>
        <p:nvGrpSpPr>
          <p:cNvPr name="Group 2" id="2"/>
          <p:cNvGrpSpPr/>
          <p:nvPr/>
        </p:nvGrpSpPr>
        <p:grpSpPr>
          <a:xfrm rot="0">
            <a:off x="822960" y="576072"/>
            <a:ext cx="10972800" cy="411480"/>
            <a:chOff x="0" y="0"/>
            <a:chExt cx="14630400" cy="548640"/>
          </a:xfrm>
        </p:grpSpPr>
        <p:sp>
          <p:nvSpPr>
            <p:cNvPr name="Freeform 3" id="3"/>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4" id="4"/>
            <p:cNvSpPr txBox="true"/>
            <p:nvPr/>
          </p:nvSpPr>
          <p:spPr>
            <a:xfrm>
              <a:off x="0" y="-38100"/>
              <a:ext cx="14630400" cy="586740"/>
            </a:xfrm>
            <a:prstGeom prst="rect">
              <a:avLst/>
            </a:prstGeom>
          </p:spPr>
          <p:txBody>
            <a:bodyPr anchor="ctr" rtlCol="false" tIns="0" lIns="0" bIns="0" rIns="0"/>
            <a:lstStyle/>
            <a:p>
              <a:pPr algn="l">
                <a:lnSpc>
                  <a:spcPts val="2160"/>
                </a:lnSpc>
              </a:pPr>
              <a:r>
                <a:rPr lang="en-US" b="true" sz="1800" spc="300">
                  <a:solidFill>
                    <a:srgbClr val="B08D57"/>
                  </a:solidFill>
                  <a:latin typeface="Calibri (MS) Bold"/>
                  <a:ea typeface="Calibri (MS) Bold"/>
                  <a:cs typeface="Calibri (MS) Bold"/>
                  <a:sym typeface="Calibri (MS) Bold"/>
                </a:rPr>
                <a:t>WORKFLOW &amp; SETUP IN NOTEBOOKLM</a:t>
              </a:r>
            </a:p>
          </p:txBody>
        </p:sp>
      </p:grpSp>
      <p:grpSp>
        <p:nvGrpSpPr>
          <p:cNvPr name="Group 5" id="5"/>
          <p:cNvGrpSpPr/>
          <p:nvPr/>
        </p:nvGrpSpPr>
        <p:grpSpPr>
          <a:xfrm rot="0">
            <a:off x="822960" y="987552"/>
            <a:ext cx="16596360" cy="1234440"/>
            <a:chOff x="0" y="0"/>
            <a:chExt cx="22128480" cy="1645920"/>
          </a:xfrm>
        </p:grpSpPr>
        <p:sp>
          <p:nvSpPr>
            <p:cNvPr name="Freeform 6" id="6"/>
            <p:cNvSpPr/>
            <p:nvPr/>
          </p:nvSpPr>
          <p:spPr>
            <a:xfrm flipH="false" flipV="false" rot="0">
              <a:off x="0" y="0"/>
              <a:ext cx="22128480" cy="1645920"/>
            </a:xfrm>
            <a:custGeom>
              <a:avLst/>
              <a:gdLst/>
              <a:ahLst/>
              <a:cxnLst/>
              <a:rect r="r" b="b" t="t" l="l"/>
              <a:pathLst>
                <a:path h="1645920" w="22128480">
                  <a:moveTo>
                    <a:pt x="0" y="0"/>
                  </a:moveTo>
                  <a:lnTo>
                    <a:pt x="22128480" y="0"/>
                  </a:lnTo>
                  <a:lnTo>
                    <a:pt x="22128480" y="1645920"/>
                  </a:lnTo>
                  <a:lnTo>
                    <a:pt x="0" y="1645920"/>
                  </a:lnTo>
                  <a:close/>
                </a:path>
              </a:pathLst>
            </a:custGeom>
            <a:blipFill>
              <a:blip r:embed="rId3">
                <a:alphaModFix amt="0"/>
              </a:blip>
              <a:stretch>
                <a:fillRect l="0" t="-211965" r="0" b="-211965"/>
              </a:stretch>
            </a:blipFill>
          </p:spPr>
        </p:sp>
        <p:sp>
          <p:nvSpPr>
            <p:cNvPr name="TextBox 7" id="7"/>
            <p:cNvSpPr txBox="true"/>
            <p:nvPr/>
          </p:nvSpPr>
          <p:spPr>
            <a:xfrm>
              <a:off x="0" y="-19050"/>
              <a:ext cx="22128480" cy="1664970"/>
            </a:xfrm>
            <a:prstGeom prst="rect">
              <a:avLst/>
            </a:prstGeom>
          </p:spPr>
          <p:txBody>
            <a:bodyPr anchor="ctr" rtlCol="false" tIns="0" lIns="0" bIns="0" rIns="0"/>
            <a:lstStyle/>
            <a:p>
              <a:pPr algn="l">
                <a:lnSpc>
                  <a:spcPts val="5400"/>
                </a:lnSpc>
              </a:pPr>
              <a:r>
                <a:rPr lang="en-US" sz="4500" b="true">
                  <a:solidFill>
                    <a:srgbClr val="1E2761"/>
                  </a:solidFill>
                  <a:latin typeface="Cambria Bold"/>
                  <a:ea typeface="Cambria Bold"/>
                  <a:cs typeface="Cambria Bold"/>
                  <a:sym typeface="Cambria Bold"/>
                </a:rPr>
                <a:t>Uploading Sources &amp; Dual-Source Synthesis Setup</a:t>
              </a:r>
            </a:p>
          </p:txBody>
        </p:sp>
      </p:grpSp>
      <p:grpSp>
        <p:nvGrpSpPr>
          <p:cNvPr name="Group 8" id="8"/>
          <p:cNvGrpSpPr/>
          <p:nvPr/>
        </p:nvGrpSpPr>
        <p:grpSpPr>
          <a:xfrm rot="0">
            <a:off x="813435" y="2596515"/>
            <a:ext cx="4888230" cy="2350770"/>
            <a:chOff x="0" y="0"/>
            <a:chExt cx="6517640" cy="3134360"/>
          </a:xfrm>
        </p:grpSpPr>
        <p:sp>
          <p:nvSpPr>
            <p:cNvPr name="Freeform 9" id="9"/>
            <p:cNvSpPr/>
            <p:nvPr/>
          </p:nvSpPr>
          <p:spPr>
            <a:xfrm flipH="false" flipV="false" rot="0">
              <a:off x="0" y="0"/>
              <a:ext cx="6517640" cy="3134360"/>
            </a:xfrm>
            <a:custGeom>
              <a:avLst/>
              <a:gdLst/>
              <a:ahLst/>
              <a:cxnLst/>
              <a:rect r="r" b="b" t="t" l="l"/>
              <a:pathLst>
                <a:path h="3134360" w="6517640">
                  <a:moveTo>
                    <a:pt x="0" y="221234"/>
                  </a:moveTo>
                  <a:cubicBezTo>
                    <a:pt x="0" y="99060"/>
                    <a:pt x="99060" y="0"/>
                    <a:pt x="221234" y="0"/>
                  </a:cubicBezTo>
                  <a:lnTo>
                    <a:pt x="6296406" y="0"/>
                  </a:lnTo>
                  <a:cubicBezTo>
                    <a:pt x="6418580" y="0"/>
                    <a:pt x="6517640" y="99060"/>
                    <a:pt x="6517640" y="221234"/>
                  </a:cubicBezTo>
                  <a:lnTo>
                    <a:pt x="6517640" y="2913126"/>
                  </a:lnTo>
                  <a:cubicBezTo>
                    <a:pt x="6517640" y="3035300"/>
                    <a:pt x="6418580" y="3134360"/>
                    <a:pt x="6296406" y="3134360"/>
                  </a:cubicBezTo>
                  <a:lnTo>
                    <a:pt x="221234" y="3134360"/>
                  </a:lnTo>
                  <a:cubicBezTo>
                    <a:pt x="99060" y="3134360"/>
                    <a:pt x="0" y="3035300"/>
                    <a:pt x="0" y="2913126"/>
                  </a:cubicBezTo>
                  <a:close/>
                </a:path>
              </a:pathLst>
            </a:custGeom>
            <a:solidFill>
              <a:srgbClr val="FFFFFF"/>
            </a:solidFill>
            <a:ln w="19050" cap="sq">
              <a:solidFill>
                <a:srgbClr val="CADCFC"/>
              </a:solidFill>
              <a:prstDash val="solid"/>
              <a:miter/>
            </a:ln>
          </p:spPr>
        </p:sp>
      </p:grpSp>
      <p:grpSp>
        <p:nvGrpSpPr>
          <p:cNvPr name="Group 10" id="10"/>
          <p:cNvGrpSpPr/>
          <p:nvPr/>
        </p:nvGrpSpPr>
        <p:grpSpPr>
          <a:xfrm rot="0">
            <a:off x="1165860" y="2948940"/>
            <a:ext cx="822960" cy="822960"/>
            <a:chOff x="0" y="0"/>
            <a:chExt cx="1097280" cy="1097280"/>
          </a:xfrm>
        </p:grpSpPr>
        <p:sp>
          <p:nvSpPr>
            <p:cNvPr name="Freeform 11" id="11"/>
            <p:cNvSpPr/>
            <p:nvPr/>
          </p:nvSpPr>
          <p:spPr>
            <a:xfrm flipH="false" flipV="false" rot="0">
              <a:off x="0" y="0"/>
              <a:ext cx="1097280" cy="1097280"/>
            </a:xfrm>
            <a:custGeom>
              <a:avLst/>
              <a:gdLst/>
              <a:ahLst/>
              <a:cxnLst/>
              <a:rect r="r" b="b" t="t" l="l"/>
              <a:pathLst>
                <a:path h="1097280" w="1097280">
                  <a:moveTo>
                    <a:pt x="0" y="548640"/>
                  </a:moveTo>
                  <a:cubicBezTo>
                    <a:pt x="0" y="245618"/>
                    <a:pt x="245618" y="0"/>
                    <a:pt x="548640" y="0"/>
                  </a:cubicBezTo>
                  <a:cubicBezTo>
                    <a:pt x="851662" y="0"/>
                    <a:pt x="1097280" y="245618"/>
                    <a:pt x="1097280" y="548640"/>
                  </a:cubicBezTo>
                  <a:cubicBezTo>
                    <a:pt x="1097280" y="851662"/>
                    <a:pt x="851662" y="1097280"/>
                    <a:pt x="548640" y="1097280"/>
                  </a:cubicBezTo>
                  <a:cubicBezTo>
                    <a:pt x="245618" y="1097280"/>
                    <a:pt x="0" y="851662"/>
                    <a:pt x="0" y="548640"/>
                  </a:cubicBezTo>
                  <a:close/>
                </a:path>
              </a:pathLst>
            </a:custGeom>
            <a:solidFill>
              <a:srgbClr val="1E2761"/>
            </a:solidFill>
          </p:spPr>
        </p:sp>
      </p:grpSp>
      <p:grpSp>
        <p:nvGrpSpPr>
          <p:cNvPr name="Group 12" id="12"/>
          <p:cNvGrpSpPr/>
          <p:nvPr/>
        </p:nvGrpSpPr>
        <p:grpSpPr>
          <a:xfrm rot="0">
            <a:off x="1165860" y="2948940"/>
            <a:ext cx="822960" cy="822960"/>
            <a:chOff x="0" y="0"/>
            <a:chExt cx="1097280" cy="1097280"/>
          </a:xfrm>
        </p:grpSpPr>
        <p:sp>
          <p:nvSpPr>
            <p:cNvPr name="Freeform 13" id="13"/>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3">
                <a:alphaModFix amt="0"/>
              </a:blip>
              <a:stretch>
                <a:fillRect l="-78303" t="0" r="-78303" b="0"/>
              </a:stretch>
            </a:blipFill>
          </p:spPr>
        </p:sp>
        <p:sp>
          <p:nvSpPr>
            <p:cNvPr name="TextBox 14" id="14"/>
            <p:cNvSpPr txBox="true"/>
            <p:nvPr/>
          </p:nvSpPr>
          <p:spPr>
            <a:xfrm>
              <a:off x="0" y="-66675"/>
              <a:ext cx="1097280" cy="1163955"/>
            </a:xfrm>
            <a:prstGeom prst="rect">
              <a:avLst/>
            </a:prstGeom>
          </p:spPr>
          <p:txBody>
            <a:bodyPr anchor="ctr" rtlCol="false" tIns="0" lIns="0" bIns="0" rIns="0"/>
            <a:lstStyle/>
            <a:p>
              <a:pPr algn="ctr">
                <a:lnSpc>
                  <a:spcPts val="3600"/>
                </a:lnSpc>
              </a:pPr>
              <a:r>
                <a:rPr lang="en-US" sz="3000">
                  <a:solidFill>
                    <a:srgbClr val="000000"/>
                  </a:solidFill>
                  <a:latin typeface="Calibri (MS)"/>
                  <a:ea typeface="Calibri (MS)"/>
                  <a:cs typeface="Calibri (MS)"/>
                  <a:sym typeface="Calibri (MS)"/>
                </a:rPr>
                <a:t>📊</a:t>
              </a:r>
            </a:p>
          </p:txBody>
        </p:sp>
      </p:grpSp>
      <p:grpSp>
        <p:nvGrpSpPr>
          <p:cNvPr name="Group 15" id="15"/>
          <p:cNvGrpSpPr/>
          <p:nvPr/>
        </p:nvGrpSpPr>
        <p:grpSpPr>
          <a:xfrm rot="0">
            <a:off x="2194560" y="2880360"/>
            <a:ext cx="3291840" cy="342900"/>
            <a:chOff x="0" y="0"/>
            <a:chExt cx="4389120" cy="457200"/>
          </a:xfrm>
        </p:grpSpPr>
        <p:sp>
          <p:nvSpPr>
            <p:cNvPr name="Freeform 16" id="16"/>
            <p:cNvSpPr/>
            <p:nvPr/>
          </p:nvSpPr>
          <p:spPr>
            <a:xfrm flipH="false" flipV="false" rot="0">
              <a:off x="0" y="0"/>
              <a:ext cx="4389120" cy="457200"/>
            </a:xfrm>
            <a:custGeom>
              <a:avLst/>
              <a:gdLst/>
              <a:ahLst/>
              <a:cxnLst/>
              <a:rect r="r" b="b" t="t" l="l"/>
              <a:pathLst>
                <a:path h="457200" w="4389120">
                  <a:moveTo>
                    <a:pt x="0" y="0"/>
                  </a:moveTo>
                  <a:lnTo>
                    <a:pt x="4389120" y="0"/>
                  </a:lnTo>
                  <a:lnTo>
                    <a:pt x="4389120" y="457200"/>
                  </a:lnTo>
                  <a:lnTo>
                    <a:pt x="0" y="457200"/>
                  </a:lnTo>
                  <a:close/>
                </a:path>
              </a:pathLst>
            </a:custGeom>
            <a:blipFill>
              <a:blip r:embed="rId3">
                <a:alphaModFix amt="0"/>
              </a:blip>
              <a:stretch>
                <a:fillRect l="0" t="-137056" r="0" b="-137056"/>
              </a:stretch>
            </a:blipFill>
          </p:spPr>
        </p:sp>
        <p:sp>
          <p:nvSpPr>
            <p:cNvPr name="TextBox 17" id="17"/>
            <p:cNvSpPr txBox="true"/>
            <p:nvPr/>
          </p:nvSpPr>
          <p:spPr>
            <a:xfrm>
              <a:off x="0" y="-38100"/>
              <a:ext cx="4389120" cy="495300"/>
            </a:xfrm>
            <a:prstGeom prst="rect">
              <a:avLst/>
            </a:prstGeom>
          </p:spPr>
          <p:txBody>
            <a:bodyPr anchor="ctr" rtlCol="false" tIns="0" lIns="0" bIns="0" rIns="0"/>
            <a:lstStyle/>
            <a:p>
              <a:pPr algn="l">
                <a:lnSpc>
                  <a:spcPts val="1800"/>
                </a:lnSpc>
              </a:pPr>
              <a:r>
                <a:rPr lang="en-US" b="true" sz="1500" spc="150">
                  <a:solidFill>
                    <a:srgbClr val="B08D57"/>
                  </a:solidFill>
                  <a:latin typeface="Calibri (MS) Bold"/>
                  <a:ea typeface="Calibri (MS) Bold"/>
                  <a:cs typeface="Calibri (MS) Bold"/>
                  <a:sym typeface="Calibri (MS) Bold"/>
                </a:rPr>
                <a:t>SOURCE</a:t>
              </a:r>
            </a:p>
          </p:txBody>
        </p:sp>
      </p:grpSp>
      <p:grpSp>
        <p:nvGrpSpPr>
          <p:cNvPr name="Group 18" id="18"/>
          <p:cNvGrpSpPr/>
          <p:nvPr/>
        </p:nvGrpSpPr>
        <p:grpSpPr>
          <a:xfrm rot="0">
            <a:off x="2194560" y="3209544"/>
            <a:ext cx="3291840" cy="754380"/>
            <a:chOff x="0" y="0"/>
            <a:chExt cx="4389120" cy="1005840"/>
          </a:xfrm>
        </p:grpSpPr>
        <p:sp>
          <p:nvSpPr>
            <p:cNvPr name="Freeform 19" id="19"/>
            <p:cNvSpPr/>
            <p:nvPr/>
          </p:nvSpPr>
          <p:spPr>
            <a:xfrm flipH="false" flipV="false" rot="0">
              <a:off x="0" y="0"/>
              <a:ext cx="4389120" cy="1005840"/>
            </a:xfrm>
            <a:custGeom>
              <a:avLst/>
              <a:gdLst/>
              <a:ahLst/>
              <a:cxnLst/>
              <a:rect r="r" b="b" t="t" l="l"/>
              <a:pathLst>
                <a:path h="1005840" w="4389120">
                  <a:moveTo>
                    <a:pt x="0" y="0"/>
                  </a:moveTo>
                  <a:lnTo>
                    <a:pt x="4389120" y="0"/>
                  </a:lnTo>
                  <a:lnTo>
                    <a:pt x="4389120" y="1005840"/>
                  </a:lnTo>
                  <a:lnTo>
                    <a:pt x="0" y="1005840"/>
                  </a:lnTo>
                  <a:close/>
                </a:path>
              </a:pathLst>
            </a:custGeom>
            <a:blipFill>
              <a:blip r:embed="rId3">
                <a:alphaModFix amt="0"/>
              </a:blip>
              <a:stretch>
                <a:fillRect l="0" t="-35025" r="0" b="-35025"/>
              </a:stretch>
            </a:blipFill>
          </p:spPr>
        </p:sp>
        <p:sp>
          <p:nvSpPr>
            <p:cNvPr name="TextBox 20" id="20"/>
            <p:cNvSpPr txBox="true"/>
            <p:nvPr/>
          </p:nvSpPr>
          <p:spPr>
            <a:xfrm>
              <a:off x="0" y="-38100"/>
              <a:ext cx="4389120" cy="1043940"/>
            </a:xfrm>
            <a:prstGeom prst="rect">
              <a:avLst/>
            </a:prstGeom>
          </p:spPr>
          <p:txBody>
            <a:bodyPr anchor="ctr" rtlCol="false" tIns="0" lIns="0" bIns="0" rIns="0"/>
            <a:lstStyle/>
            <a:p>
              <a:pPr algn="l">
                <a:lnSpc>
                  <a:spcPts val="2100"/>
                </a:lnSpc>
              </a:pPr>
              <a:r>
                <a:rPr lang="en-US" sz="1800" b="true">
                  <a:solidFill>
                    <a:srgbClr val="1E2761"/>
                  </a:solidFill>
                  <a:latin typeface="Calibri (MS) Bold"/>
                  <a:ea typeface="Calibri (MS) Bold"/>
                  <a:cs typeface="Calibri (MS) Bold"/>
                  <a:sym typeface="Calibri (MS) Bold"/>
                </a:rPr>
                <a:t>forecast_method_</a:t>
              </a:r>
            </a:p>
            <a:p>
              <a:pPr algn="l">
                <a:lnSpc>
                  <a:spcPts val="2100"/>
                </a:lnSpc>
              </a:pPr>
              <a:r>
                <a:rPr lang="en-US" sz="1800" b="true">
                  <a:solidFill>
                    <a:srgbClr val="1E2761"/>
                  </a:solidFill>
                  <a:latin typeface="Calibri (MS) Bold"/>
                  <a:ea typeface="Calibri (MS) Bold"/>
                  <a:cs typeface="Calibri (MS) Bold"/>
                  <a:sym typeface="Calibri (MS) Bold"/>
                </a:rPr>
                <a:t>accuracy.csv</a:t>
              </a:r>
            </a:p>
          </p:txBody>
        </p:sp>
      </p:grpSp>
      <p:grpSp>
        <p:nvGrpSpPr>
          <p:cNvPr name="Group 21" id="21"/>
          <p:cNvGrpSpPr/>
          <p:nvPr/>
        </p:nvGrpSpPr>
        <p:grpSpPr>
          <a:xfrm rot="0">
            <a:off x="1165860" y="4046220"/>
            <a:ext cx="4183380" cy="754380"/>
            <a:chOff x="0" y="0"/>
            <a:chExt cx="5577840" cy="1005840"/>
          </a:xfrm>
        </p:grpSpPr>
        <p:sp>
          <p:nvSpPr>
            <p:cNvPr name="Freeform 22" id="22"/>
            <p:cNvSpPr/>
            <p:nvPr/>
          </p:nvSpPr>
          <p:spPr>
            <a:xfrm flipH="false" flipV="false" rot="0">
              <a:off x="0" y="0"/>
              <a:ext cx="5577840" cy="1005840"/>
            </a:xfrm>
            <a:custGeom>
              <a:avLst/>
              <a:gdLst/>
              <a:ahLst/>
              <a:cxnLst/>
              <a:rect r="r" b="b" t="t" l="l"/>
              <a:pathLst>
                <a:path h="1005840" w="5577840">
                  <a:moveTo>
                    <a:pt x="0" y="0"/>
                  </a:moveTo>
                  <a:lnTo>
                    <a:pt x="5577840" y="0"/>
                  </a:lnTo>
                  <a:lnTo>
                    <a:pt x="5577840" y="1005840"/>
                  </a:lnTo>
                  <a:lnTo>
                    <a:pt x="0" y="1005840"/>
                  </a:lnTo>
                  <a:close/>
                </a:path>
              </a:pathLst>
            </a:custGeom>
            <a:blipFill>
              <a:blip r:embed="rId3">
                <a:alphaModFix amt="0"/>
              </a:blip>
              <a:stretch>
                <a:fillRect l="0" t="-58053" r="0" b="-58053"/>
              </a:stretch>
            </a:blipFill>
          </p:spPr>
        </p:sp>
        <p:sp>
          <p:nvSpPr>
            <p:cNvPr name="TextBox 23" id="23"/>
            <p:cNvSpPr txBox="true"/>
            <p:nvPr/>
          </p:nvSpPr>
          <p:spPr>
            <a:xfrm>
              <a:off x="0" y="-28575"/>
              <a:ext cx="5577840" cy="1034415"/>
            </a:xfrm>
            <a:prstGeom prst="rect">
              <a:avLst/>
            </a:prstGeom>
          </p:spPr>
          <p:txBody>
            <a:bodyPr anchor="ctr" rtlCol="false" tIns="0" lIns="0" bIns="0" rIns="0"/>
            <a:lstStyle/>
            <a:p>
              <a:pPr algn="l">
                <a:lnSpc>
                  <a:spcPts val="1980"/>
                </a:lnSpc>
              </a:pPr>
              <a:r>
                <a:rPr lang="en-US" sz="1650">
                  <a:solidFill>
                    <a:srgbClr val="23283A"/>
                  </a:solidFill>
                  <a:latin typeface="Calibri (MS)"/>
                  <a:ea typeface="Calibri (MS)"/>
                  <a:cs typeface="Calibri (MS)"/>
                  <a:sym typeface="Calibri (MS)"/>
                </a:rPr>
                <a:t>MAPE error rate for 6 forecasting methods across all 5 regions</a:t>
              </a:r>
            </a:p>
          </p:txBody>
        </p:sp>
      </p:grpSp>
      <p:grpSp>
        <p:nvGrpSpPr>
          <p:cNvPr name="Group 24" id="24"/>
          <p:cNvGrpSpPr/>
          <p:nvPr/>
        </p:nvGrpSpPr>
        <p:grpSpPr>
          <a:xfrm rot="0">
            <a:off x="5956935" y="2596515"/>
            <a:ext cx="4888230" cy="2350770"/>
            <a:chOff x="0" y="0"/>
            <a:chExt cx="6517640" cy="3134360"/>
          </a:xfrm>
        </p:grpSpPr>
        <p:sp>
          <p:nvSpPr>
            <p:cNvPr name="Freeform 25" id="25"/>
            <p:cNvSpPr/>
            <p:nvPr/>
          </p:nvSpPr>
          <p:spPr>
            <a:xfrm flipH="false" flipV="false" rot="0">
              <a:off x="0" y="0"/>
              <a:ext cx="6517640" cy="3134360"/>
            </a:xfrm>
            <a:custGeom>
              <a:avLst/>
              <a:gdLst/>
              <a:ahLst/>
              <a:cxnLst/>
              <a:rect r="r" b="b" t="t" l="l"/>
              <a:pathLst>
                <a:path h="3134360" w="6517640">
                  <a:moveTo>
                    <a:pt x="0" y="221234"/>
                  </a:moveTo>
                  <a:cubicBezTo>
                    <a:pt x="0" y="99060"/>
                    <a:pt x="99060" y="0"/>
                    <a:pt x="221234" y="0"/>
                  </a:cubicBezTo>
                  <a:lnTo>
                    <a:pt x="6296406" y="0"/>
                  </a:lnTo>
                  <a:cubicBezTo>
                    <a:pt x="6418580" y="0"/>
                    <a:pt x="6517640" y="99060"/>
                    <a:pt x="6517640" y="221234"/>
                  </a:cubicBezTo>
                  <a:lnTo>
                    <a:pt x="6517640" y="2913126"/>
                  </a:lnTo>
                  <a:cubicBezTo>
                    <a:pt x="6517640" y="3035300"/>
                    <a:pt x="6418580" y="3134360"/>
                    <a:pt x="6296406" y="3134360"/>
                  </a:cubicBezTo>
                  <a:lnTo>
                    <a:pt x="221234" y="3134360"/>
                  </a:lnTo>
                  <a:cubicBezTo>
                    <a:pt x="99060" y="3134360"/>
                    <a:pt x="0" y="3035300"/>
                    <a:pt x="0" y="2913126"/>
                  </a:cubicBezTo>
                  <a:close/>
                </a:path>
              </a:pathLst>
            </a:custGeom>
            <a:solidFill>
              <a:srgbClr val="FFFFFF"/>
            </a:solidFill>
            <a:ln w="19050" cap="sq">
              <a:solidFill>
                <a:srgbClr val="CADCFC"/>
              </a:solidFill>
              <a:prstDash val="solid"/>
              <a:miter/>
            </a:ln>
          </p:spPr>
        </p:sp>
      </p:grpSp>
      <p:grpSp>
        <p:nvGrpSpPr>
          <p:cNvPr name="Group 26" id="26"/>
          <p:cNvGrpSpPr/>
          <p:nvPr/>
        </p:nvGrpSpPr>
        <p:grpSpPr>
          <a:xfrm rot="0">
            <a:off x="6309360" y="2948940"/>
            <a:ext cx="822960" cy="822960"/>
            <a:chOff x="0" y="0"/>
            <a:chExt cx="1097280" cy="1097280"/>
          </a:xfrm>
        </p:grpSpPr>
        <p:sp>
          <p:nvSpPr>
            <p:cNvPr name="Freeform 27" id="27"/>
            <p:cNvSpPr/>
            <p:nvPr/>
          </p:nvSpPr>
          <p:spPr>
            <a:xfrm flipH="false" flipV="false" rot="0">
              <a:off x="0" y="0"/>
              <a:ext cx="1097280" cy="1097280"/>
            </a:xfrm>
            <a:custGeom>
              <a:avLst/>
              <a:gdLst/>
              <a:ahLst/>
              <a:cxnLst/>
              <a:rect r="r" b="b" t="t" l="l"/>
              <a:pathLst>
                <a:path h="1097280" w="1097280">
                  <a:moveTo>
                    <a:pt x="0" y="548640"/>
                  </a:moveTo>
                  <a:cubicBezTo>
                    <a:pt x="0" y="245618"/>
                    <a:pt x="245618" y="0"/>
                    <a:pt x="548640" y="0"/>
                  </a:cubicBezTo>
                  <a:cubicBezTo>
                    <a:pt x="851662" y="0"/>
                    <a:pt x="1097280" y="245618"/>
                    <a:pt x="1097280" y="548640"/>
                  </a:cubicBezTo>
                  <a:cubicBezTo>
                    <a:pt x="1097280" y="851662"/>
                    <a:pt x="851662" y="1097280"/>
                    <a:pt x="548640" y="1097280"/>
                  </a:cubicBezTo>
                  <a:cubicBezTo>
                    <a:pt x="245618" y="1097280"/>
                    <a:pt x="0" y="851662"/>
                    <a:pt x="0" y="548640"/>
                  </a:cubicBezTo>
                  <a:close/>
                </a:path>
              </a:pathLst>
            </a:custGeom>
            <a:solidFill>
              <a:srgbClr val="1E2761"/>
            </a:solidFill>
          </p:spPr>
        </p:sp>
      </p:grpSp>
      <p:grpSp>
        <p:nvGrpSpPr>
          <p:cNvPr name="Group 28" id="28"/>
          <p:cNvGrpSpPr/>
          <p:nvPr/>
        </p:nvGrpSpPr>
        <p:grpSpPr>
          <a:xfrm rot="0">
            <a:off x="6309360" y="2948940"/>
            <a:ext cx="822960" cy="822960"/>
            <a:chOff x="0" y="0"/>
            <a:chExt cx="1097280" cy="1097280"/>
          </a:xfrm>
        </p:grpSpPr>
        <p:sp>
          <p:nvSpPr>
            <p:cNvPr name="Freeform 29" id="29"/>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3">
                <a:alphaModFix amt="0"/>
              </a:blip>
              <a:stretch>
                <a:fillRect l="-78303" t="0" r="-78303" b="0"/>
              </a:stretch>
            </a:blipFill>
          </p:spPr>
        </p:sp>
        <p:sp>
          <p:nvSpPr>
            <p:cNvPr name="TextBox 30" id="30"/>
            <p:cNvSpPr txBox="true"/>
            <p:nvPr/>
          </p:nvSpPr>
          <p:spPr>
            <a:xfrm>
              <a:off x="0" y="-66675"/>
              <a:ext cx="1097280" cy="1163955"/>
            </a:xfrm>
            <a:prstGeom prst="rect">
              <a:avLst/>
            </a:prstGeom>
          </p:spPr>
          <p:txBody>
            <a:bodyPr anchor="ctr" rtlCol="false" tIns="0" lIns="0" bIns="0" rIns="0"/>
            <a:lstStyle/>
            <a:p>
              <a:pPr algn="ctr">
                <a:lnSpc>
                  <a:spcPts val="3600"/>
                </a:lnSpc>
              </a:pPr>
              <a:r>
                <a:rPr lang="en-US" sz="3000">
                  <a:solidFill>
                    <a:srgbClr val="000000"/>
                  </a:solidFill>
                  <a:latin typeface="Calibri (MS)"/>
                  <a:ea typeface="Calibri (MS)"/>
                  <a:cs typeface="Calibri (MS)"/>
                  <a:sym typeface="Calibri (MS)"/>
                </a:rPr>
                <a:t>🗒</a:t>
              </a:r>
            </a:p>
          </p:txBody>
        </p:sp>
      </p:grpSp>
      <p:grpSp>
        <p:nvGrpSpPr>
          <p:cNvPr name="Group 31" id="31"/>
          <p:cNvGrpSpPr/>
          <p:nvPr/>
        </p:nvGrpSpPr>
        <p:grpSpPr>
          <a:xfrm rot="0">
            <a:off x="7338060" y="2880360"/>
            <a:ext cx="3291840" cy="342900"/>
            <a:chOff x="0" y="0"/>
            <a:chExt cx="4389120" cy="457200"/>
          </a:xfrm>
        </p:grpSpPr>
        <p:sp>
          <p:nvSpPr>
            <p:cNvPr name="Freeform 32" id="32"/>
            <p:cNvSpPr/>
            <p:nvPr/>
          </p:nvSpPr>
          <p:spPr>
            <a:xfrm flipH="false" flipV="false" rot="0">
              <a:off x="0" y="0"/>
              <a:ext cx="4389120" cy="457200"/>
            </a:xfrm>
            <a:custGeom>
              <a:avLst/>
              <a:gdLst/>
              <a:ahLst/>
              <a:cxnLst/>
              <a:rect r="r" b="b" t="t" l="l"/>
              <a:pathLst>
                <a:path h="457200" w="4389120">
                  <a:moveTo>
                    <a:pt x="0" y="0"/>
                  </a:moveTo>
                  <a:lnTo>
                    <a:pt x="4389120" y="0"/>
                  </a:lnTo>
                  <a:lnTo>
                    <a:pt x="4389120" y="457200"/>
                  </a:lnTo>
                  <a:lnTo>
                    <a:pt x="0" y="457200"/>
                  </a:lnTo>
                  <a:close/>
                </a:path>
              </a:pathLst>
            </a:custGeom>
            <a:blipFill>
              <a:blip r:embed="rId3">
                <a:alphaModFix amt="0"/>
              </a:blip>
              <a:stretch>
                <a:fillRect l="0" t="-137056" r="0" b="-137056"/>
              </a:stretch>
            </a:blipFill>
          </p:spPr>
        </p:sp>
        <p:sp>
          <p:nvSpPr>
            <p:cNvPr name="TextBox 33" id="33"/>
            <p:cNvSpPr txBox="true"/>
            <p:nvPr/>
          </p:nvSpPr>
          <p:spPr>
            <a:xfrm>
              <a:off x="0" y="-38100"/>
              <a:ext cx="4389120" cy="495300"/>
            </a:xfrm>
            <a:prstGeom prst="rect">
              <a:avLst/>
            </a:prstGeom>
          </p:spPr>
          <p:txBody>
            <a:bodyPr anchor="ctr" rtlCol="false" tIns="0" lIns="0" bIns="0" rIns="0"/>
            <a:lstStyle/>
            <a:p>
              <a:pPr algn="l">
                <a:lnSpc>
                  <a:spcPts val="1800"/>
                </a:lnSpc>
              </a:pPr>
              <a:r>
                <a:rPr lang="en-US" b="true" sz="1500" spc="150">
                  <a:solidFill>
                    <a:srgbClr val="B08D57"/>
                  </a:solidFill>
                  <a:latin typeface="Calibri (MS) Bold"/>
                  <a:ea typeface="Calibri (MS) Bold"/>
                  <a:cs typeface="Calibri (MS) Bold"/>
                  <a:sym typeface="Calibri (MS) Bold"/>
                </a:rPr>
                <a:t>SOURCE</a:t>
              </a:r>
            </a:p>
          </p:txBody>
        </p:sp>
      </p:grpSp>
      <p:grpSp>
        <p:nvGrpSpPr>
          <p:cNvPr name="Group 34" id="34"/>
          <p:cNvGrpSpPr/>
          <p:nvPr/>
        </p:nvGrpSpPr>
        <p:grpSpPr>
          <a:xfrm rot="0">
            <a:off x="7338060" y="3209544"/>
            <a:ext cx="3291840" cy="754380"/>
            <a:chOff x="0" y="0"/>
            <a:chExt cx="4389120" cy="1005840"/>
          </a:xfrm>
        </p:grpSpPr>
        <p:sp>
          <p:nvSpPr>
            <p:cNvPr name="Freeform 35" id="35"/>
            <p:cNvSpPr/>
            <p:nvPr/>
          </p:nvSpPr>
          <p:spPr>
            <a:xfrm flipH="false" flipV="false" rot="0">
              <a:off x="0" y="0"/>
              <a:ext cx="4389120" cy="1005840"/>
            </a:xfrm>
            <a:custGeom>
              <a:avLst/>
              <a:gdLst/>
              <a:ahLst/>
              <a:cxnLst/>
              <a:rect r="r" b="b" t="t" l="l"/>
              <a:pathLst>
                <a:path h="1005840" w="4389120">
                  <a:moveTo>
                    <a:pt x="0" y="0"/>
                  </a:moveTo>
                  <a:lnTo>
                    <a:pt x="4389120" y="0"/>
                  </a:lnTo>
                  <a:lnTo>
                    <a:pt x="4389120" y="1005840"/>
                  </a:lnTo>
                  <a:lnTo>
                    <a:pt x="0" y="1005840"/>
                  </a:lnTo>
                  <a:close/>
                </a:path>
              </a:pathLst>
            </a:custGeom>
            <a:blipFill>
              <a:blip r:embed="rId3">
                <a:alphaModFix amt="0"/>
              </a:blip>
              <a:stretch>
                <a:fillRect l="0" t="-35025" r="0" b="-35025"/>
              </a:stretch>
            </a:blipFill>
          </p:spPr>
        </p:sp>
        <p:sp>
          <p:nvSpPr>
            <p:cNvPr name="TextBox 36" id="36"/>
            <p:cNvSpPr txBox="true"/>
            <p:nvPr/>
          </p:nvSpPr>
          <p:spPr>
            <a:xfrm>
              <a:off x="0" y="-38100"/>
              <a:ext cx="4389120" cy="1043940"/>
            </a:xfrm>
            <a:prstGeom prst="rect">
              <a:avLst/>
            </a:prstGeom>
          </p:spPr>
          <p:txBody>
            <a:bodyPr anchor="ctr" rtlCol="false" tIns="0" lIns="0" bIns="0" rIns="0"/>
            <a:lstStyle/>
            <a:p>
              <a:pPr algn="l">
                <a:lnSpc>
                  <a:spcPts val="2100"/>
                </a:lnSpc>
              </a:pPr>
              <a:r>
                <a:rPr lang="en-US" sz="1800" b="true">
                  <a:solidFill>
                    <a:srgbClr val="1E2761"/>
                  </a:solidFill>
                  <a:latin typeface="Calibri (MS) Bold"/>
                  <a:ea typeface="Calibri (MS) Bold"/>
                  <a:cs typeface="Calibri (MS) Bold"/>
                  <a:sym typeface="Calibri (MS) Bold"/>
                </a:rPr>
                <a:t>region_notes.csv</a:t>
              </a:r>
            </a:p>
          </p:txBody>
        </p:sp>
      </p:grpSp>
      <p:grpSp>
        <p:nvGrpSpPr>
          <p:cNvPr name="Group 37" id="37"/>
          <p:cNvGrpSpPr/>
          <p:nvPr/>
        </p:nvGrpSpPr>
        <p:grpSpPr>
          <a:xfrm rot="0">
            <a:off x="6309360" y="4046220"/>
            <a:ext cx="4183380" cy="754380"/>
            <a:chOff x="0" y="0"/>
            <a:chExt cx="5577840" cy="1005840"/>
          </a:xfrm>
        </p:grpSpPr>
        <p:sp>
          <p:nvSpPr>
            <p:cNvPr name="Freeform 38" id="38"/>
            <p:cNvSpPr/>
            <p:nvPr/>
          </p:nvSpPr>
          <p:spPr>
            <a:xfrm flipH="false" flipV="false" rot="0">
              <a:off x="0" y="0"/>
              <a:ext cx="5577840" cy="1005840"/>
            </a:xfrm>
            <a:custGeom>
              <a:avLst/>
              <a:gdLst/>
              <a:ahLst/>
              <a:cxnLst/>
              <a:rect r="r" b="b" t="t" l="l"/>
              <a:pathLst>
                <a:path h="1005840" w="5577840">
                  <a:moveTo>
                    <a:pt x="0" y="0"/>
                  </a:moveTo>
                  <a:lnTo>
                    <a:pt x="5577840" y="0"/>
                  </a:lnTo>
                  <a:lnTo>
                    <a:pt x="5577840" y="1005840"/>
                  </a:lnTo>
                  <a:lnTo>
                    <a:pt x="0" y="1005840"/>
                  </a:lnTo>
                  <a:close/>
                </a:path>
              </a:pathLst>
            </a:custGeom>
            <a:blipFill>
              <a:blip r:embed="rId3">
                <a:alphaModFix amt="0"/>
              </a:blip>
              <a:stretch>
                <a:fillRect l="0" t="-58053" r="0" b="-58053"/>
              </a:stretch>
            </a:blipFill>
          </p:spPr>
        </p:sp>
        <p:sp>
          <p:nvSpPr>
            <p:cNvPr name="TextBox 39" id="39"/>
            <p:cNvSpPr txBox="true"/>
            <p:nvPr/>
          </p:nvSpPr>
          <p:spPr>
            <a:xfrm>
              <a:off x="0" y="-28575"/>
              <a:ext cx="5577840" cy="1034415"/>
            </a:xfrm>
            <a:prstGeom prst="rect">
              <a:avLst/>
            </a:prstGeom>
          </p:spPr>
          <p:txBody>
            <a:bodyPr anchor="ctr" rtlCol="false" tIns="0" lIns="0" bIns="0" rIns="0"/>
            <a:lstStyle/>
            <a:p>
              <a:pPr algn="l">
                <a:lnSpc>
                  <a:spcPts val="1980"/>
                </a:lnSpc>
              </a:pPr>
              <a:r>
                <a:rPr lang="en-US" sz="1650">
                  <a:solidFill>
                    <a:srgbClr val="23283A"/>
                  </a:solidFill>
                  <a:latin typeface="Calibri (MS)"/>
                  <a:ea typeface="Calibri (MS)"/>
                  <a:cs typeface="Calibri (MS)"/>
                  <a:sym typeface="Calibri (MS)"/>
                </a:rPr>
                <a:t>Analyst commentary describing each region's real demand pattern</a:t>
              </a:r>
            </a:p>
          </p:txBody>
        </p:sp>
      </p:grpSp>
      <p:grpSp>
        <p:nvGrpSpPr>
          <p:cNvPr name="Group 40" id="40"/>
          <p:cNvGrpSpPr/>
          <p:nvPr/>
        </p:nvGrpSpPr>
        <p:grpSpPr>
          <a:xfrm rot="0">
            <a:off x="11315700" y="2606040"/>
            <a:ext cx="1440180" cy="2331720"/>
            <a:chOff x="0" y="0"/>
            <a:chExt cx="1920240" cy="3108960"/>
          </a:xfrm>
        </p:grpSpPr>
        <p:sp>
          <p:nvSpPr>
            <p:cNvPr name="Freeform 41" id="41"/>
            <p:cNvSpPr/>
            <p:nvPr/>
          </p:nvSpPr>
          <p:spPr>
            <a:xfrm flipH="false" flipV="false" rot="0">
              <a:off x="0" y="0"/>
              <a:ext cx="1920240" cy="3108960"/>
            </a:xfrm>
            <a:custGeom>
              <a:avLst/>
              <a:gdLst/>
              <a:ahLst/>
              <a:cxnLst/>
              <a:rect r="r" b="b" t="t" l="l"/>
              <a:pathLst>
                <a:path h="3108960" w="1920240">
                  <a:moveTo>
                    <a:pt x="0" y="182880"/>
                  </a:moveTo>
                  <a:cubicBezTo>
                    <a:pt x="0" y="81915"/>
                    <a:pt x="81915" y="0"/>
                    <a:pt x="182880" y="0"/>
                  </a:cubicBezTo>
                  <a:lnTo>
                    <a:pt x="1737360" y="0"/>
                  </a:lnTo>
                  <a:cubicBezTo>
                    <a:pt x="1838325" y="0"/>
                    <a:pt x="1920240" y="81915"/>
                    <a:pt x="1920240" y="182880"/>
                  </a:cubicBezTo>
                  <a:lnTo>
                    <a:pt x="1920240" y="2926080"/>
                  </a:lnTo>
                  <a:cubicBezTo>
                    <a:pt x="1920240" y="3027045"/>
                    <a:pt x="1838325" y="3108960"/>
                    <a:pt x="1737360" y="3108960"/>
                  </a:cubicBezTo>
                  <a:lnTo>
                    <a:pt x="182880" y="3108960"/>
                  </a:lnTo>
                  <a:cubicBezTo>
                    <a:pt x="81915" y="3108960"/>
                    <a:pt x="0" y="3027045"/>
                    <a:pt x="0" y="2926080"/>
                  </a:cubicBezTo>
                  <a:close/>
                </a:path>
              </a:pathLst>
            </a:custGeom>
            <a:solidFill>
              <a:srgbClr val="1E2761"/>
            </a:solidFill>
          </p:spPr>
        </p:sp>
      </p:grpSp>
      <p:grpSp>
        <p:nvGrpSpPr>
          <p:cNvPr name="Group 42" id="42"/>
          <p:cNvGrpSpPr/>
          <p:nvPr/>
        </p:nvGrpSpPr>
        <p:grpSpPr>
          <a:xfrm rot="0">
            <a:off x="11205972" y="2811780"/>
            <a:ext cx="1659636" cy="1920240"/>
            <a:chOff x="0" y="0"/>
            <a:chExt cx="2212848" cy="2560320"/>
          </a:xfrm>
        </p:grpSpPr>
        <p:sp>
          <p:nvSpPr>
            <p:cNvPr name="Freeform 43" id="43"/>
            <p:cNvSpPr/>
            <p:nvPr/>
          </p:nvSpPr>
          <p:spPr>
            <a:xfrm flipH="false" flipV="false" rot="0">
              <a:off x="0" y="0"/>
              <a:ext cx="2212848" cy="2560320"/>
            </a:xfrm>
            <a:custGeom>
              <a:avLst/>
              <a:gdLst/>
              <a:ahLst/>
              <a:cxnLst/>
              <a:rect r="r" b="b" t="t" l="l"/>
              <a:pathLst>
                <a:path h="2560320" w="2212848">
                  <a:moveTo>
                    <a:pt x="0" y="0"/>
                  </a:moveTo>
                  <a:lnTo>
                    <a:pt x="2212848" y="0"/>
                  </a:lnTo>
                  <a:lnTo>
                    <a:pt x="2212848" y="2560320"/>
                  </a:lnTo>
                  <a:lnTo>
                    <a:pt x="0" y="2560320"/>
                  </a:lnTo>
                  <a:close/>
                </a:path>
              </a:pathLst>
            </a:custGeom>
            <a:blipFill>
              <a:blip r:embed="rId3">
                <a:alphaModFix amt="0"/>
              </a:blip>
              <a:stretch>
                <a:fillRect l="-98450" t="0" r="-98450" b="0"/>
              </a:stretch>
            </a:blipFill>
          </p:spPr>
        </p:sp>
        <p:sp>
          <p:nvSpPr>
            <p:cNvPr name="TextBox 44" id="44"/>
            <p:cNvSpPr txBox="true"/>
            <p:nvPr/>
          </p:nvSpPr>
          <p:spPr>
            <a:xfrm>
              <a:off x="0" y="-38100"/>
              <a:ext cx="2212848" cy="2598420"/>
            </a:xfrm>
            <a:prstGeom prst="rect">
              <a:avLst/>
            </a:prstGeom>
          </p:spPr>
          <p:txBody>
            <a:bodyPr anchor="ctr" rtlCol="false" tIns="0" lIns="0" bIns="0" rIns="0"/>
            <a:lstStyle/>
            <a:p>
              <a:pPr algn="ctr">
                <a:lnSpc>
                  <a:spcPts val="1800"/>
                </a:lnSpc>
              </a:pPr>
              <a:r>
                <a:rPr lang="en-US" sz="1500" b="true">
                  <a:solidFill>
                    <a:srgbClr val="FFFFFF"/>
                  </a:solidFill>
                  <a:latin typeface="Calibri (MS) Bold"/>
                  <a:ea typeface="Calibri (MS) Bold"/>
                  <a:cs typeface="Calibri (MS) Bold"/>
                  <a:sym typeface="Calibri (MS) Bold"/>
                </a:rPr>
                <a:t>Upload</a:t>
              </a:r>
            </a:p>
            <a:p>
              <a:pPr algn="ctr">
                <a:lnSpc>
                  <a:spcPts val="1800"/>
                </a:lnSpc>
              </a:pPr>
              <a:r>
                <a:rPr lang="en-US" sz="1500" b="true">
                  <a:solidFill>
                    <a:srgbClr val="FFFFFF"/>
                  </a:solidFill>
                  <a:latin typeface="Calibri (MS) Bold"/>
                  <a:ea typeface="Calibri (MS) Bold"/>
                  <a:cs typeface="Calibri (MS) Bold"/>
                  <a:sym typeface="Calibri (MS) Bold"/>
                </a:rPr>
                <a:t>Sources</a:t>
              </a:r>
            </a:p>
          </p:txBody>
        </p:sp>
      </p:grpSp>
      <p:grpSp>
        <p:nvGrpSpPr>
          <p:cNvPr name="Group 45" id="45"/>
          <p:cNvGrpSpPr/>
          <p:nvPr/>
        </p:nvGrpSpPr>
        <p:grpSpPr>
          <a:xfrm rot="0">
            <a:off x="12755880" y="3497580"/>
            <a:ext cx="137160" cy="548640"/>
            <a:chOff x="0" y="0"/>
            <a:chExt cx="182880" cy="731520"/>
          </a:xfrm>
        </p:grpSpPr>
        <p:sp>
          <p:nvSpPr>
            <p:cNvPr name="Freeform 46" id="46"/>
            <p:cNvSpPr/>
            <p:nvPr/>
          </p:nvSpPr>
          <p:spPr>
            <a:xfrm flipH="false" flipV="false" rot="0">
              <a:off x="0" y="0"/>
              <a:ext cx="182880" cy="731520"/>
            </a:xfrm>
            <a:custGeom>
              <a:avLst/>
              <a:gdLst/>
              <a:ahLst/>
              <a:cxnLst/>
              <a:rect r="r" b="b" t="t" l="l"/>
              <a:pathLst>
                <a:path h="731520" w="182880">
                  <a:moveTo>
                    <a:pt x="0" y="0"/>
                  </a:moveTo>
                  <a:lnTo>
                    <a:pt x="182880" y="0"/>
                  </a:lnTo>
                  <a:lnTo>
                    <a:pt x="182880" y="731520"/>
                  </a:lnTo>
                  <a:lnTo>
                    <a:pt x="0" y="731520"/>
                  </a:lnTo>
                  <a:close/>
                </a:path>
              </a:pathLst>
            </a:custGeom>
            <a:blipFill>
              <a:blip r:embed="rId3">
                <a:alphaModFix amt="0"/>
              </a:blip>
              <a:stretch>
                <a:fillRect l="-463214" t="0" r="-463214" b="0"/>
              </a:stretch>
            </a:blipFill>
          </p:spPr>
        </p:sp>
        <p:sp>
          <p:nvSpPr>
            <p:cNvPr name="TextBox 47" id="47"/>
            <p:cNvSpPr txBox="true"/>
            <p:nvPr/>
          </p:nvSpPr>
          <p:spPr>
            <a:xfrm>
              <a:off x="0" y="-38100"/>
              <a:ext cx="182880" cy="769620"/>
            </a:xfrm>
            <a:prstGeom prst="rect">
              <a:avLst/>
            </a:prstGeom>
          </p:spPr>
          <p:txBody>
            <a:bodyPr anchor="ctr" rtlCol="false" tIns="0" lIns="0" bIns="0" rIns="0"/>
            <a:lstStyle/>
            <a:p>
              <a:pPr algn="ctr">
                <a:lnSpc>
                  <a:spcPts val="2879"/>
                </a:lnSpc>
              </a:pPr>
              <a:r>
                <a:rPr lang="en-US" sz="2400" b="true">
                  <a:solidFill>
                    <a:srgbClr val="8A93A6"/>
                  </a:solidFill>
                  <a:latin typeface="Calibri (MS) Bold"/>
                  <a:ea typeface="Calibri (MS) Bold"/>
                  <a:cs typeface="Calibri (MS) Bold"/>
                  <a:sym typeface="Calibri (MS) Bold"/>
                </a:rPr>
                <a:t>›</a:t>
              </a:r>
            </a:p>
          </p:txBody>
        </p:sp>
      </p:grpSp>
      <p:grpSp>
        <p:nvGrpSpPr>
          <p:cNvPr name="Group 48" id="48"/>
          <p:cNvGrpSpPr/>
          <p:nvPr/>
        </p:nvGrpSpPr>
        <p:grpSpPr>
          <a:xfrm rot="0">
            <a:off x="12893040" y="2606040"/>
            <a:ext cx="1440180" cy="2331720"/>
            <a:chOff x="0" y="0"/>
            <a:chExt cx="1920240" cy="3108960"/>
          </a:xfrm>
        </p:grpSpPr>
        <p:sp>
          <p:nvSpPr>
            <p:cNvPr name="Freeform 49" id="49"/>
            <p:cNvSpPr/>
            <p:nvPr/>
          </p:nvSpPr>
          <p:spPr>
            <a:xfrm flipH="false" flipV="false" rot="0">
              <a:off x="0" y="0"/>
              <a:ext cx="1920240" cy="3108960"/>
            </a:xfrm>
            <a:custGeom>
              <a:avLst/>
              <a:gdLst/>
              <a:ahLst/>
              <a:cxnLst/>
              <a:rect r="r" b="b" t="t" l="l"/>
              <a:pathLst>
                <a:path h="3108960" w="1920240">
                  <a:moveTo>
                    <a:pt x="0" y="182880"/>
                  </a:moveTo>
                  <a:cubicBezTo>
                    <a:pt x="0" y="81915"/>
                    <a:pt x="81915" y="0"/>
                    <a:pt x="182880" y="0"/>
                  </a:cubicBezTo>
                  <a:lnTo>
                    <a:pt x="1737360" y="0"/>
                  </a:lnTo>
                  <a:cubicBezTo>
                    <a:pt x="1838325" y="0"/>
                    <a:pt x="1920240" y="81915"/>
                    <a:pt x="1920240" y="182880"/>
                  </a:cubicBezTo>
                  <a:lnTo>
                    <a:pt x="1920240" y="2926080"/>
                  </a:lnTo>
                  <a:cubicBezTo>
                    <a:pt x="1920240" y="3027045"/>
                    <a:pt x="1838325" y="3108960"/>
                    <a:pt x="1737360" y="3108960"/>
                  </a:cubicBezTo>
                  <a:lnTo>
                    <a:pt x="182880" y="3108960"/>
                  </a:lnTo>
                  <a:cubicBezTo>
                    <a:pt x="81915" y="3108960"/>
                    <a:pt x="0" y="3027045"/>
                    <a:pt x="0" y="2926080"/>
                  </a:cubicBezTo>
                  <a:close/>
                </a:path>
              </a:pathLst>
            </a:custGeom>
            <a:solidFill>
              <a:srgbClr val="1E2761"/>
            </a:solidFill>
          </p:spPr>
        </p:sp>
      </p:grpSp>
      <p:grpSp>
        <p:nvGrpSpPr>
          <p:cNvPr name="Group 50" id="50"/>
          <p:cNvGrpSpPr/>
          <p:nvPr/>
        </p:nvGrpSpPr>
        <p:grpSpPr>
          <a:xfrm rot="0">
            <a:off x="12783312" y="2811780"/>
            <a:ext cx="1659636" cy="1920240"/>
            <a:chOff x="0" y="0"/>
            <a:chExt cx="2212848" cy="2560320"/>
          </a:xfrm>
        </p:grpSpPr>
        <p:sp>
          <p:nvSpPr>
            <p:cNvPr name="Freeform 51" id="51"/>
            <p:cNvSpPr/>
            <p:nvPr/>
          </p:nvSpPr>
          <p:spPr>
            <a:xfrm flipH="false" flipV="false" rot="0">
              <a:off x="0" y="0"/>
              <a:ext cx="2212848" cy="2560320"/>
            </a:xfrm>
            <a:custGeom>
              <a:avLst/>
              <a:gdLst/>
              <a:ahLst/>
              <a:cxnLst/>
              <a:rect r="r" b="b" t="t" l="l"/>
              <a:pathLst>
                <a:path h="2560320" w="2212848">
                  <a:moveTo>
                    <a:pt x="0" y="0"/>
                  </a:moveTo>
                  <a:lnTo>
                    <a:pt x="2212848" y="0"/>
                  </a:lnTo>
                  <a:lnTo>
                    <a:pt x="2212848" y="2560320"/>
                  </a:lnTo>
                  <a:lnTo>
                    <a:pt x="0" y="2560320"/>
                  </a:lnTo>
                  <a:close/>
                </a:path>
              </a:pathLst>
            </a:custGeom>
            <a:blipFill>
              <a:blip r:embed="rId3">
                <a:alphaModFix amt="0"/>
              </a:blip>
              <a:stretch>
                <a:fillRect l="-98450" t="0" r="-98450" b="0"/>
              </a:stretch>
            </a:blipFill>
          </p:spPr>
        </p:sp>
        <p:sp>
          <p:nvSpPr>
            <p:cNvPr name="TextBox 52" id="52"/>
            <p:cNvSpPr txBox="true"/>
            <p:nvPr/>
          </p:nvSpPr>
          <p:spPr>
            <a:xfrm>
              <a:off x="0" y="-38100"/>
              <a:ext cx="2212848" cy="2598420"/>
            </a:xfrm>
            <a:prstGeom prst="rect">
              <a:avLst/>
            </a:prstGeom>
          </p:spPr>
          <p:txBody>
            <a:bodyPr anchor="ctr" rtlCol="false" tIns="0" lIns="0" bIns="0" rIns="0"/>
            <a:lstStyle/>
            <a:p>
              <a:pPr algn="ctr">
                <a:lnSpc>
                  <a:spcPts val="1800"/>
                </a:lnSpc>
              </a:pPr>
              <a:r>
                <a:rPr lang="en-US" sz="1500" b="true">
                  <a:solidFill>
                    <a:srgbClr val="FFFFFF"/>
                  </a:solidFill>
                  <a:latin typeface="Calibri (MS) Bold"/>
                  <a:ea typeface="Calibri (MS) Bold"/>
                  <a:cs typeface="Calibri (MS) Bold"/>
                  <a:sym typeface="Calibri (MS) Bold"/>
                </a:rPr>
                <a:t>Prompt</a:t>
              </a:r>
            </a:p>
            <a:p>
              <a:pPr algn="ctr">
                <a:lnSpc>
                  <a:spcPts val="1800"/>
                </a:lnSpc>
              </a:pPr>
              <a:r>
                <a:rPr lang="en-US" sz="1500" b="true">
                  <a:solidFill>
                    <a:srgbClr val="FFFFFF"/>
                  </a:solidFill>
                  <a:latin typeface="Calibri (MS) Bold"/>
                  <a:ea typeface="Calibri (MS) Bold"/>
                  <a:cs typeface="Calibri (MS) Bold"/>
                  <a:sym typeface="Calibri (MS) Bold"/>
                </a:rPr>
                <a:t>NotebookLM</a:t>
              </a:r>
            </a:p>
          </p:txBody>
        </p:sp>
      </p:grpSp>
      <p:grpSp>
        <p:nvGrpSpPr>
          <p:cNvPr name="Group 53" id="53"/>
          <p:cNvGrpSpPr/>
          <p:nvPr/>
        </p:nvGrpSpPr>
        <p:grpSpPr>
          <a:xfrm rot="0">
            <a:off x="14333220" y="3497580"/>
            <a:ext cx="137160" cy="548640"/>
            <a:chOff x="0" y="0"/>
            <a:chExt cx="182880" cy="731520"/>
          </a:xfrm>
        </p:grpSpPr>
        <p:sp>
          <p:nvSpPr>
            <p:cNvPr name="Freeform 54" id="54"/>
            <p:cNvSpPr/>
            <p:nvPr/>
          </p:nvSpPr>
          <p:spPr>
            <a:xfrm flipH="false" flipV="false" rot="0">
              <a:off x="0" y="0"/>
              <a:ext cx="182880" cy="731520"/>
            </a:xfrm>
            <a:custGeom>
              <a:avLst/>
              <a:gdLst/>
              <a:ahLst/>
              <a:cxnLst/>
              <a:rect r="r" b="b" t="t" l="l"/>
              <a:pathLst>
                <a:path h="731520" w="182880">
                  <a:moveTo>
                    <a:pt x="0" y="0"/>
                  </a:moveTo>
                  <a:lnTo>
                    <a:pt x="182880" y="0"/>
                  </a:lnTo>
                  <a:lnTo>
                    <a:pt x="182880" y="731520"/>
                  </a:lnTo>
                  <a:lnTo>
                    <a:pt x="0" y="731520"/>
                  </a:lnTo>
                  <a:close/>
                </a:path>
              </a:pathLst>
            </a:custGeom>
            <a:blipFill>
              <a:blip r:embed="rId3">
                <a:alphaModFix amt="0"/>
              </a:blip>
              <a:stretch>
                <a:fillRect l="-463214" t="0" r="-463214" b="0"/>
              </a:stretch>
            </a:blipFill>
          </p:spPr>
        </p:sp>
        <p:sp>
          <p:nvSpPr>
            <p:cNvPr name="TextBox 55" id="55"/>
            <p:cNvSpPr txBox="true"/>
            <p:nvPr/>
          </p:nvSpPr>
          <p:spPr>
            <a:xfrm>
              <a:off x="0" y="-38100"/>
              <a:ext cx="182880" cy="769620"/>
            </a:xfrm>
            <a:prstGeom prst="rect">
              <a:avLst/>
            </a:prstGeom>
          </p:spPr>
          <p:txBody>
            <a:bodyPr anchor="ctr" rtlCol="false" tIns="0" lIns="0" bIns="0" rIns="0"/>
            <a:lstStyle/>
            <a:p>
              <a:pPr algn="ctr">
                <a:lnSpc>
                  <a:spcPts val="2879"/>
                </a:lnSpc>
              </a:pPr>
              <a:r>
                <a:rPr lang="en-US" sz="2400" b="true">
                  <a:solidFill>
                    <a:srgbClr val="8A93A6"/>
                  </a:solidFill>
                  <a:latin typeface="Calibri (MS) Bold"/>
                  <a:ea typeface="Calibri (MS) Bold"/>
                  <a:cs typeface="Calibri (MS) Bold"/>
                  <a:sym typeface="Calibri (MS) Bold"/>
                </a:rPr>
                <a:t>›</a:t>
              </a:r>
            </a:p>
          </p:txBody>
        </p:sp>
      </p:grpSp>
      <p:grpSp>
        <p:nvGrpSpPr>
          <p:cNvPr name="Group 56" id="56"/>
          <p:cNvGrpSpPr/>
          <p:nvPr/>
        </p:nvGrpSpPr>
        <p:grpSpPr>
          <a:xfrm rot="0">
            <a:off x="14470380" y="2606040"/>
            <a:ext cx="1440180" cy="2331720"/>
            <a:chOff x="0" y="0"/>
            <a:chExt cx="1920240" cy="3108960"/>
          </a:xfrm>
        </p:grpSpPr>
        <p:sp>
          <p:nvSpPr>
            <p:cNvPr name="Freeform 57" id="57"/>
            <p:cNvSpPr/>
            <p:nvPr/>
          </p:nvSpPr>
          <p:spPr>
            <a:xfrm flipH="false" flipV="false" rot="0">
              <a:off x="0" y="0"/>
              <a:ext cx="1920240" cy="3108960"/>
            </a:xfrm>
            <a:custGeom>
              <a:avLst/>
              <a:gdLst/>
              <a:ahLst/>
              <a:cxnLst/>
              <a:rect r="r" b="b" t="t" l="l"/>
              <a:pathLst>
                <a:path h="3108960" w="1920240">
                  <a:moveTo>
                    <a:pt x="0" y="182880"/>
                  </a:moveTo>
                  <a:cubicBezTo>
                    <a:pt x="0" y="81915"/>
                    <a:pt x="81915" y="0"/>
                    <a:pt x="182880" y="0"/>
                  </a:cubicBezTo>
                  <a:lnTo>
                    <a:pt x="1737360" y="0"/>
                  </a:lnTo>
                  <a:cubicBezTo>
                    <a:pt x="1838325" y="0"/>
                    <a:pt x="1920240" y="81915"/>
                    <a:pt x="1920240" y="182880"/>
                  </a:cubicBezTo>
                  <a:lnTo>
                    <a:pt x="1920240" y="2926080"/>
                  </a:lnTo>
                  <a:cubicBezTo>
                    <a:pt x="1920240" y="3027045"/>
                    <a:pt x="1838325" y="3108960"/>
                    <a:pt x="1737360" y="3108960"/>
                  </a:cubicBezTo>
                  <a:lnTo>
                    <a:pt x="182880" y="3108960"/>
                  </a:lnTo>
                  <a:cubicBezTo>
                    <a:pt x="81915" y="3108960"/>
                    <a:pt x="0" y="3027045"/>
                    <a:pt x="0" y="2926080"/>
                  </a:cubicBezTo>
                  <a:close/>
                </a:path>
              </a:pathLst>
            </a:custGeom>
            <a:solidFill>
              <a:srgbClr val="1E2761"/>
            </a:solidFill>
          </p:spPr>
        </p:sp>
      </p:grpSp>
      <p:grpSp>
        <p:nvGrpSpPr>
          <p:cNvPr name="Group 58" id="58"/>
          <p:cNvGrpSpPr/>
          <p:nvPr/>
        </p:nvGrpSpPr>
        <p:grpSpPr>
          <a:xfrm rot="0">
            <a:off x="14360652" y="2811780"/>
            <a:ext cx="1659636" cy="1920240"/>
            <a:chOff x="0" y="0"/>
            <a:chExt cx="2212848" cy="2560320"/>
          </a:xfrm>
        </p:grpSpPr>
        <p:sp>
          <p:nvSpPr>
            <p:cNvPr name="Freeform 59" id="59"/>
            <p:cNvSpPr/>
            <p:nvPr/>
          </p:nvSpPr>
          <p:spPr>
            <a:xfrm flipH="false" flipV="false" rot="0">
              <a:off x="0" y="0"/>
              <a:ext cx="2212848" cy="2560320"/>
            </a:xfrm>
            <a:custGeom>
              <a:avLst/>
              <a:gdLst/>
              <a:ahLst/>
              <a:cxnLst/>
              <a:rect r="r" b="b" t="t" l="l"/>
              <a:pathLst>
                <a:path h="2560320" w="2212848">
                  <a:moveTo>
                    <a:pt x="0" y="0"/>
                  </a:moveTo>
                  <a:lnTo>
                    <a:pt x="2212848" y="0"/>
                  </a:lnTo>
                  <a:lnTo>
                    <a:pt x="2212848" y="2560320"/>
                  </a:lnTo>
                  <a:lnTo>
                    <a:pt x="0" y="2560320"/>
                  </a:lnTo>
                  <a:close/>
                </a:path>
              </a:pathLst>
            </a:custGeom>
            <a:blipFill>
              <a:blip r:embed="rId3">
                <a:alphaModFix amt="0"/>
              </a:blip>
              <a:stretch>
                <a:fillRect l="-98450" t="0" r="-98450" b="0"/>
              </a:stretch>
            </a:blipFill>
          </p:spPr>
        </p:sp>
        <p:sp>
          <p:nvSpPr>
            <p:cNvPr name="TextBox 60" id="60"/>
            <p:cNvSpPr txBox="true"/>
            <p:nvPr/>
          </p:nvSpPr>
          <p:spPr>
            <a:xfrm>
              <a:off x="0" y="-38100"/>
              <a:ext cx="2212848" cy="2598420"/>
            </a:xfrm>
            <a:prstGeom prst="rect">
              <a:avLst/>
            </a:prstGeom>
          </p:spPr>
          <p:txBody>
            <a:bodyPr anchor="ctr" rtlCol="false" tIns="0" lIns="0" bIns="0" rIns="0"/>
            <a:lstStyle/>
            <a:p>
              <a:pPr algn="ctr">
                <a:lnSpc>
                  <a:spcPts val="1800"/>
                </a:lnSpc>
              </a:pPr>
              <a:r>
                <a:rPr lang="en-US" sz="1500" b="true">
                  <a:solidFill>
                    <a:srgbClr val="FFFFFF"/>
                  </a:solidFill>
                  <a:latin typeface="Calibri (MS) Bold"/>
                  <a:ea typeface="Calibri (MS) Bold"/>
                  <a:cs typeface="Calibri (MS) Bold"/>
                  <a:sym typeface="Calibri (MS) Bold"/>
                </a:rPr>
                <a:t>Cross-Reference</a:t>
              </a:r>
            </a:p>
            <a:p>
              <a:pPr algn="ctr">
                <a:lnSpc>
                  <a:spcPts val="1800"/>
                </a:lnSpc>
              </a:pPr>
              <a:r>
                <a:rPr lang="en-US" sz="1500" b="true">
                  <a:solidFill>
                    <a:srgbClr val="FFFFFF"/>
                  </a:solidFill>
                  <a:latin typeface="Calibri (MS) Bold"/>
                  <a:ea typeface="Calibri (MS) Bold"/>
                  <a:cs typeface="Calibri (MS) Bold"/>
                  <a:sym typeface="Calibri (MS) Bold"/>
                </a:rPr>
                <a:t>Data</a:t>
              </a:r>
            </a:p>
          </p:txBody>
        </p:sp>
      </p:grpSp>
      <p:grpSp>
        <p:nvGrpSpPr>
          <p:cNvPr name="Group 61" id="61"/>
          <p:cNvGrpSpPr/>
          <p:nvPr/>
        </p:nvGrpSpPr>
        <p:grpSpPr>
          <a:xfrm rot="0">
            <a:off x="15910560" y="3497580"/>
            <a:ext cx="137160" cy="548640"/>
            <a:chOff x="0" y="0"/>
            <a:chExt cx="182880" cy="731520"/>
          </a:xfrm>
        </p:grpSpPr>
        <p:sp>
          <p:nvSpPr>
            <p:cNvPr name="Freeform 62" id="62"/>
            <p:cNvSpPr/>
            <p:nvPr/>
          </p:nvSpPr>
          <p:spPr>
            <a:xfrm flipH="false" flipV="false" rot="0">
              <a:off x="0" y="0"/>
              <a:ext cx="182880" cy="731520"/>
            </a:xfrm>
            <a:custGeom>
              <a:avLst/>
              <a:gdLst/>
              <a:ahLst/>
              <a:cxnLst/>
              <a:rect r="r" b="b" t="t" l="l"/>
              <a:pathLst>
                <a:path h="731520" w="182880">
                  <a:moveTo>
                    <a:pt x="0" y="0"/>
                  </a:moveTo>
                  <a:lnTo>
                    <a:pt x="182880" y="0"/>
                  </a:lnTo>
                  <a:lnTo>
                    <a:pt x="182880" y="731520"/>
                  </a:lnTo>
                  <a:lnTo>
                    <a:pt x="0" y="731520"/>
                  </a:lnTo>
                  <a:close/>
                </a:path>
              </a:pathLst>
            </a:custGeom>
            <a:blipFill>
              <a:blip r:embed="rId3">
                <a:alphaModFix amt="0"/>
              </a:blip>
              <a:stretch>
                <a:fillRect l="-463214" t="0" r="-463214" b="0"/>
              </a:stretch>
            </a:blipFill>
          </p:spPr>
        </p:sp>
        <p:sp>
          <p:nvSpPr>
            <p:cNvPr name="TextBox 63" id="63"/>
            <p:cNvSpPr txBox="true"/>
            <p:nvPr/>
          </p:nvSpPr>
          <p:spPr>
            <a:xfrm>
              <a:off x="0" y="-38100"/>
              <a:ext cx="182880" cy="769620"/>
            </a:xfrm>
            <a:prstGeom prst="rect">
              <a:avLst/>
            </a:prstGeom>
          </p:spPr>
          <p:txBody>
            <a:bodyPr anchor="ctr" rtlCol="false" tIns="0" lIns="0" bIns="0" rIns="0"/>
            <a:lstStyle/>
            <a:p>
              <a:pPr algn="ctr">
                <a:lnSpc>
                  <a:spcPts val="2879"/>
                </a:lnSpc>
              </a:pPr>
              <a:r>
                <a:rPr lang="en-US" sz="2400" b="true">
                  <a:solidFill>
                    <a:srgbClr val="8A93A6"/>
                  </a:solidFill>
                  <a:latin typeface="Calibri (MS) Bold"/>
                  <a:ea typeface="Calibri (MS) Bold"/>
                  <a:cs typeface="Calibri (MS) Bold"/>
                  <a:sym typeface="Calibri (MS) Bold"/>
                </a:rPr>
                <a:t>›</a:t>
              </a:r>
            </a:p>
          </p:txBody>
        </p:sp>
      </p:grpSp>
      <p:grpSp>
        <p:nvGrpSpPr>
          <p:cNvPr name="Group 64" id="64"/>
          <p:cNvGrpSpPr/>
          <p:nvPr/>
        </p:nvGrpSpPr>
        <p:grpSpPr>
          <a:xfrm rot="0">
            <a:off x="16047720" y="2606040"/>
            <a:ext cx="1440180" cy="2331720"/>
            <a:chOff x="0" y="0"/>
            <a:chExt cx="1920240" cy="3108960"/>
          </a:xfrm>
        </p:grpSpPr>
        <p:sp>
          <p:nvSpPr>
            <p:cNvPr name="Freeform 65" id="65"/>
            <p:cNvSpPr/>
            <p:nvPr/>
          </p:nvSpPr>
          <p:spPr>
            <a:xfrm flipH="false" flipV="false" rot="0">
              <a:off x="0" y="0"/>
              <a:ext cx="1920240" cy="3108960"/>
            </a:xfrm>
            <a:custGeom>
              <a:avLst/>
              <a:gdLst/>
              <a:ahLst/>
              <a:cxnLst/>
              <a:rect r="r" b="b" t="t" l="l"/>
              <a:pathLst>
                <a:path h="3108960" w="1920240">
                  <a:moveTo>
                    <a:pt x="0" y="182880"/>
                  </a:moveTo>
                  <a:cubicBezTo>
                    <a:pt x="0" y="81915"/>
                    <a:pt x="81915" y="0"/>
                    <a:pt x="182880" y="0"/>
                  </a:cubicBezTo>
                  <a:lnTo>
                    <a:pt x="1737360" y="0"/>
                  </a:lnTo>
                  <a:cubicBezTo>
                    <a:pt x="1838325" y="0"/>
                    <a:pt x="1920240" y="81915"/>
                    <a:pt x="1920240" y="182880"/>
                  </a:cubicBezTo>
                  <a:lnTo>
                    <a:pt x="1920240" y="2926080"/>
                  </a:lnTo>
                  <a:cubicBezTo>
                    <a:pt x="1920240" y="3027045"/>
                    <a:pt x="1838325" y="3108960"/>
                    <a:pt x="1737360" y="3108960"/>
                  </a:cubicBezTo>
                  <a:lnTo>
                    <a:pt x="182880" y="3108960"/>
                  </a:lnTo>
                  <a:cubicBezTo>
                    <a:pt x="81915" y="3108960"/>
                    <a:pt x="0" y="3027045"/>
                    <a:pt x="0" y="2926080"/>
                  </a:cubicBezTo>
                  <a:close/>
                </a:path>
              </a:pathLst>
            </a:custGeom>
            <a:solidFill>
              <a:srgbClr val="B08D57"/>
            </a:solidFill>
          </p:spPr>
        </p:sp>
      </p:grpSp>
      <p:grpSp>
        <p:nvGrpSpPr>
          <p:cNvPr name="Group 66" id="66"/>
          <p:cNvGrpSpPr/>
          <p:nvPr/>
        </p:nvGrpSpPr>
        <p:grpSpPr>
          <a:xfrm rot="0">
            <a:off x="15937992" y="2811780"/>
            <a:ext cx="1659636" cy="1920240"/>
            <a:chOff x="0" y="0"/>
            <a:chExt cx="2212848" cy="2560320"/>
          </a:xfrm>
        </p:grpSpPr>
        <p:sp>
          <p:nvSpPr>
            <p:cNvPr name="Freeform 67" id="67"/>
            <p:cNvSpPr/>
            <p:nvPr/>
          </p:nvSpPr>
          <p:spPr>
            <a:xfrm flipH="false" flipV="false" rot="0">
              <a:off x="0" y="0"/>
              <a:ext cx="2212848" cy="2560320"/>
            </a:xfrm>
            <a:custGeom>
              <a:avLst/>
              <a:gdLst/>
              <a:ahLst/>
              <a:cxnLst/>
              <a:rect r="r" b="b" t="t" l="l"/>
              <a:pathLst>
                <a:path h="2560320" w="2212848">
                  <a:moveTo>
                    <a:pt x="0" y="0"/>
                  </a:moveTo>
                  <a:lnTo>
                    <a:pt x="2212848" y="0"/>
                  </a:lnTo>
                  <a:lnTo>
                    <a:pt x="2212848" y="2560320"/>
                  </a:lnTo>
                  <a:lnTo>
                    <a:pt x="0" y="2560320"/>
                  </a:lnTo>
                  <a:close/>
                </a:path>
              </a:pathLst>
            </a:custGeom>
            <a:blipFill>
              <a:blip r:embed="rId3">
                <a:alphaModFix amt="0"/>
              </a:blip>
              <a:stretch>
                <a:fillRect l="-98450" t="0" r="-98450" b="0"/>
              </a:stretch>
            </a:blipFill>
          </p:spPr>
        </p:sp>
        <p:sp>
          <p:nvSpPr>
            <p:cNvPr name="TextBox 68" id="68"/>
            <p:cNvSpPr txBox="true"/>
            <p:nvPr/>
          </p:nvSpPr>
          <p:spPr>
            <a:xfrm>
              <a:off x="0" y="-38100"/>
              <a:ext cx="2212848" cy="2598420"/>
            </a:xfrm>
            <a:prstGeom prst="rect">
              <a:avLst/>
            </a:prstGeom>
          </p:spPr>
          <p:txBody>
            <a:bodyPr anchor="ctr" rtlCol="false" tIns="0" lIns="0" bIns="0" rIns="0"/>
            <a:lstStyle/>
            <a:p>
              <a:pPr algn="ctr">
                <a:lnSpc>
                  <a:spcPts val="1800"/>
                </a:lnSpc>
              </a:pPr>
              <a:r>
                <a:rPr lang="en-US" sz="1500" b="true">
                  <a:solidFill>
                    <a:srgbClr val="FFFFFF"/>
                  </a:solidFill>
                  <a:latin typeface="Calibri (MS) Bold"/>
                  <a:ea typeface="Calibri (MS) Bold"/>
                  <a:cs typeface="Calibri (MS) Bold"/>
                  <a:sym typeface="Calibri (MS) Bold"/>
                </a:rPr>
                <a:t>Generate</a:t>
              </a:r>
            </a:p>
            <a:p>
              <a:pPr algn="ctr">
                <a:lnSpc>
                  <a:spcPts val="1800"/>
                </a:lnSpc>
              </a:pPr>
              <a:r>
                <a:rPr lang="en-US" sz="1500" b="true">
                  <a:solidFill>
                    <a:srgbClr val="FFFFFF"/>
                  </a:solidFill>
                  <a:latin typeface="Calibri (MS) Bold"/>
                  <a:ea typeface="Calibri (MS) Bold"/>
                  <a:cs typeface="Calibri (MS) Bold"/>
                  <a:sym typeface="Calibri (MS) Bold"/>
                </a:rPr>
                <a:t>Insight</a:t>
              </a:r>
            </a:p>
          </p:txBody>
        </p:sp>
      </p:grpSp>
      <p:grpSp>
        <p:nvGrpSpPr>
          <p:cNvPr name="Group 69" id="69"/>
          <p:cNvGrpSpPr/>
          <p:nvPr/>
        </p:nvGrpSpPr>
        <p:grpSpPr>
          <a:xfrm rot="0">
            <a:off x="813435" y="5408295"/>
            <a:ext cx="16683990" cy="2419350"/>
            <a:chOff x="0" y="0"/>
            <a:chExt cx="22245320" cy="3225800"/>
          </a:xfrm>
        </p:grpSpPr>
        <p:sp>
          <p:nvSpPr>
            <p:cNvPr name="Freeform 70" id="70"/>
            <p:cNvSpPr/>
            <p:nvPr/>
          </p:nvSpPr>
          <p:spPr>
            <a:xfrm flipH="false" flipV="false" rot="0">
              <a:off x="0" y="0"/>
              <a:ext cx="22245321" cy="3225800"/>
            </a:xfrm>
            <a:custGeom>
              <a:avLst/>
              <a:gdLst/>
              <a:ahLst/>
              <a:cxnLst/>
              <a:rect r="r" b="b" t="t" l="l"/>
              <a:pathLst>
                <a:path h="3225800" w="22245321">
                  <a:moveTo>
                    <a:pt x="0" y="221234"/>
                  </a:moveTo>
                  <a:cubicBezTo>
                    <a:pt x="0" y="99060"/>
                    <a:pt x="99060" y="0"/>
                    <a:pt x="221234" y="0"/>
                  </a:cubicBezTo>
                  <a:lnTo>
                    <a:pt x="22024087" y="0"/>
                  </a:lnTo>
                  <a:cubicBezTo>
                    <a:pt x="22146261" y="0"/>
                    <a:pt x="22245321" y="99060"/>
                    <a:pt x="22245321" y="221234"/>
                  </a:cubicBezTo>
                  <a:lnTo>
                    <a:pt x="22245321" y="3004566"/>
                  </a:lnTo>
                  <a:cubicBezTo>
                    <a:pt x="22245321" y="3126740"/>
                    <a:pt x="22146261" y="3225800"/>
                    <a:pt x="22024087" y="3225800"/>
                  </a:cubicBezTo>
                  <a:lnTo>
                    <a:pt x="221234" y="3225800"/>
                  </a:lnTo>
                  <a:cubicBezTo>
                    <a:pt x="99060" y="3225800"/>
                    <a:pt x="0" y="3126740"/>
                    <a:pt x="0" y="3004566"/>
                  </a:cubicBezTo>
                  <a:close/>
                </a:path>
              </a:pathLst>
            </a:custGeom>
            <a:solidFill>
              <a:srgbClr val="FFFFFF"/>
            </a:solidFill>
            <a:ln w="19050" cap="sq">
              <a:solidFill>
                <a:srgbClr val="CADCFC"/>
              </a:solidFill>
              <a:prstDash val="solid"/>
              <a:miter/>
            </a:ln>
          </p:spPr>
        </p:sp>
      </p:grpSp>
      <p:grpSp>
        <p:nvGrpSpPr>
          <p:cNvPr name="Group 71" id="71"/>
          <p:cNvGrpSpPr/>
          <p:nvPr/>
        </p:nvGrpSpPr>
        <p:grpSpPr>
          <a:xfrm rot="0">
            <a:off x="1303020" y="5692140"/>
            <a:ext cx="5486400" cy="411480"/>
            <a:chOff x="0" y="0"/>
            <a:chExt cx="7315200" cy="548640"/>
          </a:xfrm>
        </p:grpSpPr>
        <p:sp>
          <p:nvSpPr>
            <p:cNvPr name="Freeform 72" id="72"/>
            <p:cNvSpPr/>
            <p:nvPr/>
          </p:nvSpPr>
          <p:spPr>
            <a:xfrm flipH="false" flipV="false" rot="0">
              <a:off x="0" y="0"/>
              <a:ext cx="7315200" cy="548640"/>
            </a:xfrm>
            <a:custGeom>
              <a:avLst/>
              <a:gdLst/>
              <a:ahLst/>
              <a:cxnLst/>
              <a:rect r="r" b="b" t="t" l="l"/>
              <a:pathLst>
                <a:path h="548640" w="7315200">
                  <a:moveTo>
                    <a:pt x="0" y="0"/>
                  </a:moveTo>
                  <a:lnTo>
                    <a:pt x="7315200" y="0"/>
                  </a:lnTo>
                  <a:lnTo>
                    <a:pt x="7315200" y="548640"/>
                  </a:lnTo>
                  <a:lnTo>
                    <a:pt x="0" y="548640"/>
                  </a:lnTo>
                  <a:close/>
                </a:path>
              </a:pathLst>
            </a:custGeom>
            <a:blipFill>
              <a:blip r:embed="rId3">
                <a:alphaModFix amt="0"/>
              </a:blip>
              <a:stretch>
                <a:fillRect l="0" t="-209800" r="0" b="-209800"/>
              </a:stretch>
            </a:blipFill>
          </p:spPr>
        </p:sp>
        <p:sp>
          <p:nvSpPr>
            <p:cNvPr name="TextBox 73" id="73"/>
            <p:cNvSpPr txBox="true"/>
            <p:nvPr/>
          </p:nvSpPr>
          <p:spPr>
            <a:xfrm>
              <a:off x="0" y="-38100"/>
              <a:ext cx="7315200" cy="586740"/>
            </a:xfrm>
            <a:prstGeom prst="rect">
              <a:avLst/>
            </a:prstGeom>
          </p:spPr>
          <p:txBody>
            <a:bodyPr anchor="ctr" rtlCol="false" tIns="0" lIns="0" bIns="0" rIns="0"/>
            <a:lstStyle/>
            <a:p>
              <a:pPr algn="l">
                <a:lnSpc>
                  <a:spcPts val="2160"/>
                </a:lnSpc>
              </a:pPr>
              <a:r>
                <a:rPr lang="en-US" b="true" sz="1800" spc="149">
                  <a:solidFill>
                    <a:srgbClr val="0E7C7B"/>
                  </a:solidFill>
                  <a:latin typeface="Calibri (MS) Bold"/>
                  <a:ea typeface="Calibri (MS) Bold"/>
                  <a:cs typeface="Calibri (MS) Bold"/>
                  <a:sym typeface="Calibri (MS) Bold"/>
                </a:rPr>
                <a:t>WHY TWO SOURCES?</a:t>
              </a:r>
            </a:p>
          </p:txBody>
        </p:sp>
      </p:grpSp>
      <p:grpSp>
        <p:nvGrpSpPr>
          <p:cNvPr name="Group 74" id="74"/>
          <p:cNvGrpSpPr/>
          <p:nvPr/>
        </p:nvGrpSpPr>
        <p:grpSpPr>
          <a:xfrm rot="0">
            <a:off x="1303020" y="6172200"/>
            <a:ext cx="15773400" cy="1508760"/>
            <a:chOff x="0" y="0"/>
            <a:chExt cx="21031200" cy="2011680"/>
          </a:xfrm>
        </p:grpSpPr>
        <p:sp>
          <p:nvSpPr>
            <p:cNvPr name="Freeform 75" id="75"/>
            <p:cNvSpPr/>
            <p:nvPr/>
          </p:nvSpPr>
          <p:spPr>
            <a:xfrm flipH="false" flipV="false" rot="0">
              <a:off x="0" y="0"/>
              <a:ext cx="21031200" cy="2011680"/>
            </a:xfrm>
            <a:custGeom>
              <a:avLst/>
              <a:gdLst/>
              <a:ahLst/>
              <a:cxnLst/>
              <a:rect r="r" b="b" t="t" l="l"/>
              <a:pathLst>
                <a:path h="2011680" w="21031200">
                  <a:moveTo>
                    <a:pt x="0" y="0"/>
                  </a:moveTo>
                  <a:lnTo>
                    <a:pt x="21031200" y="0"/>
                  </a:lnTo>
                  <a:lnTo>
                    <a:pt x="21031200" y="2011680"/>
                  </a:lnTo>
                  <a:lnTo>
                    <a:pt x="0" y="2011680"/>
                  </a:lnTo>
                  <a:close/>
                </a:path>
              </a:pathLst>
            </a:custGeom>
            <a:blipFill>
              <a:blip r:embed="rId3">
                <a:alphaModFix amt="0"/>
              </a:blip>
              <a:stretch>
                <a:fillRect l="0" t="-153707" r="0" b="-153707"/>
              </a:stretch>
            </a:blipFill>
          </p:spPr>
        </p:sp>
        <p:sp>
          <p:nvSpPr>
            <p:cNvPr name="TextBox 76" id="76"/>
            <p:cNvSpPr txBox="true"/>
            <p:nvPr/>
          </p:nvSpPr>
          <p:spPr>
            <a:xfrm>
              <a:off x="0" y="-95250"/>
              <a:ext cx="21031200" cy="2106930"/>
            </a:xfrm>
            <a:prstGeom prst="rect">
              <a:avLst/>
            </a:prstGeom>
          </p:spPr>
          <p:txBody>
            <a:bodyPr anchor="ctr" rtlCol="false" tIns="0" lIns="0" bIns="0" rIns="0"/>
            <a:lstStyle/>
            <a:p>
              <a:pPr algn="l">
                <a:lnSpc>
                  <a:spcPts val="2850"/>
                </a:lnSpc>
              </a:pPr>
              <a:r>
                <a:rPr lang="en-US" sz="1950">
                  <a:solidFill>
                    <a:srgbClr val="23283A"/>
                  </a:solidFill>
                  <a:latin typeface="Calibri (MS)"/>
                  <a:ea typeface="Calibri (MS)"/>
                  <a:cs typeface="Calibri (MS)"/>
                  <a:sym typeface="Calibri (MS)"/>
                </a:rPr>
                <a:t>Accuracy numbers alone don't tell leadership why a method works. Pairing the quantitative error rates with the analysts' qualitative demand notes forces NotebookLM to reason about causation, not just ranking — producing recommendations that are operationally explainable, not just statistically correct.</a:t>
              </a:r>
            </a:p>
          </p:txBody>
        </p:sp>
      </p:grpSp>
      <p:grpSp>
        <p:nvGrpSpPr>
          <p:cNvPr name="Group 77" id="77"/>
          <p:cNvGrpSpPr/>
          <p:nvPr/>
        </p:nvGrpSpPr>
        <p:grpSpPr>
          <a:xfrm rot="0">
            <a:off x="822960" y="8161020"/>
            <a:ext cx="16664940" cy="1028700"/>
            <a:chOff x="0" y="0"/>
            <a:chExt cx="22219920" cy="1371600"/>
          </a:xfrm>
        </p:grpSpPr>
        <p:sp>
          <p:nvSpPr>
            <p:cNvPr name="Freeform 78" id="78"/>
            <p:cNvSpPr/>
            <p:nvPr/>
          </p:nvSpPr>
          <p:spPr>
            <a:xfrm flipH="false" flipV="false" rot="0">
              <a:off x="0" y="0"/>
              <a:ext cx="22219920" cy="1371600"/>
            </a:xfrm>
            <a:custGeom>
              <a:avLst/>
              <a:gdLst/>
              <a:ahLst/>
              <a:cxnLst/>
              <a:rect r="r" b="b" t="t" l="l"/>
              <a:pathLst>
                <a:path h="1371600" w="22219920">
                  <a:moveTo>
                    <a:pt x="0" y="182880"/>
                  </a:moveTo>
                  <a:cubicBezTo>
                    <a:pt x="0" y="81915"/>
                    <a:pt x="81915" y="0"/>
                    <a:pt x="182880" y="0"/>
                  </a:cubicBezTo>
                  <a:lnTo>
                    <a:pt x="22037039" y="0"/>
                  </a:lnTo>
                  <a:cubicBezTo>
                    <a:pt x="22138004" y="0"/>
                    <a:pt x="22219920" y="81915"/>
                    <a:pt x="22219920" y="182880"/>
                  </a:cubicBezTo>
                  <a:lnTo>
                    <a:pt x="22219920" y="1188720"/>
                  </a:lnTo>
                  <a:cubicBezTo>
                    <a:pt x="22219920" y="1289685"/>
                    <a:pt x="22138004" y="1371600"/>
                    <a:pt x="22037039" y="1371600"/>
                  </a:cubicBezTo>
                  <a:lnTo>
                    <a:pt x="182880" y="1371600"/>
                  </a:lnTo>
                  <a:cubicBezTo>
                    <a:pt x="81915" y="1371600"/>
                    <a:pt x="0" y="1289685"/>
                    <a:pt x="0" y="1188720"/>
                  </a:cubicBezTo>
                  <a:close/>
                </a:path>
              </a:pathLst>
            </a:custGeom>
            <a:solidFill>
              <a:srgbClr val="1E2761"/>
            </a:solidFill>
          </p:spPr>
        </p:sp>
      </p:grpSp>
      <p:grpSp>
        <p:nvGrpSpPr>
          <p:cNvPr name="Group 79" id="79"/>
          <p:cNvGrpSpPr/>
          <p:nvPr/>
        </p:nvGrpSpPr>
        <p:grpSpPr>
          <a:xfrm rot="0">
            <a:off x="1234440" y="8161020"/>
            <a:ext cx="15773400" cy="1028700"/>
            <a:chOff x="0" y="0"/>
            <a:chExt cx="21031200" cy="1371600"/>
          </a:xfrm>
        </p:grpSpPr>
        <p:sp>
          <p:nvSpPr>
            <p:cNvPr name="Freeform 80" id="80"/>
            <p:cNvSpPr/>
            <p:nvPr/>
          </p:nvSpPr>
          <p:spPr>
            <a:xfrm flipH="false" flipV="false" rot="0">
              <a:off x="0" y="0"/>
              <a:ext cx="21031200" cy="1371600"/>
            </a:xfrm>
            <a:custGeom>
              <a:avLst/>
              <a:gdLst/>
              <a:ahLst/>
              <a:cxnLst/>
              <a:rect r="r" b="b" t="t" l="l"/>
              <a:pathLst>
                <a:path h="1371600" w="21031200">
                  <a:moveTo>
                    <a:pt x="0" y="0"/>
                  </a:moveTo>
                  <a:lnTo>
                    <a:pt x="21031200" y="0"/>
                  </a:lnTo>
                  <a:lnTo>
                    <a:pt x="21031200" y="1371600"/>
                  </a:lnTo>
                  <a:lnTo>
                    <a:pt x="0" y="1371600"/>
                  </a:lnTo>
                  <a:close/>
                </a:path>
              </a:pathLst>
            </a:custGeom>
            <a:blipFill>
              <a:blip r:embed="rId3">
                <a:alphaModFix amt="0"/>
              </a:blip>
              <a:stretch>
                <a:fillRect l="0" t="-248770" r="0" b="-248770"/>
              </a:stretch>
            </a:blipFill>
          </p:spPr>
        </p:sp>
        <p:sp>
          <p:nvSpPr>
            <p:cNvPr name="TextBox 81" id="81"/>
            <p:cNvSpPr txBox="true"/>
            <p:nvPr/>
          </p:nvSpPr>
          <p:spPr>
            <a:xfrm>
              <a:off x="0" y="-38100"/>
              <a:ext cx="21031200" cy="1409700"/>
            </a:xfrm>
            <a:prstGeom prst="rect">
              <a:avLst/>
            </a:prstGeom>
          </p:spPr>
          <p:txBody>
            <a:bodyPr anchor="ctr" rtlCol="false" tIns="0" lIns="0" bIns="0" rIns="0"/>
            <a:lstStyle/>
            <a:p>
              <a:pPr algn="l">
                <a:lnSpc>
                  <a:spcPts val="2250"/>
                </a:lnSpc>
              </a:pPr>
              <a:r>
                <a:rPr lang="en-US" sz="1875" b="true">
                  <a:solidFill>
                    <a:srgbClr val="B08D57"/>
                  </a:solidFill>
                  <a:latin typeface="Calibri (MS) Bold"/>
                  <a:ea typeface="Calibri (MS) Bold"/>
                  <a:cs typeface="Calibri (MS) Bold"/>
                  <a:sym typeface="Calibri (MS) Bold"/>
                </a:rPr>
                <a:t>GROUNDING PROMPT:  </a:t>
              </a:r>
              <a:r>
                <a:rPr lang="en-US" sz="1875" i="true">
                  <a:solidFill>
                    <a:srgbClr val="FFFFFF"/>
                  </a:solidFill>
                  <a:latin typeface="Calibri (MS) Italics"/>
                  <a:ea typeface="Calibri (MS) Italics"/>
                  <a:cs typeface="Calibri (MS) Italics"/>
                  <a:sym typeface="Calibri (MS) Italics"/>
                </a:rPr>
                <a:t>“Using both uploaded files, explain why the best-performing method in each region matches or conflicts with the analyst's description of that region's demand pattern.”</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4F6FB"/>
        </a:solidFill>
      </p:bgPr>
    </p:bg>
    <p:spTree>
      <p:nvGrpSpPr>
        <p:cNvPr id="1" name=""/>
        <p:cNvGrpSpPr/>
        <p:nvPr/>
      </p:nvGrpSpPr>
      <p:grpSpPr>
        <a:xfrm>
          <a:off x="0" y="0"/>
          <a:ext cx="0" cy="0"/>
          <a:chOff x="0" y="0"/>
          <a:chExt cx="0" cy="0"/>
        </a:xfrm>
      </p:grpSpPr>
      <p:grpSp>
        <p:nvGrpSpPr>
          <p:cNvPr name="Group 2" id="2"/>
          <p:cNvGrpSpPr/>
          <p:nvPr/>
        </p:nvGrpSpPr>
        <p:grpSpPr>
          <a:xfrm rot="0">
            <a:off x="822960" y="576072"/>
            <a:ext cx="10972800" cy="411480"/>
            <a:chOff x="0" y="0"/>
            <a:chExt cx="14630400" cy="548640"/>
          </a:xfrm>
        </p:grpSpPr>
        <p:sp>
          <p:nvSpPr>
            <p:cNvPr name="Freeform 3" id="3"/>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4" id="4"/>
            <p:cNvSpPr txBox="true"/>
            <p:nvPr/>
          </p:nvSpPr>
          <p:spPr>
            <a:xfrm>
              <a:off x="0" y="-38100"/>
              <a:ext cx="14630400" cy="586740"/>
            </a:xfrm>
            <a:prstGeom prst="rect">
              <a:avLst/>
            </a:prstGeom>
          </p:spPr>
          <p:txBody>
            <a:bodyPr anchor="ctr" rtlCol="false" tIns="0" lIns="0" bIns="0" rIns="0"/>
            <a:lstStyle/>
            <a:p>
              <a:pPr algn="l">
                <a:lnSpc>
                  <a:spcPts val="2160"/>
                </a:lnSpc>
              </a:pPr>
              <a:r>
                <a:rPr lang="en-US" b="true" sz="1800" spc="300">
                  <a:solidFill>
                    <a:srgbClr val="B08D57"/>
                  </a:solidFill>
                  <a:latin typeface="Calibri (MS) Bold"/>
                  <a:ea typeface="Calibri (MS) Bold"/>
                  <a:cs typeface="Calibri (MS) Bold"/>
                  <a:sym typeface="Calibri (MS) Bold"/>
                </a:rPr>
                <a:t>TASK 2 WALKTHROUGH</a:t>
              </a:r>
            </a:p>
          </p:txBody>
        </p:sp>
      </p:grpSp>
      <p:grpSp>
        <p:nvGrpSpPr>
          <p:cNvPr name="Group 5" id="5"/>
          <p:cNvGrpSpPr/>
          <p:nvPr/>
        </p:nvGrpSpPr>
        <p:grpSpPr>
          <a:xfrm rot="0">
            <a:off x="822960" y="987552"/>
            <a:ext cx="16596360" cy="1234440"/>
            <a:chOff x="0" y="0"/>
            <a:chExt cx="22128480" cy="1645920"/>
          </a:xfrm>
        </p:grpSpPr>
        <p:sp>
          <p:nvSpPr>
            <p:cNvPr name="Freeform 6" id="6"/>
            <p:cNvSpPr/>
            <p:nvPr/>
          </p:nvSpPr>
          <p:spPr>
            <a:xfrm flipH="false" flipV="false" rot="0">
              <a:off x="0" y="0"/>
              <a:ext cx="22128480" cy="1645920"/>
            </a:xfrm>
            <a:custGeom>
              <a:avLst/>
              <a:gdLst/>
              <a:ahLst/>
              <a:cxnLst/>
              <a:rect r="r" b="b" t="t" l="l"/>
              <a:pathLst>
                <a:path h="1645920" w="22128480">
                  <a:moveTo>
                    <a:pt x="0" y="0"/>
                  </a:moveTo>
                  <a:lnTo>
                    <a:pt x="22128480" y="0"/>
                  </a:lnTo>
                  <a:lnTo>
                    <a:pt x="22128480" y="1645920"/>
                  </a:lnTo>
                  <a:lnTo>
                    <a:pt x="0" y="1645920"/>
                  </a:lnTo>
                  <a:close/>
                </a:path>
              </a:pathLst>
            </a:custGeom>
            <a:blipFill>
              <a:blip r:embed="rId3">
                <a:alphaModFix amt="0"/>
              </a:blip>
              <a:stretch>
                <a:fillRect l="0" t="-211965" r="0" b="-211965"/>
              </a:stretch>
            </a:blipFill>
          </p:spPr>
        </p:sp>
        <p:sp>
          <p:nvSpPr>
            <p:cNvPr name="TextBox 7" id="7"/>
            <p:cNvSpPr txBox="true"/>
            <p:nvPr/>
          </p:nvSpPr>
          <p:spPr>
            <a:xfrm>
              <a:off x="0" y="-19050"/>
              <a:ext cx="22128480" cy="1664970"/>
            </a:xfrm>
            <a:prstGeom prst="rect">
              <a:avLst/>
            </a:prstGeom>
          </p:spPr>
          <p:txBody>
            <a:bodyPr anchor="ctr" rtlCol="false" tIns="0" lIns="0" bIns="0" rIns="0"/>
            <a:lstStyle/>
            <a:p>
              <a:pPr algn="l">
                <a:lnSpc>
                  <a:spcPts val="5400"/>
                </a:lnSpc>
              </a:pPr>
              <a:r>
                <a:rPr lang="en-US" sz="4500" b="true">
                  <a:solidFill>
                    <a:srgbClr val="1E2761"/>
                  </a:solidFill>
                  <a:latin typeface="Cambria Bold"/>
                  <a:ea typeface="Cambria Bold"/>
                  <a:cs typeface="Cambria Bold"/>
                  <a:sym typeface="Cambria Bold"/>
                </a:rPr>
                <a:t>Region-by-Region Breakdown: Winner vs. Demand Pattern</a:t>
              </a:r>
            </a:p>
          </p:txBody>
        </p:sp>
      </p:grpSp>
      <p:graphicFrame>
        <p:nvGraphicFramePr>
          <p:cNvPr name="Table 8" id="8"/>
          <p:cNvGraphicFramePr>
            <a:graphicFrameLocks noGrp="true"/>
          </p:cNvGraphicFramePr>
          <p:nvPr/>
        </p:nvGraphicFramePr>
        <p:xfrm>
          <a:off x="822960" y="2537460"/>
          <a:ext cx="16649700" cy="4457700"/>
        </p:xfrm>
        <a:graphic>
          <a:graphicData uri="http://schemas.openxmlformats.org/drawingml/2006/table">
            <a:tbl>
              <a:tblPr/>
              <a:tblGrid>
                <a:gridCol w="2066352"/>
                <a:gridCol w="3425049"/>
                <a:gridCol w="1590808"/>
                <a:gridCol w="6821791"/>
                <a:gridCol w="2745700"/>
              </a:tblGrid>
              <a:tr h="742950">
                <a:tc>
                  <a:txBody>
                    <a:bodyPr anchor="t" rtlCol="false"/>
                    <a:lstStyle/>
                    <a:p>
                      <a:pPr algn="l">
                        <a:lnSpc>
                          <a:spcPts val="2250"/>
                        </a:lnSpc>
                        <a:defRPr/>
                      </a:pPr>
                      <a:r>
                        <a:rPr lang="en-US" sz="1875" b="true">
                          <a:solidFill>
                            <a:srgbClr val="FFFFFF"/>
                          </a:solidFill>
                          <a:latin typeface="Calibri (MS) Bold"/>
                          <a:ea typeface="Calibri (MS) Bold"/>
                          <a:cs typeface="Calibri (MS) Bold"/>
                          <a:sym typeface="Calibri (MS) Bold"/>
                        </a:rPr>
                        <a:t>Region</a:t>
                      </a:r>
                      <a:endParaRPr lang="en-US" sz="1100"/>
                    </a:p>
                  </a:txBody>
                  <a:tcPr marL="91440" marR="91440" marT="91440" marB="91440" anchor="ctr">
                    <a:lnL cmpd="sng" algn="ctr" cap="flat" w="9525">
                      <a:solidFill>
                        <a:srgbClr val="DCE2EE"/>
                      </a:solidFill>
                      <a:prstDash val="solid"/>
                      <a:round/>
                      <a:headEnd type="none" w="med" len="med"/>
                      <a:tailEnd type="none" w="med" len="med"/>
                    </a:lnL>
                    <a:lnR cmpd="sng" algn="ctr" cap="flat" w="9525">
                      <a:solidFill>
                        <a:srgbClr val="DCE2EE"/>
                      </a:solidFill>
                      <a:prstDash val="solid"/>
                      <a:round/>
                      <a:headEnd type="none" w="med" len="med"/>
                      <a:tailEnd type="none" w="med" len="med"/>
                    </a:lnR>
                    <a:lnT cmpd="sng" algn="ctr" cap="flat" w="9525">
                      <a:solidFill>
                        <a:srgbClr val="DCE2EE"/>
                      </a:solidFill>
                      <a:prstDash val="solid"/>
                      <a:round/>
                      <a:headEnd type="none" w="med" len="med"/>
                      <a:tailEnd type="none" w="med" len="med"/>
                    </a:lnT>
                    <a:lnB cmpd="sng" algn="ctr" cap="flat" w="9525">
                      <a:solidFill>
                        <a:srgbClr val="DCE2EE"/>
                      </a:solidFill>
                      <a:prstDash val="solid"/>
                      <a:round/>
                      <a:headEnd type="none" w="med" len="med"/>
                      <a:tailEnd type="none" w="med" len="med"/>
                    </a:lnB>
                    <a:solidFill>
                      <a:srgbClr val="1E2761"/>
                    </a:solidFill>
                  </a:tcPr>
                </a:tc>
                <a:tc>
                  <a:txBody>
                    <a:bodyPr anchor="t" rtlCol="false"/>
                    <a:lstStyle/>
                    <a:p>
                      <a:pPr algn="l">
                        <a:lnSpc>
                          <a:spcPts val="2250"/>
                        </a:lnSpc>
                        <a:defRPr/>
                      </a:pPr>
                      <a:r>
                        <a:rPr lang="en-US" sz="1875" b="true">
                          <a:solidFill>
                            <a:srgbClr val="FFFFFF"/>
                          </a:solidFill>
                          <a:latin typeface="Calibri (MS) Bold"/>
                          <a:ea typeface="Calibri (MS) Bold"/>
                          <a:cs typeface="Calibri (MS) Bold"/>
                          <a:sym typeface="Calibri (MS) Bold"/>
                        </a:rPr>
                        <a:t>Winning Method</a:t>
                      </a:r>
                      <a:endParaRPr lang="en-US" sz="1100"/>
                    </a:p>
                  </a:txBody>
                  <a:tcPr marL="91440" marR="91440" marT="91440" marB="91440" anchor="ctr">
                    <a:lnL cmpd="sng" algn="ctr" cap="flat" w="9525">
                      <a:solidFill>
                        <a:srgbClr val="DCE2EE"/>
                      </a:solidFill>
                      <a:prstDash val="solid"/>
                      <a:round/>
                      <a:headEnd type="none" w="med" len="med"/>
                      <a:tailEnd type="none" w="med" len="med"/>
                    </a:lnL>
                    <a:lnR cmpd="sng" algn="ctr" cap="flat" w="9525">
                      <a:solidFill>
                        <a:srgbClr val="DCE2EE"/>
                      </a:solidFill>
                      <a:prstDash val="solid"/>
                      <a:round/>
                      <a:headEnd type="none" w="med" len="med"/>
                      <a:tailEnd type="none" w="med" len="med"/>
                    </a:lnR>
                    <a:lnT cmpd="sng" algn="ctr" cap="flat" w="9525">
                      <a:solidFill>
                        <a:srgbClr val="DCE2EE"/>
                      </a:solidFill>
                      <a:prstDash val="solid"/>
                      <a:round/>
                      <a:headEnd type="none" w="med" len="med"/>
                      <a:tailEnd type="none" w="med" len="med"/>
                    </a:lnT>
                    <a:lnB cmpd="sng" algn="ctr" cap="flat" w="9525">
                      <a:solidFill>
                        <a:srgbClr val="DCE2EE"/>
                      </a:solidFill>
                      <a:prstDash val="solid"/>
                      <a:round/>
                      <a:headEnd type="none" w="med" len="med"/>
                      <a:tailEnd type="none" w="med" len="med"/>
                    </a:lnB>
                    <a:solidFill>
                      <a:srgbClr val="1E2761"/>
                    </a:solidFill>
                  </a:tcPr>
                </a:tc>
                <a:tc>
                  <a:txBody>
                    <a:bodyPr anchor="t" rtlCol="false"/>
                    <a:lstStyle/>
                    <a:p>
                      <a:pPr algn="l">
                        <a:lnSpc>
                          <a:spcPts val="2250"/>
                        </a:lnSpc>
                        <a:defRPr/>
                      </a:pPr>
                      <a:r>
                        <a:rPr lang="en-US" sz="1875" b="true">
                          <a:solidFill>
                            <a:srgbClr val="FFFFFF"/>
                          </a:solidFill>
                          <a:latin typeface="Calibri (MS) Bold"/>
                          <a:ea typeface="Calibri (MS) Bold"/>
                          <a:cs typeface="Calibri (MS) Bold"/>
                          <a:sym typeface="Calibri (MS) Bold"/>
                        </a:rPr>
                        <a:t>Error</a:t>
                      </a:r>
                      <a:endParaRPr lang="en-US" sz="1100"/>
                    </a:p>
                  </a:txBody>
                  <a:tcPr marL="91440" marR="91440" marT="91440" marB="91440" anchor="ctr">
                    <a:lnL cmpd="sng" algn="ctr" cap="flat" w="9525">
                      <a:solidFill>
                        <a:srgbClr val="DCE2EE"/>
                      </a:solidFill>
                      <a:prstDash val="solid"/>
                      <a:round/>
                      <a:headEnd type="none" w="med" len="med"/>
                      <a:tailEnd type="none" w="med" len="med"/>
                    </a:lnL>
                    <a:lnR cmpd="sng" algn="ctr" cap="flat" w="9525">
                      <a:solidFill>
                        <a:srgbClr val="DCE2EE"/>
                      </a:solidFill>
                      <a:prstDash val="solid"/>
                      <a:round/>
                      <a:headEnd type="none" w="med" len="med"/>
                      <a:tailEnd type="none" w="med" len="med"/>
                    </a:lnR>
                    <a:lnT cmpd="sng" algn="ctr" cap="flat" w="9525">
                      <a:solidFill>
                        <a:srgbClr val="DCE2EE"/>
                      </a:solidFill>
                      <a:prstDash val="solid"/>
                      <a:round/>
                      <a:headEnd type="none" w="med" len="med"/>
                      <a:tailEnd type="none" w="med" len="med"/>
                    </a:lnT>
                    <a:lnB cmpd="sng" algn="ctr" cap="flat" w="9525">
                      <a:solidFill>
                        <a:srgbClr val="DCE2EE"/>
                      </a:solidFill>
                      <a:prstDash val="solid"/>
                      <a:round/>
                      <a:headEnd type="none" w="med" len="med"/>
                      <a:tailEnd type="none" w="med" len="med"/>
                    </a:lnB>
                    <a:solidFill>
                      <a:srgbClr val="1E2761"/>
                    </a:solidFill>
                  </a:tcPr>
                </a:tc>
                <a:tc>
                  <a:txBody>
                    <a:bodyPr anchor="t" rtlCol="false"/>
                    <a:lstStyle/>
                    <a:p>
                      <a:pPr algn="l">
                        <a:lnSpc>
                          <a:spcPts val="2250"/>
                        </a:lnSpc>
                        <a:defRPr/>
                      </a:pPr>
                      <a:r>
                        <a:rPr lang="en-US" sz="1875" b="true">
                          <a:solidFill>
                            <a:srgbClr val="FFFFFF"/>
                          </a:solidFill>
                          <a:latin typeface="Calibri (MS) Bold"/>
                          <a:ea typeface="Calibri (MS) Bold"/>
                          <a:cs typeface="Calibri (MS) Bold"/>
                          <a:sym typeface="Calibri (MS) Bold"/>
                        </a:rPr>
                        <a:t>Demand Pattern</a:t>
                      </a:r>
                      <a:endParaRPr lang="en-US" sz="1100"/>
                    </a:p>
                  </a:txBody>
                  <a:tcPr marL="91440" marR="91440" marT="91440" marB="91440" anchor="ctr">
                    <a:lnL cmpd="sng" algn="ctr" cap="flat" w="9525">
                      <a:solidFill>
                        <a:srgbClr val="DCE2EE"/>
                      </a:solidFill>
                      <a:prstDash val="solid"/>
                      <a:round/>
                      <a:headEnd type="none" w="med" len="med"/>
                      <a:tailEnd type="none" w="med" len="med"/>
                    </a:lnL>
                    <a:lnR cmpd="sng" algn="ctr" cap="flat" w="9525">
                      <a:solidFill>
                        <a:srgbClr val="DCE2EE"/>
                      </a:solidFill>
                      <a:prstDash val="solid"/>
                      <a:round/>
                      <a:headEnd type="none" w="med" len="med"/>
                      <a:tailEnd type="none" w="med" len="med"/>
                    </a:lnR>
                    <a:lnT cmpd="sng" algn="ctr" cap="flat" w="9525">
                      <a:solidFill>
                        <a:srgbClr val="DCE2EE"/>
                      </a:solidFill>
                      <a:prstDash val="solid"/>
                      <a:round/>
                      <a:headEnd type="none" w="med" len="med"/>
                      <a:tailEnd type="none" w="med" len="med"/>
                    </a:lnT>
                    <a:lnB cmpd="sng" algn="ctr" cap="flat" w="9525">
                      <a:solidFill>
                        <a:srgbClr val="DCE2EE"/>
                      </a:solidFill>
                      <a:prstDash val="solid"/>
                      <a:round/>
                      <a:headEnd type="none" w="med" len="med"/>
                      <a:tailEnd type="none" w="med" len="med"/>
                    </a:lnB>
                    <a:solidFill>
                      <a:srgbClr val="1E2761"/>
                    </a:solidFill>
                  </a:tcPr>
                </a:tc>
                <a:tc>
                  <a:txBody>
                    <a:bodyPr anchor="t" rtlCol="false"/>
                    <a:lstStyle/>
                    <a:p>
                      <a:pPr algn="l">
                        <a:lnSpc>
                          <a:spcPts val="2250"/>
                        </a:lnSpc>
                        <a:defRPr/>
                      </a:pPr>
                      <a:r>
                        <a:rPr lang="en-US" sz="1875" b="true">
                          <a:solidFill>
                            <a:srgbClr val="FFFFFF"/>
                          </a:solidFill>
                          <a:latin typeface="Calibri (MS) Bold"/>
                          <a:ea typeface="Calibri (MS) Bold"/>
                          <a:cs typeface="Calibri (MS) Bold"/>
                          <a:sym typeface="Calibri (MS) Bold"/>
                        </a:rPr>
                        <a:t>Fit</a:t>
                      </a:r>
                      <a:endParaRPr lang="en-US" sz="1100"/>
                    </a:p>
                  </a:txBody>
                  <a:tcPr marL="91440" marR="91440" marT="91440" marB="91440" anchor="ctr">
                    <a:lnL cmpd="sng" algn="ctr" cap="flat" w="9525">
                      <a:solidFill>
                        <a:srgbClr val="DCE2EE"/>
                      </a:solidFill>
                      <a:prstDash val="solid"/>
                      <a:round/>
                      <a:headEnd type="none" w="med" len="med"/>
                      <a:tailEnd type="none" w="med" len="med"/>
                    </a:lnL>
                    <a:lnR cmpd="sng" algn="ctr" cap="flat" w="9525">
                      <a:solidFill>
                        <a:srgbClr val="DCE2EE"/>
                      </a:solidFill>
                      <a:prstDash val="solid"/>
                      <a:round/>
                      <a:headEnd type="none" w="med" len="med"/>
                      <a:tailEnd type="none" w="med" len="med"/>
                    </a:lnR>
                    <a:lnT cmpd="sng" algn="ctr" cap="flat" w="9525">
                      <a:solidFill>
                        <a:srgbClr val="DCE2EE"/>
                      </a:solidFill>
                      <a:prstDash val="solid"/>
                      <a:round/>
                      <a:headEnd type="none" w="med" len="med"/>
                      <a:tailEnd type="none" w="med" len="med"/>
                    </a:lnT>
                    <a:lnB cmpd="sng" algn="ctr" cap="flat" w="9525">
                      <a:solidFill>
                        <a:srgbClr val="DCE2EE"/>
                      </a:solidFill>
                      <a:prstDash val="solid"/>
                      <a:round/>
                      <a:headEnd type="none" w="med" len="med"/>
                      <a:tailEnd type="none" w="med" len="med"/>
                    </a:lnB>
                    <a:solidFill>
                      <a:srgbClr val="1E2761"/>
                    </a:solidFill>
                  </a:tcPr>
                </a:tc>
              </a:tr>
              <a:tr h="742950">
                <a:tc>
                  <a:txBody>
                    <a:bodyPr anchor="t" rtlCol="false"/>
                    <a:lstStyle/>
                    <a:p>
                      <a:pPr algn="l">
                        <a:lnSpc>
                          <a:spcPts val="2250"/>
                        </a:lnSpc>
                        <a:defRPr/>
                      </a:pPr>
                      <a:r>
                        <a:rPr lang="en-US" sz="1875">
                          <a:solidFill>
                            <a:srgbClr val="23283A"/>
                          </a:solidFill>
                          <a:latin typeface="Calibri (MS)"/>
                          <a:ea typeface="Calibri (MS)"/>
                          <a:cs typeface="Calibri (MS)"/>
                          <a:sym typeface="Calibri (MS)"/>
                        </a:rPr>
                        <a:t>North</a:t>
                      </a:r>
                      <a:endParaRPr lang="en-US" sz="1100"/>
                    </a:p>
                  </a:txBody>
                  <a:tcPr marL="91440" marR="91440" marT="91440" marB="91440" anchor="ctr">
                    <a:lnL cmpd="sng" algn="ctr" cap="flat" w="9525">
                      <a:solidFill>
                        <a:srgbClr val="DCE2EE"/>
                      </a:solidFill>
                      <a:prstDash val="solid"/>
                      <a:round/>
                      <a:headEnd type="none" w="med" len="med"/>
                      <a:tailEnd type="none" w="med" len="med"/>
                    </a:lnL>
                    <a:lnR cmpd="sng" algn="ctr" cap="flat" w="9525">
                      <a:solidFill>
                        <a:srgbClr val="DCE2EE"/>
                      </a:solidFill>
                      <a:prstDash val="solid"/>
                      <a:round/>
                      <a:headEnd type="none" w="med" len="med"/>
                      <a:tailEnd type="none" w="med" len="med"/>
                    </a:lnR>
                    <a:lnT cmpd="sng" algn="ctr" cap="flat" w="9525">
                      <a:solidFill>
                        <a:srgbClr val="DCE2EE"/>
                      </a:solidFill>
                      <a:prstDash val="solid"/>
                      <a:round/>
                      <a:headEnd type="none" w="med" len="med"/>
                      <a:tailEnd type="none" w="med" len="med"/>
                    </a:lnT>
                    <a:lnB cmpd="sng" algn="ctr" cap="flat" w="9525">
                      <a:solidFill>
                        <a:srgbClr val="DCE2EE"/>
                      </a:solidFill>
                      <a:prstDash val="solid"/>
                      <a:round/>
                      <a:headEnd type="none" w="med" len="med"/>
                      <a:tailEnd type="none" w="med" len="med"/>
                    </a:lnB>
                    <a:solidFill>
                      <a:srgbClr val="FFFFFF"/>
                    </a:solidFill>
                  </a:tcPr>
                </a:tc>
                <a:tc>
                  <a:txBody>
                    <a:bodyPr anchor="t" rtlCol="false"/>
                    <a:lstStyle/>
                    <a:p>
                      <a:pPr algn="l">
                        <a:lnSpc>
                          <a:spcPts val="2250"/>
                        </a:lnSpc>
                        <a:defRPr/>
                      </a:pPr>
                      <a:r>
                        <a:rPr lang="en-US" sz="1875">
                          <a:solidFill>
                            <a:srgbClr val="23283A"/>
                          </a:solidFill>
                          <a:latin typeface="Calibri (MS)"/>
                          <a:ea typeface="Calibri (MS)"/>
                          <a:cs typeface="Calibri (MS)"/>
                          <a:sym typeface="Calibri (MS)"/>
                        </a:rPr>
                        <a:t>Holt-Winters</a:t>
                      </a:r>
                      <a:endParaRPr lang="en-US" sz="1100"/>
                    </a:p>
                  </a:txBody>
                  <a:tcPr marL="91440" marR="91440" marT="91440" marB="91440" anchor="ctr">
                    <a:lnL cmpd="sng" algn="ctr" cap="flat" w="9525">
                      <a:solidFill>
                        <a:srgbClr val="DCE2EE"/>
                      </a:solidFill>
                      <a:prstDash val="solid"/>
                      <a:round/>
                      <a:headEnd type="none" w="med" len="med"/>
                      <a:tailEnd type="none" w="med" len="med"/>
                    </a:lnL>
                    <a:lnR cmpd="sng" algn="ctr" cap="flat" w="9525">
                      <a:solidFill>
                        <a:srgbClr val="DCE2EE"/>
                      </a:solidFill>
                      <a:prstDash val="solid"/>
                      <a:round/>
                      <a:headEnd type="none" w="med" len="med"/>
                      <a:tailEnd type="none" w="med" len="med"/>
                    </a:lnR>
                    <a:lnT cmpd="sng" algn="ctr" cap="flat" w="9525">
                      <a:solidFill>
                        <a:srgbClr val="DCE2EE"/>
                      </a:solidFill>
                      <a:prstDash val="solid"/>
                      <a:round/>
                      <a:headEnd type="none" w="med" len="med"/>
                      <a:tailEnd type="none" w="med" len="med"/>
                    </a:lnT>
                    <a:lnB cmpd="sng" algn="ctr" cap="flat" w="9525">
                      <a:solidFill>
                        <a:srgbClr val="DCE2EE"/>
                      </a:solidFill>
                      <a:prstDash val="solid"/>
                      <a:round/>
                      <a:headEnd type="none" w="med" len="med"/>
                      <a:tailEnd type="none" w="med" len="med"/>
                    </a:lnB>
                    <a:solidFill>
                      <a:srgbClr val="FFFFFF"/>
                    </a:solidFill>
                  </a:tcPr>
                </a:tc>
                <a:tc>
                  <a:txBody>
                    <a:bodyPr anchor="t" rtlCol="false"/>
                    <a:lstStyle/>
                    <a:p>
                      <a:pPr algn="l">
                        <a:lnSpc>
                          <a:spcPts val="2250"/>
                        </a:lnSpc>
                        <a:defRPr/>
                      </a:pPr>
                      <a:r>
                        <a:rPr lang="en-US" sz="1875">
                          <a:solidFill>
                            <a:srgbClr val="23283A"/>
                          </a:solidFill>
                          <a:latin typeface="Calibri (MS)"/>
                          <a:ea typeface="Calibri (MS)"/>
                          <a:cs typeface="Calibri (MS)"/>
                          <a:sym typeface="Calibri (MS)"/>
                        </a:rPr>
                        <a:t>7.1%</a:t>
                      </a:r>
                      <a:endParaRPr lang="en-US" sz="1100"/>
                    </a:p>
                  </a:txBody>
                  <a:tcPr marL="91440" marR="91440" marT="91440" marB="91440" anchor="ctr">
                    <a:lnL cmpd="sng" algn="ctr" cap="flat" w="9525">
                      <a:solidFill>
                        <a:srgbClr val="DCE2EE"/>
                      </a:solidFill>
                      <a:prstDash val="solid"/>
                      <a:round/>
                      <a:headEnd type="none" w="med" len="med"/>
                      <a:tailEnd type="none" w="med" len="med"/>
                    </a:lnL>
                    <a:lnR cmpd="sng" algn="ctr" cap="flat" w="9525">
                      <a:solidFill>
                        <a:srgbClr val="DCE2EE"/>
                      </a:solidFill>
                      <a:prstDash val="solid"/>
                      <a:round/>
                      <a:headEnd type="none" w="med" len="med"/>
                      <a:tailEnd type="none" w="med" len="med"/>
                    </a:lnR>
                    <a:lnT cmpd="sng" algn="ctr" cap="flat" w="9525">
                      <a:solidFill>
                        <a:srgbClr val="DCE2EE"/>
                      </a:solidFill>
                      <a:prstDash val="solid"/>
                      <a:round/>
                      <a:headEnd type="none" w="med" len="med"/>
                      <a:tailEnd type="none" w="med" len="med"/>
                    </a:lnT>
                    <a:lnB cmpd="sng" algn="ctr" cap="flat" w="9525">
                      <a:solidFill>
                        <a:srgbClr val="DCE2EE"/>
                      </a:solidFill>
                      <a:prstDash val="solid"/>
                      <a:round/>
                      <a:headEnd type="none" w="med" len="med"/>
                      <a:tailEnd type="none" w="med" len="med"/>
                    </a:lnB>
                    <a:solidFill>
                      <a:srgbClr val="FFFFFF"/>
                    </a:solidFill>
                  </a:tcPr>
                </a:tc>
                <a:tc>
                  <a:txBody>
                    <a:bodyPr anchor="t" rtlCol="false"/>
                    <a:lstStyle/>
                    <a:p>
                      <a:pPr algn="l">
                        <a:lnSpc>
                          <a:spcPts val="2250"/>
                        </a:lnSpc>
                        <a:defRPr/>
                      </a:pPr>
                      <a:r>
                        <a:rPr lang="en-US" sz="1875">
                          <a:solidFill>
                            <a:srgbClr val="23283A"/>
                          </a:solidFill>
                          <a:latin typeface="Calibri (MS)"/>
                          <a:ea typeface="Calibri (MS)"/>
                          <a:cs typeface="Calibri (MS)"/>
                          <a:sym typeface="Calibri (MS)"/>
                        </a:rPr>
                        <a:t>Strong seasonality, Q4 spikes</a:t>
                      </a:r>
                      <a:endParaRPr lang="en-US" sz="1100"/>
                    </a:p>
                  </a:txBody>
                  <a:tcPr marL="91440" marR="91440" marT="91440" marB="91440" anchor="ctr">
                    <a:lnL cmpd="sng" algn="ctr" cap="flat" w="9525">
                      <a:solidFill>
                        <a:srgbClr val="DCE2EE"/>
                      </a:solidFill>
                      <a:prstDash val="solid"/>
                      <a:round/>
                      <a:headEnd type="none" w="med" len="med"/>
                      <a:tailEnd type="none" w="med" len="med"/>
                    </a:lnL>
                    <a:lnR cmpd="sng" algn="ctr" cap="flat" w="9525">
                      <a:solidFill>
                        <a:srgbClr val="DCE2EE"/>
                      </a:solidFill>
                      <a:prstDash val="solid"/>
                      <a:round/>
                      <a:headEnd type="none" w="med" len="med"/>
                      <a:tailEnd type="none" w="med" len="med"/>
                    </a:lnR>
                    <a:lnT cmpd="sng" algn="ctr" cap="flat" w="9525">
                      <a:solidFill>
                        <a:srgbClr val="DCE2EE"/>
                      </a:solidFill>
                      <a:prstDash val="solid"/>
                      <a:round/>
                      <a:headEnd type="none" w="med" len="med"/>
                      <a:tailEnd type="none" w="med" len="med"/>
                    </a:lnT>
                    <a:lnB cmpd="sng" algn="ctr" cap="flat" w="9525">
                      <a:solidFill>
                        <a:srgbClr val="DCE2EE"/>
                      </a:solidFill>
                      <a:prstDash val="solid"/>
                      <a:round/>
                      <a:headEnd type="none" w="med" len="med"/>
                      <a:tailEnd type="none" w="med" len="med"/>
                    </a:lnB>
                    <a:solidFill>
                      <a:srgbClr val="FFFFFF"/>
                    </a:solidFill>
                  </a:tcPr>
                </a:tc>
                <a:tc>
                  <a:txBody>
                    <a:bodyPr anchor="t" rtlCol="false"/>
                    <a:lstStyle/>
                    <a:p>
                      <a:pPr algn="l">
                        <a:lnSpc>
                          <a:spcPts val="2250"/>
                        </a:lnSpc>
                        <a:defRPr/>
                      </a:pPr>
                      <a:r>
                        <a:rPr lang="en-US" sz="1875" b="true">
                          <a:solidFill>
                            <a:srgbClr val="0E7C7B"/>
                          </a:solidFill>
                          <a:latin typeface="Calibri (MS) Bold"/>
                          <a:ea typeface="Calibri (MS) Bold"/>
                          <a:cs typeface="Calibri (MS) Bold"/>
                          <a:sym typeface="Calibri (MS) Bold"/>
                        </a:rPr>
                        <a:t>Expected</a:t>
                      </a:r>
                      <a:endParaRPr lang="en-US" sz="1100"/>
                    </a:p>
                  </a:txBody>
                  <a:tcPr marL="91440" marR="91440" marT="91440" marB="91440" anchor="ctr">
                    <a:lnL cmpd="sng" algn="ctr" cap="flat" w="9525">
                      <a:solidFill>
                        <a:srgbClr val="DCE2EE"/>
                      </a:solidFill>
                      <a:prstDash val="solid"/>
                      <a:round/>
                      <a:headEnd type="none" w="med" len="med"/>
                      <a:tailEnd type="none" w="med" len="med"/>
                    </a:lnL>
                    <a:lnR cmpd="sng" algn="ctr" cap="flat" w="9525">
                      <a:solidFill>
                        <a:srgbClr val="DCE2EE"/>
                      </a:solidFill>
                      <a:prstDash val="solid"/>
                      <a:round/>
                      <a:headEnd type="none" w="med" len="med"/>
                      <a:tailEnd type="none" w="med" len="med"/>
                    </a:lnR>
                    <a:lnT cmpd="sng" algn="ctr" cap="flat" w="9525">
                      <a:solidFill>
                        <a:srgbClr val="DCE2EE"/>
                      </a:solidFill>
                      <a:prstDash val="solid"/>
                      <a:round/>
                      <a:headEnd type="none" w="med" len="med"/>
                      <a:tailEnd type="none" w="med" len="med"/>
                    </a:lnT>
                    <a:lnB cmpd="sng" algn="ctr" cap="flat" w="9525">
                      <a:solidFill>
                        <a:srgbClr val="DCE2EE"/>
                      </a:solidFill>
                      <a:prstDash val="solid"/>
                      <a:round/>
                      <a:headEnd type="none" w="med" len="med"/>
                      <a:tailEnd type="none" w="med" len="med"/>
                    </a:lnB>
                    <a:solidFill>
                      <a:srgbClr val="FFFFFF"/>
                    </a:solidFill>
                  </a:tcPr>
                </a:tc>
              </a:tr>
              <a:tr h="742950">
                <a:tc>
                  <a:txBody>
                    <a:bodyPr anchor="t" rtlCol="false"/>
                    <a:lstStyle/>
                    <a:p>
                      <a:pPr algn="l">
                        <a:lnSpc>
                          <a:spcPts val="2250"/>
                        </a:lnSpc>
                        <a:defRPr/>
                      </a:pPr>
                      <a:r>
                        <a:rPr lang="en-US" sz="1875">
                          <a:solidFill>
                            <a:srgbClr val="23283A"/>
                          </a:solidFill>
                          <a:latin typeface="Calibri (MS)"/>
                          <a:ea typeface="Calibri (MS)"/>
                          <a:cs typeface="Calibri (MS)"/>
                          <a:sym typeface="Calibri (MS)"/>
                        </a:rPr>
                        <a:t>South</a:t>
                      </a:r>
                      <a:endParaRPr lang="en-US" sz="1100"/>
                    </a:p>
                  </a:txBody>
                  <a:tcPr marL="91440" marR="91440" marT="91440" marB="91440" anchor="ctr">
                    <a:lnL cmpd="sng" algn="ctr" cap="flat" w="9525">
                      <a:solidFill>
                        <a:srgbClr val="DCE2EE"/>
                      </a:solidFill>
                      <a:prstDash val="solid"/>
                      <a:round/>
                      <a:headEnd type="none" w="med" len="med"/>
                      <a:tailEnd type="none" w="med" len="med"/>
                    </a:lnL>
                    <a:lnR cmpd="sng" algn="ctr" cap="flat" w="9525">
                      <a:solidFill>
                        <a:srgbClr val="DCE2EE"/>
                      </a:solidFill>
                      <a:prstDash val="solid"/>
                      <a:round/>
                      <a:headEnd type="none" w="med" len="med"/>
                      <a:tailEnd type="none" w="med" len="med"/>
                    </a:lnR>
                    <a:lnT cmpd="sng" algn="ctr" cap="flat" w="9525">
                      <a:solidFill>
                        <a:srgbClr val="DCE2EE"/>
                      </a:solidFill>
                      <a:prstDash val="solid"/>
                      <a:round/>
                      <a:headEnd type="none" w="med" len="med"/>
                      <a:tailEnd type="none" w="med" len="med"/>
                    </a:lnT>
                    <a:lnB cmpd="sng" algn="ctr" cap="flat" w="9525">
                      <a:solidFill>
                        <a:srgbClr val="DCE2EE"/>
                      </a:solidFill>
                      <a:prstDash val="solid"/>
                      <a:round/>
                      <a:headEnd type="none" w="med" len="med"/>
                      <a:tailEnd type="none" w="med" len="med"/>
                    </a:lnB>
                    <a:solidFill>
                      <a:srgbClr val="EEEFF3"/>
                    </a:solidFill>
                  </a:tcPr>
                </a:tc>
                <a:tc>
                  <a:txBody>
                    <a:bodyPr anchor="t" rtlCol="false"/>
                    <a:lstStyle/>
                    <a:p>
                      <a:pPr algn="l">
                        <a:lnSpc>
                          <a:spcPts val="2250"/>
                        </a:lnSpc>
                        <a:defRPr/>
                      </a:pPr>
                      <a:r>
                        <a:rPr lang="en-US" sz="1875">
                          <a:solidFill>
                            <a:srgbClr val="23283A"/>
                          </a:solidFill>
                          <a:latin typeface="Calibri (MS)"/>
                          <a:ea typeface="Calibri (MS)"/>
                          <a:cs typeface="Calibri (MS)"/>
                          <a:sym typeface="Calibri (MS)"/>
                        </a:rPr>
                        <a:t>Prophet</a:t>
                      </a:r>
                      <a:endParaRPr lang="en-US" sz="1100"/>
                    </a:p>
                  </a:txBody>
                  <a:tcPr marL="91440" marR="91440" marT="91440" marB="91440" anchor="ctr">
                    <a:lnL cmpd="sng" algn="ctr" cap="flat" w="9525">
                      <a:solidFill>
                        <a:srgbClr val="DCE2EE"/>
                      </a:solidFill>
                      <a:prstDash val="solid"/>
                      <a:round/>
                      <a:headEnd type="none" w="med" len="med"/>
                      <a:tailEnd type="none" w="med" len="med"/>
                    </a:lnL>
                    <a:lnR cmpd="sng" algn="ctr" cap="flat" w="9525">
                      <a:solidFill>
                        <a:srgbClr val="DCE2EE"/>
                      </a:solidFill>
                      <a:prstDash val="solid"/>
                      <a:round/>
                      <a:headEnd type="none" w="med" len="med"/>
                      <a:tailEnd type="none" w="med" len="med"/>
                    </a:lnR>
                    <a:lnT cmpd="sng" algn="ctr" cap="flat" w="9525">
                      <a:solidFill>
                        <a:srgbClr val="DCE2EE"/>
                      </a:solidFill>
                      <a:prstDash val="solid"/>
                      <a:round/>
                      <a:headEnd type="none" w="med" len="med"/>
                      <a:tailEnd type="none" w="med" len="med"/>
                    </a:lnT>
                    <a:lnB cmpd="sng" algn="ctr" cap="flat" w="9525">
                      <a:solidFill>
                        <a:srgbClr val="DCE2EE"/>
                      </a:solidFill>
                      <a:prstDash val="solid"/>
                      <a:round/>
                      <a:headEnd type="none" w="med" len="med"/>
                      <a:tailEnd type="none" w="med" len="med"/>
                    </a:lnB>
                    <a:solidFill>
                      <a:srgbClr val="EEEFF3"/>
                    </a:solidFill>
                  </a:tcPr>
                </a:tc>
                <a:tc>
                  <a:txBody>
                    <a:bodyPr anchor="t" rtlCol="false"/>
                    <a:lstStyle/>
                    <a:p>
                      <a:pPr algn="l">
                        <a:lnSpc>
                          <a:spcPts val="2250"/>
                        </a:lnSpc>
                        <a:defRPr/>
                      </a:pPr>
                      <a:r>
                        <a:rPr lang="en-US" sz="1875">
                          <a:solidFill>
                            <a:srgbClr val="23283A"/>
                          </a:solidFill>
                          <a:latin typeface="Calibri (MS)"/>
                          <a:ea typeface="Calibri (MS)"/>
                          <a:cs typeface="Calibri (MS)"/>
                          <a:sym typeface="Calibri (MS)"/>
                        </a:rPr>
                        <a:t>9.2%</a:t>
                      </a:r>
                      <a:endParaRPr lang="en-US" sz="1100"/>
                    </a:p>
                  </a:txBody>
                  <a:tcPr marL="91440" marR="91440" marT="91440" marB="91440" anchor="ctr">
                    <a:lnL cmpd="sng" algn="ctr" cap="flat" w="9525">
                      <a:solidFill>
                        <a:srgbClr val="DCE2EE"/>
                      </a:solidFill>
                      <a:prstDash val="solid"/>
                      <a:round/>
                      <a:headEnd type="none" w="med" len="med"/>
                      <a:tailEnd type="none" w="med" len="med"/>
                    </a:lnL>
                    <a:lnR cmpd="sng" algn="ctr" cap="flat" w="9525">
                      <a:solidFill>
                        <a:srgbClr val="DCE2EE"/>
                      </a:solidFill>
                      <a:prstDash val="solid"/>
                      <a:round/>
                      <a:headEnd type="none" w="med" len="med"/>
                      <a:tailEnd type="none" w="med" len="med"/>
                    </a:lnR>
                    <a:lnT cmpd="sng" algn="ctr" cap="flat" w="9525">
                      <a:solidFill>
                        <a:srgbClr val="DCE2EE"/>
                      </a:solidFill>
                      <a:prstDash val="solid"/>
                      <a:round/>
                      <a:headEnd type="none" w="med" len="med"/>
                      <a:tailEnd type="none" w="med" len="med"/>
                    </a:lnT>
                    <a:lnB cmpd="sng" algn="ctr" cap="flat" w="9525">
                      <a:solidFill>
                        <a:srgbClr val="DCE2EE"/>
                      </a:solidFill>
                      <a:prstDash val="solid"/>
                      <a:round/>
                      <a:headEnd type="none" w="med" len="med"/>
                      <a:tailEnd type="none" w="med" len="med"/>
                    </a:lnB>
                    <a:solidFill>
                      <a:srgbClr val="EEEFF3"/>
                    </a:solidFill>
                  </a:tcPr>
                </a:tc>
                <a:tc>
                  <a:txBody>
                    <a:bodyPr anchor="t" rtlCol="false"/>
                    <a:lstStyle/>
                    <a:p>
                      <a:pPr algn="l">
                        <a:lnSpc>
                          <a:spcPts val="2250"/>
                        </a:lnSpc>
                        <a:defRPr/>
                      </a:pPr>
                      <a:r>
                        <a:rPr lang="en-US" sz="1875">
                          <a:solidFill>
                            <a:srgbClr val="23283A"/>
                          </a:solidFill>
                          <a:latin typeface="Calibri (MS)"/>
                          <a:ea typeface="Calibri (MS)"/>
                          <a:cs typeface="Calibri (MS)"/>
                          <a:sym typeface="Calibri (MS)"/>
                        </a:rPr>
                        <a:t>Non-linear monsoon surges</a:t>
                      </a:r>
                      <a:endParaRPr lang="en-US" sz="1100"/>
                    </a:p>
                  </a:txBody>
                  <a:tcPr marL="91440" marR="91440" marT="91440" marB="91440" anchor="ctr">
                    <a:lnL cmpd="sng" algn="ctr" cap="flat" w="9525">
                      <a:solidFill>
                        <a:srgbClr val="DCE2EE"/>
                      </a:solidFill>
                      <a:prstDash val="solid"/>
                      <a:round/>
                      <a:headEnd type="none" w="med" len="med"/>
                      <a:tailEnd type="none" w="med" len="med"/>
                    </a:lnL>
                    <a:lnR cmpd="sng" algn="ctr" cap="flat" w="9525">
                      <a:solidFill>
                        <a:srgbClr val="DCE2EE"/>
                      </a:solidFill>
                      <a:prstDash val="solid"/>
                      <a:round/>
                      <a:headEnd type="none" w="med" len="med"/>
                      <a:tailEnd type="none" w="med" len="med"/>
                    </a:lnR>
                    <a:lnT cmpd="sng" algn="ctr" cap="flat" w="9525">
                      <a:solidFill>
                        <a:srgbClr val="DCE2EE"/>
                      </a:solidFill>
                      <a:prstDash val="solid"/>
                      <a:round/>
                      <a:headEnd type="none" w="med" len="med"/>
                      <a:tailEnd type="none" w="med" len="med"/>
                    </a:lnT>
                    <a:lnB cmpd="sng" algn="ctr" cap="flat" w="9525">
                      <a:solidFill>
                        <a:srgbClr val="DCE2EE"/>
                      </a:solidFill>
                      <a:prstDash val="solid"/>
                      <a:round/>
                      <a:headEnd type="none" w="med" len="med"/>
                      <a:tailEnd type="none" w="med" len="med"/>
                    </a:lnB>
                    <a:solidFill>
                      <a:srgbClr val="EEEFF3"/>
                    </a:solidFill>
                  </a:tcPr>
                </a:tc>
                <a:tc>
                  <a:txBody>
                    <a:bodyPr anchor="t" rtlCol="false"/>
                    <a:lstStyle/>
                    <a:p>
                      <a:pPr algn="l">
                        <a:lnSpc>
                          <a:spcPts val="2250"/>
                        </a:lnSpc>
                        <a:defRPr/>
                      </a:pPr>
                      <a:r>
                        <a:rPr lang="en-US" sz="1875" b="true">
                          <a:solidFill>
                            <a:srgbClr val="B08D57"/>
                          </a:solidFill>
                          <a:latin typeface="Calibri (MS) Bold"/>
                          <a:ea typeface="Calibri (MS) Bold"/>
                          <a:cs typeface="Calibri (MS) Bold"/>
                          <a:sym typeface="Calibri (MS) Bold"/>
                        </a:rPr>
                        <a:t>Notable</a:t>
                      </a:r>
                      <a:endParaRPr lang="en-US" sz="1100"/>
                    </a:p>
                  </a:txBody>
                  <a:tcPr marL="91440" marR="91440" marT="91440" marB="91440" anchor="ctr">
                    <a:lnL cmpd="sng" algn="ctr" cap="flat" w="9525">
                      <a:solidFill>
                        <a:srgbClr val="DCE2EE"/>
                      </a:solidFill>
                      <a:prstDash val="solid"/>
                      <a:round/>
                      <a:headEnd type="none" w="med" len="med"/>
                      <a:tailEnd type="none" w="med" len="med"/>
                    </a:lnL>
                    <a:lnR cmpd="sng" algn="ctr" cap="flat" w="9525">
                      <a:solidFill>
                        <a:srgbClr val="DCE2EE"/>
                      </a:solidFill>
                      <a:prstDash val="solid"/>
                      <a:round/>
                      <a:headEnd type="none" w="med" len="med"/>
                      <a:tailEnd type="none" w="med" len="med"/>
                    </a:lnR>
                    <a:lnT cmpd="sng" algn="ctr" cap="flat" w="9525">
                      <a:solidFill>
                        <a:srgbClr val="DCE2EE"/>
                      </a:solidFill>
                      <a:prstDash val="solid"/>
                      <a:round/>
                      <a:headEnd type="none" w="med" len="med"/>
                      <a:tailEnd type="none" w="med" len="med"/>
                    </a:lnT>
                    <a:lnB cmpd="sng" algn="ctr" cap="flat" w="9525">
                      <a:solidFill>
                        <a:srgbClr val="DCE2EE"/>
                      </a:solidFill>
                      <a:prstDash val="solid"/>
                      <a:round/>
                      <a:headEnd type="none" w="med" len="med"/>
                      <a:tailEnd type="none" w="med" len="med"/>
                    </a:lnB>
                    <a:solidFill>
                      <a:srgbClr val="EEEFF3"/>
                    </a:solidFill>
                  </a:tcPr>
                </a:tc>
              </a:tr>
              <a:tr h="742950">
                <a:tc>
                  <a:txBody>
                    <a:bodyPr anchor="t" rtlCol="false"/>
                    <a:lstStyle/>
                    <a:p>
                      <a:pPr algn="l">
                        <a:lnSpc>
                          <a:spcPts val="2250"/>
                        </a:lnSpc>
                        <a:defRPr/>
                      </a:pPr>
                      <a:r>
                        <a:rPr lang="en-US" sz="1875">
                          <a:solidFill>
                            <a:srgbClr val="23283A"/>
                          </a:solidFill>
                          <a:latin typeface="Calibri (MS)"/>
                          <a:ea typeface="Calibri (MS)"/>
                          <a:cs typeface="Calibri (MS)"/>
                          <a:sym typeface="Calibri (MS)"/>
                        </a:rPr>
                        <a:t>East</a:t>
                      </a:r>
                      <a:endParaRPr lang="en-US" sz="1100"/>
                    </a:p>
                  </a:txBody>
                  <a:tcPr marL="91440" marR="91440" marT="91440" marB="91440" anchor="ctr">
                    <a:lnL cmpd="sng" algn="ctr" cap="flat" w="9525">
                      <a:solidFill>
                        <a:srgbClr val="DCE2EE"/>
                      </a:solidFill>
                      <a:prstDash val="solid"/>
                      <a:round/>
                      <a:headEnd type="none" w="med" len="med"/>
                      <a:tailEnd type="none" w="med" len="med"/>
                    </a:lnL>
                    <a:lnR cmpd="sng" algn="ctr" cap="flat" w="9525">
                      <a:solidFill>
                        <a:srgbClr val="DCE2EE"/>
                      </a:solidFill>
                      <a:prstDash val="solid"/>
                      <a:round/>
                      <a:headEnd type="none" w="med" len="med"/>
                      <a:tailEnd type="none" w="med" len="med"/>
                    </a:lnR>
                    <a:lnT cmpd="sng" algn="ctr" cap="flat" w="9525">
                      <a:solidFill>
                        <a:srgbClr val="DCE2EE"/>
                      </a:solidFill>
                      <a:prstDash val="solid"/>
                      <a:round/>
                      <a:headEnd type="none" w="med" len="med"/>
                      <a:tailEnd type="none" w="med" len="med"/>
                    </a:lnT>
                    <a:lnB cmpd="sng" algn="ctr" cap="flat" w="9525">
                      <a:solidFill>
                        <a:srgbClr val="DCE2EE"/>
                      </a:solidFill>
                      <a:prstDash val="solid"/>
                      <a:round/>
                      <a:headEnd type="none" w="med" len="med"/>
                      <a:tailEnd type="none" w="med" len="med"/>
                    </a:lnB>
                    <a:solidFill>
                      <a:srgbClr val="FFFFFF"/>
                    </a:solidFill>
                  </a:tcPr>
                </a:tc>
                <a:tc>
                  <a:txBody>
                    <a:bodyPr anchor="t" rtlCol="false"/>
                    <a:lstStyle/>
                    <a:p>
                      <a:pPr algn="l">
                        <a:lnSpc>
                          <a:spcPts val="2250"/>
                        </a:lnSpc>
                        <a:defRPr/>
                      </a:pPr>
                      <a:r>
                        <a:rPr lang="en-US" sz="1875">
                          <a:solidFill>
                            <a:srgbClr val="23283A"/>
                          </a:solidFill>
                          <a:latin typeface="Calibri (MS)"/>
                          <a:ea typeface="Calibri (MS)"/>
                          <a:cs typeface="Calibri (MS)"/>
                          <a:sym typeface="Calibri (MS)"/>
                        </a:rPr>
                        <a:t>Naive</a:t>
                      </a:r>
                      <a:endParaRPr lang="en-US" sz="1100"/>
                    </a:p>
                  </a:txBody>
                  <a:tcPr marL="91440" marR="91440" marT="91440" marB="91440" anchor="ctr">
                    <a:lnL cmpd="sng" algn="ctr" cap="flat" w="9525">
                      <a:solidFill>
                        <a:srgbClr val="DCE2EE"/>
                      </a:solidFill>
                      <a:prstDash val="solid"/>
                      <a:round/>
                      <a:headEnd type="none" w="med" len="med"/>
                      <a:tailEnd type="none" w="med" len="med"/>
                    </a:lnL>
                    <a:lnR cmpd="sng" algn="ctr" cap="flat" w="9525">
                      <a:solidFill>
                        <a:srgbClr val="DCE2EE"/>
                      </a:solidFill>
                      <a:prstDash val="solid"/>
                      <a:round/>
                      <a:headEnd type="none" w="med" len="med"/>
                      <a:tailEnd type="none" w="med" len="med"/>
                    </a:lnR>
                    <a:lnT cmpd="sng" algn="ctr" cap="flat" w="9525">
                      <a:solidFill>
                        <a:srgbClr val="DCE2EE"/>
                      </a:solidFill>
                      <a:prstDash val="solid"/>
                      <a:round/>
                      <a:headEnd type="none" w="med" len="med"/>
                      <a:tailEnd type="none" w="med" len="med"/>
                    </a:lnT>
                    <a:lnB cmpd="sng" algn="ctr" cap="flat" w="9525">
                      <a:solidFill>
                        <a:srgbClr val="DCE2EE"/>
                      </a:solidFill>
                      <a:prstDash val="solid"/>
                      <a:round/>
                      <a:headEnd type="none" w="med" len="med"/>
                      <a:tailEnd type="none" w="med" len="med"/>
                    </a:lnB>
                    <a:solidFill>
                      <a:srgbClr val="FFFFFF"/>
                    </a:solidFill>
                  </a:tcPr>
                </a:tc>
                <a:tc>
                  <a:txBody>
                    <a:bodyPr anchor="t" rtlCol="false"/>
                    <a:lstStyle/>
                    <a:p>
                      <a:pPr algn="l">
                        <a:lnSpc>
                          <a:spcPts val="2250"/>
                        </a:lnSpc>
                        <a:defRPr/>
                      </a:pPr>
                      <a:r>
                        <a:rPr lang="en-US" sz="1875">
                          <a:solidFill>
                            <a:srgbClr val="23283A"/>
                          </a:solidFill>
                          <a:latin typeface="Calibri (MS)"/>
                          <a:ea typeface="Calibri (MS)"/>
                          <a:cs typeface="Calibri (MS)"/>
                          <a:sym typeface="Calibri (MS)"/>
                        </a:rPr>
                        <a:t>5.1%</a:t>
                      </a:r>
                      <a:endParaRPr lang="en-US" sz="1100"/>
                    </a:p>
                  </a:txBody>
                  <a:tcPr marL="91440" marR="91440" marT="91440" marB="91440" anchor="ctr">
                    <a:lnL cmpd="sng" algn="ctr" cap="flat" w="9525">
                      <a:solidFill>
                        <a:srgbClr val="DCE2EE"/>
                      </a:solidFill>
                      <a:prstDash val="solid"/>
                      <a:round/>
                      <a:headEnd type="none" w="med" len="med"/>
                      <a:tailEnd type="none" w="med" len="med"/>
                    </a:lnL>
                    <a:lnR cmpd="sng" algn="ctr" cap="flat" w="9525">
                      <a:solidFill>
                        <a:srgbClr val="DCE2EE"/>
                      </a:solidFill>
                      <a:prstDash val="solid"/>
                      <a:round/>
                      <a:headEnd type="none" w="med" len="med"/>
                      <a:tailEnd type="none" w="med" len="med"/>
                    </a:lnR>
                    <a:lnT cmpd="sng" algn="ctr" cap="flat" w="9525">
                      <a:solidFill>
                        <a:srgbClr val="DCE2EE"/>
                      </a:solidFill>
                      <a:prstDash val="solid"/>
                      <a:round/>
                      <a:headEnd type="none" w="med" len="med"/>
                      <a:tailEnd type="none" w="med" len="med"/>
                    </a:lnT>
                    <a:lnB cmpd="sng" algn="ctr" cap="flat" w="9525">
                      <a:solidFill>
                        <a:srgbClr val="DCE2EE"/>
                      </a:solidFill>
                      <a:prstDash val="solid"/>
                      <a:round/>
                      <a:headEnd type="none" w="med" len="med"/>
                      <a:tailEnd type="none" w="med" len="med"/>
                    </a:lnB>
                    <a:solidFill>
                      <a:srgbClr val="FFFFFF"/>
                    </a:solidFill>
                  </a:tcPr>
                </a:tc>
                <a:tc>
                  <a:txBody>
                    <a:bodyPr anchor="t" rtlCol="false"/>
                    <a:lstStyle/>
                    <a:p>
                      <a:pPr algn="l">
                        <a:lnSpc>
                          <a:spcPts val="2250"/>
                        </a:lnSpc>
                        <a:defRPr/>
                      </a:pPr>
                      <a:r>
                        <a:rPr lang="en-US" sz="1875">
                          <a:solidFill>
                            <a:srgbClr val="23283A"/>
                          </a:solidFill>
                          <a:latin typeface="Calibri (MS)"/>
                          <a:ea typeface="Calibri (MS)"/>
                          <a:cs typeface="Calibri (MS)"/>
                          <a:sym typeface="Calibri (MS)"/>
                        </a:rPr>
                        <a:t>Flat, stable, no trend</a:t>
                      </a:r>
                      <a:endParaRPr lang="en-US" sz="1100"/>
                    </a:p>
                  </a:txBody>
                  <a:tcPr marL="91440" marR="91440" marT="91440" marB="91440" anchor="ctr">
                    <a:lnL cmpd="sng" algn="ctr" cap="flat" w="9525">
                      <a:solidFill>
                        <a:srgbClr val="DCE2EE"/>
                      </a:solidFill>
                      <a:prstDash val="solid"/>
                      <a:round/>
                      <a:headEnd type="none" w="med" len="med"/>
                      <a:tailEnd type="none" w="med" len="med"/>
                    </a:lnL>
                    <a:lnR cmpd="sng" algn="ctr" cap="flat" w="9525">
                      <a:solidFill>
                        <a:srgbClr val="DCE2EE"/>
                      </a:solidFill>
                      <a:prstDash val="solid"/>
                      <a:round/>
                      <a:headEnd type="none" w="med" len="med"/>
                      <a:tailEnd type="none" w="med" len="med"/>
                    </a:lnR>
                    <a:lnT cmpd="sng" algn="ctr" cap="flat" w="9525">
                      <a:solidFill>
                        <a:srgbClr val="DCE2EE"/>
                      </a:solidFill>
                      <a:prstDash val="solid"/>
                      <a:round/>
                      <a:headEnd type="none" w="med" len="med"/>
                      <a:tailEnd type="none" w="med" len="med"/>
                    </a:lnT>
                    <a:lnB cmpd="sng" algn="ctr" cap="flat" w="9525">
                      <a:solidFill>
                        <a:srgbClr val="DCE2EE"/>
                      </a:solidFill>
                      <a:prstDash val="solid"/>
                      <a:round/>
                      <a:headEnd type="none" w="med" len="med"/>
                      <a:tailEnd type="none" w="med" len="med"/>
                    </a:lnB>
                    <a:solidFill>
                      <a:srgbClr val="FFFFFF"/>
                    </a:solidFill>
                  </a:tcPr>
                </a:tc>
                <a:tc>
                  <a:txBody>
                    <a:bodyPr anchor="t" rtlCol="false"/>
                    <a:lstStyle/>
                    <a:p>
                      <a:pPr algn="l">
                        <a:lnSpc>
                          <a:spcPts val="2250"/>
                        </a:lnSpc>
                        <a:defRPr/>
                      </a:pPr>
                      <a:r>
                        <a:rPr lang="en-US" sz="1875" b="true">
                          <a:solidFill>
                            <a:srgbClr val="B08D57"/>
                          </a:solidFill>
                          <a:latin typeface="Calibri (MS) Bold"/>
                          <a:ea typeface="Calibri (MS) Bold"/>
                          <a:cs typeface="Calibri (MS) Bold"/>
                          <a:sym typeface="Calibri (MS) Bold"/>
                        </a:rPr>
                        <a:t>Notable</a:t>
                      </a:r>
                      <a:endParaRPr lang="en-US" sz="1100"/>
                    </a:p>
                  </a:txBody>
                  <a:tcPr marL="91440" marR="91440" marT="91440" marB="91440" anchor="ctr">
                    <a:lnL cmpd="sng" algn="ctr" cap="flat" w="9525">
                      <a:solidFill>
                        <a:srgbClr val="DCE2EE"/>
                      </a:solidFill>
                      <a:prstDash val="solid"/>
                      <a:round/>
                      <a:headEnd type="none" w="med" len="med"/>
                      <a:tailEnd type="none" w="med" len="med"/>
                    </a:lnL>
                    <a:lnR cmpd="sng" algn="ctr" cap="flat" w="9525">
                      <a:solidFill>
                        <a:srgbClr val="DCE2EE"/>
                      </a:solidFill>
                      <a:prstDash val="solid"/>
                      <a:round/>
                      <a:headEnd type="none" w="med" len="med"/>
                      <a:tailEnd type="none" w="med" len="med"/>
                    </a:lnR>
                    <a:lnT cmpd="sng" algn="ctr" cap="flat" w="9525">
                      <a:solidFill>
                        <a:srgbClr val="DCE2EE"/>
                      </a:solidFill>
                      <a:prstDash val="solid"/>
                      <a:round/>
                      <a:headEnd type="none" w="med" len="med"/>
                      <a:tailEnd type="none" w="med" len="med"/>
                    </a:lnT>
                    <a:lnB cmpd="sng" algn="ctr" cap="flat" w="9525">
                      <a:solidFill>
                        <a:srgbClr val="DCE2EE"/>
                      </a:solidFill>
                      <a:prstDash val="solid"/>
                      <a:round/>
                      <a:headEnd type="none" w="med" len="med"/>
                      <a:tailEnd type="none" w="med" len="med"/>
                    </a:lnB>
                    <a:solidFill>
                      <a:srgbClr val="FFFFFF"/>
                    </a:solidFill>
                  </a:tcPr>
                </a:tc>
              </a:tr>
              <a:tr h="742950">
                <a:tc>
                  <a:txBody>
                    <a:bodyPr anchor="t" rtlCol="false"/>
                    <a:lstStyle/>
                    <a:p>
                      <a:pPr algn="l">
                        <a:lnSpc>
                          <a:spcPts val="2250"/>
                        </a:lnSpc>
                        <a:defRPr/>
                      </a:pPr>
                      <a:r>
                        <a:rPr lang="en-US" sz="1875">
                          <a:solidFill>
                            <a:srgbClr val="23283A"/>
                          </a:solidFill>
                          <a:latin typeface="Calibri (MS)"/>
                          <a:ea typeface="Calibri (MS)"/>
                          <a:cs typeface="Calibri (MS)"/>
                          <a:sym typeface="Calibri (MS)"/>
                        </a:rPr>
                        <a:t>West</a:t>
                      </a:r>
                      <a:endParaRPr lang="en-US" sz="1100"/>
                    </a:p>
                  </a:txBody>
                  <a:tcPr marL="91440" marR="91440" marT="91440" marB="91440" anchor="ctr">
                    <a:lnL cmpd="sng" algn="ctr" cap="flat" w="9525">
                      <a:solidFill>
                        <a:srgbClr val="DCE2EE"/>
                      </a:solidFill>
                      <a:prstDash val="solid"/>
                      <a:round/>
                      <a:headEnd type="none" w="med" len="med"/>
                      <a:tailEnd type="none" w="med" len="med"/>
                    </a:lnL>
                    <a:lnR cmpd="sng" algn="ctr" cap="flat" w="9525">
                      <a:solidFill>
                        <a:srgbClr val="DCE2EE"/>
                      </a:solidFill>
                      <a:prstDash val="solid"/>
                      <a:round/>
                      <a:headEnd type="none" w="med" len="med"/>
                      <a:tailEnd type="none" w="med" len="med"/>
                    </a:lnR>
                    <a:lnT cmpd="sng" algn="ctr" cap="flat" w="9525">
                      <a:solidFill>
                        <a:srgbClr val="DCE2EE"/>
                      </a:solidFill>
                      <a:prstDash val="solid"/>
                      <a:round/>
                      <a:headEnd type="none" w="med" len="med"/>
                      <a:tailEnd type="none" w="med" len="med"/>
                    </a:lnT>
                    <a:lnB cmpd="sng" algn="ctr" cap="flat" w="9525">
                      <a:solidFill>
                        <a:srgbClr val="DCE2EE"/>
                      </a:solidFill>
                      <a:prstDash val="solid"/>
                      <a:round/>
                      <a:headEnd type="none" w="med" len="med"/>
                      <a:tailEnd type="none" w="med" len="med"/>
                    </a:lnB>
                    <a:solidFill>
                      <a:srgbClr val="EEEFF3"/>
                    </a:solidFill>
                  </a:tcPr>
                </a:tc>
                <a:tc>
                  <a:txBody>
                    <a:bodyPr anchor="t" rtlCol="false"/>
                    <a:lstStyle/>
                    <a:p>
                      <a:pPr algn="l">
                        <a:lnSpc>
                          <a:spcPts val="2250"/>
                        </a:lnSpc>
                        <a:defRPr/>
                      </a:pPr>
                      <a:r>
                        <a:rPr lang="en-US" sz="1875">
                          <a:solidFill>
                            <a:srgbClr val="23283A"/>
                          </a:solidFill>
                          <a:latin typeface="Calibri (MS)"/>
                          <a:ea typeface="Calibri (MS)"/>
                          <a:cs typeface="Calibri (MS)"/>
                          <a:sym typeface="Calibri (MS)"/>
                        </a:rPr>
                        <a:t>Prophet</a:t>
                      </a:r>
                      <a:endParaRPr lang="en-US" sz="1100"/>
                    </a:p>
                  </a:txBody>
                  <a:tcPr marL="91440" marR="91440" marT="91440" marB="91440" anchor="ctr">
                    <a:lnL cmpd="sng" algn="ctr" cap="flat" w="9525">
                      <a:solidFill>
                        <a:srgbClr val="DCE2EE"/>
                      </a:solidFill>
                      <a:prstDash val="solid"/>
                      <a:round/>
                      <a:headEnd type="none" w="med" len="med"/>
                      <a:tailEnd type="none" w="med" len="med"/>
                    </a:lnL>
                    <a:lnR cmpd="sng" algn="ctr" cap="flat" w="9525">
                      <a:solidFill>
                        <a:srgbClr val="DCE2EE"/>
                      </a:solidFill>
                      <a:prstDash val="solid"/>
                      <a:round/>
                      <a:headEnd type="none" w="med" len="med"/>
                      <a:tailEnd type="none" w="med" len="med"/>
                    </a:lnR>
                    <a:lnT cmpd="sng" algn="ctr" cap="flat" w="9525">
                      <a:solidFill>
                        <a:srgbClr val="DCE2EE"/>
                      </a:solidFill>
                      <a:prstDash val="solid"/>
                      <a:round/>
                      <a:headEnd type="none" w="med" len="med"/>
                      <a:tailEnd type="none" w="med" len="med"/>
                    </a:lnT>
                    <a:lnB cmpd="sng" algn="ctr" cap="flat" w="9525">
                      <a:solidFill>
                        <a:srgbClr val="DCE2EE"/>
                      </a:solidFill>
                      <a:prstDash val="solid"/>
                      <a:round/>
                      <a:headEnd type="none" w="med" len="med"/>
                      <a:tailEnd type="none" w="med" len="med"/>
                    </a:lnB>
                    <a:solidFill>
                      <a:srgbClr val="EEEFF3"/>
                    </a:solidFill>
                  </a:tcPr>
                </a:tc>
                <a:tc>
                  <a:txBody>
                    <a:bodyPr anchor="t" rtlCol="false"/>
                    <a:lstStyle/>
                    <a:p>
                      <a:pPr algn="l">
                        <a:lnSpc>
                          <a:spcPts val="2250"/>
                        </a:lnSpc>
                        <a:defRPr/>
                      </a:pPr>
                      <a:r>
                        <a:rPr lang="en-US" sz="1875">
                          <a:solidFill>
                            <a:srgbClr val="23283A"/>
                          </a:solidFill>
                          <a:latin typeface="Calibri (MS)"/>
                          <a:ea typeface="Calibri (MS)"/>
                          <a:cs typeface="Calibri (MS)"/>
                          <a:sym typeface="Calibri (MS)"/>
                        </a:rPr>
                        <a:t>11.2%</a:t>
                      </a:r>
                      <a:endParaRPr lang="en-US" sz="1100"/>
                    </a:p>
                  </a:txBody>
                  <a:tcPr marL="91440" marR="91440" marT="91440" marB="91440" anchor="ctr">
                    <a:lnL cmpd="sng" algn="ctr" cap="flat" w="9525">
                      <a:solidFill>
                        <a:srgbClr val="DCE2EE"/>
                      </a:solidFill>
                      <a:prstDash val="solid"/>
                      <a:round/>
                      <a:headEnd type="none" w="med" len="med"/>
                      <a:tailEnd type="none" w="med" len="med"/>
                    </a:lnL>
                    <a:lnR cmpd="sng" algn="ctr" cap="flat" w="9525">
                      <a:solidFill>
                        <a:srgbClr val="DCE2EE"/>
                      </a:solidFill>
                      <a:prstDash val="solid"/>
                      <a:round/>
                      <a:headEnd type="none" w="med" len="med"/>
                      <a:tailEnd type="none" w="med" len="med"/>
                    </a:lnR>
                    <a:lnT cmpd="sng" algn="ctr" cap="flat" w="9525">
                      <a:solidFill>
                        <a:srgbClr val="DCE2EE"/>
                      </a:solidFill>
                      <a:prstDash val="solid"/>
                      <a:round/>
                      <a:headEnd type="none" w="med" len="med"/>
                      <a:tailEnd type="none" w="med" len="med"/>
                    </a:lnT>
                    <a:lnB cmpd="sng" algn="ctr" cap="flat" w="9525">
                      <a:solidFill>
                        <a:srgbClr val="DCE2EE"/>
                      </a:solidFill>
                      <a:prstDash val="solid"/>
                      <a:round/>
                      <a:headEnd type="none" w="med" len="med"/>
                      <a:tailEnd type="none" w="med" len="med"/>
                    </a:lnB>
                    <a:solidFill>
                      <a:srgbClr val="EEEFF3"/>
                    </a:solidFill>
                  </a:tcPr>
                </a:tc>
                <a:tc>
                  <a:txBody>
                    <a:bodyPr anchor="t" rtlCol="false"/>
                    <a:lstStyle/>
                    <a:p>
                      <a:pPr algn="l">
                        <a:lnSpc>
                          <a:spcPts val="2250"/>
                        </a:lnSpc>
                        <a:defRPr/>
                      </a:pPr>
                      <a:r>
                        <a:rPr lang="en-US" sz="1875">
                          <a:solidFill>
                            <a:srgbClr val="23283A"/>
                          </a:solidFill>
                          <a:latin typeface="Calibri (MS)"/>
                          <a:ea typeface="Calibri (MS)"/>
                          <a:cs typeface="Calibri (MS)"/>
                          <a:sym typeface="Calibri (MS)"/>
                        </a:rPr>
                        <a:t>Steady growth + seasonality</a:t>
                      </a:r>
                      <a:endParaRPr lang="en-US" sz="1100"/>
                    </a:p>
                  </a:txBody>
                  <a:tcPr marL="91440" marR="91440" marT="91440" marB="91440" anchor="ctr">
                    <a:lnL cmpd="sng" algn="ctr" cap="flat" w="9525">
                      <a:solidFill>
                        <a:srgbClr val="DCE2EE"/>
                      </a:solidFill>
                      <a:prstDash val="solid"/>
                      <a:round/>
                      <a:headEnd type="none" w="med" len="med"/>
                      <a:tailEnd type="none" w="med" len="med"/>
                    </a:lnL>
                    <a:lnR cmpd="sng" algn="ctr" cap="flat" w="9525">
                      <a:solidFill>
                        <a:srgbClr val="DCE2EE"/>
                      </a:solidFill>
                      <a:prstDash val="solid"/>
                      <a:round/>
                      <a:headEnd type="none" w="med" len="med"/>
                      <a:tailEnd type="none" w="med" len="med"/>
                    </a:lnR>
                    <a:lnT cmpd="sng" algn="ctr" cap="flat" w="9525">
                      <a:solidFill>
                        <a:srgbClr val="DCE2EE"/>
                      </a:solidFill>
                      <a:prstDash val="solid"/>
                      <a:round/>
                      <a:headEnd type="none" w="med" len="med"/>
                      <a:tailEnd type="none" w="med" len="med"/>
                    </a:lnT>
                    <a:lnB cmpd="sng" algn="ctr" cap="flat" w="9525">
                      <a:solidFill>
                        <a:srgbClr val="DCE2EE"/>
                      </a:solidFill>
                      <a:prstDash val="solid"/>
                      <a:round/>
                      <a:headEnd type="none" w="med" len="med"/>
                      <a:tailEnd type="none" w="med" len="med"/>
                    </a:lnB>
                    <a:solidFill>
                      <a:srgbClr val="EEEFF3"/>
                    </a:solidFill>
                  </a:tcPr>
                </a:tc>
                <a:tc>
                  <a:txBody>
                    <a:bodyPr anchor="t" rtlCol="false"/>
                    <a:lstStyle/>
                    <a:p>
                      <a:pPr algn="l">
                        <a:lnSpc>
                          <a:spcPts val="2250"/>
                        </a:lnSpc>
                        <a:defRPr/>
                      </a:pPr>
                      <a:r>
                        <a:rPr lang="en-US" sz="1875" b="true">
                          <a:solidFill>
                            <a:srgbClr val="0E7C7B"/>
                          </a:solidFill>
                          <a:latin typeface="Calibri (MS) Bold"/>
                          <a:ea typeface="Calibri (MS) Bold"/>
                          <a:cs typeface="Calibri (MS) Bold"/>
                          <a:sym typeface="Calibri (MS) Bold"/>
                        </a:rPr>
                        <a:t>Expected</a:t>
                      </a:r>
                      <a:endParaRPr lang="en-US" sz="1100"/>
                    </a:p>
                  </a:txBody>
                  <a:tcPr marL="91440" marR="91440" marT="91440" marB="91440" anchor="ctr">
                    <a:lnL cmpd="sng" algn="ctr" cap="flat" w="9525">
                      <a:solidFill>
                        <a:srgbClr val="DCE2EE"/>
                      </a:solidFill>
                      <a:prstDash val="solid"/>
                      <a:round/>
                      <a:headEnd type="none" w="med" len="med"/>
                      <a:tailEnd type="none" w="med" len="med"/>
                    </a:lnL>
                    <a:lnR cmpd="sng" algn="ctr" cap="flat" w="9525">
                      <a:solidFill>
                        <a:srgbClr val="DCE2EE"/>
                      </a:solidFill>
                      <a:prstDash val="solid"/>
                      <a:round/>
                      <a:headEnd type="none" w="med" len="med"/>
                      <a:tailEnd type="none" w="med" len="med"/>
                    </a:lnR>
                    <a:lnT cmpd="sng" algn="ctr" cap="flat" w="9525">
                      <a:solidFill>
                        <a:srgbClr val="DCE2EE"/>
                      </a:solidFill>
                      <a:prstDash val="solid"/>
                      <a:round/>
                      <a:headEnd type="none" w="med" len="med"/>
                      <a:tailEnd type="none" w="med" len="med"/>
                    </a:lnT>
                    <a:lnB cmpd="sng" algn="ctr" cap="flat" w="9525">
                      <a:solidFill>
                        <a:srgbClr val="DCE2EE"/>
                      </a:solidFill>
                      <a:prstDash val="solid"/>
                      <a:round/>
                      <a:headEnd type="none" w="med" len="med"/>
                      <a:tailEnd type="none" w="med" len="med"/>
                    </a:lnB>
                    <a:solidFill>
                      <a:srgbClr val="EEEFF3"/>
                    </a:solidFill>
                  </a:tcPr>
                </a:tc>
              </a:tr>
              <a:tr h="742950">
                <a:tc>
                  <a:txBody>
                    <a:bodyPr anchor="t" rtlCol="false"/>
                    <a:lstStyle/>
                    <a:p>
                      <a:pPr algn="l">
                        <a:lnSpc>
                          <a:spcPts val="2250"/>
                        </a:lnSpc>
                        <a:defRPr/>
                      </a:pPr>
                      <a:r>
                        <a:rPr lang="en-US" sz="1875">
                          <a:solidFill>
                            <a:srgbClr val="23283A"/>
                          </a:solidFill>
                          <a:latin typeface="Calibri (MS)"/>
                          <a:ea typeface="Calibri (MS)"/>
                          <a:cs typeface="Calibri (MS)"/>
                          <a:sym typeface="Calibri (MS)"/>
                        </a:rPr>
                        <a:t>Central</a:t>
                      </a:r>
                      <a:endParaRPr lang="en-US" sz="1100"/>
                    </a:p>
                  </a:txBody>
                  <a:tcPr marL="91440" marR="91440" marT="91440" marB="91440" anchor="ctr">
                    <a:lnL cmpd="sng" algn="ctr" cap="flat" w="9525">
                      <a:solidFill>
                        <a:srgbClr val="DCE2EE"/>
                      </a:solidFill>
                      <a:prstDash val="solid"/>
                      <a:round/>
                      <a:headEnd type="none" w="med" len="med"/>
                      <a:tailEnd type="none" w="med" len="med"/>
                    </a:lnL>
                    <a:lnR cmpd="sng" algn="ctr" cap="flat" w="9525">
                      <a:solidFill>
                        <a:srgbClr val="DCE2EE"/>
                      </a:solidFill>
                      <a:prstDash val="solid"/>
                      <a:round/>
                      <a:headEnd type="none" w="med" len="med"/>
                      <a:tailEnd type="none" w="med" len="med"/>
                    </a:lnR>
                    <a:lnT cmpd="sng" algn="ctr" cap="flat" w="9525">
                      <a:solidFill>
                        <a:srgbClr val="DCE2EE"/>
                      </a:solidFill>
                      <a:prstDash val="solid"/>
                      <a:round/>
                      <a:headEnd type="none" w="med" len="med"/>
                      <a:tailEnd type="none" w="med" len="med"/>
                    </a:lnT>
                    <a:lnB cmpd="sng" algn="ctr" cap="flat" w="9525">
                      <a:solidFill>
                        <a:srgbClr val="DCE2EE"/>
                      </a:solidFill>
                      <a:prstDash val="solid"/>
                      <a:round/>
                      <a:headEnd type="none" w="med" len="med"/>
                      <a:tailEnd type="none" w="med" len="med"/>
                    </a:lnB>
                    <a:solidFill>
                      <a:srgbClr val="FFFFFF"/>
                    </a:solidFill>
                  </a:tcPr>
                </a:tc>
                <a:tc>
                  <a:txBody>
                    <a:bodyPr anchor="t" rtlCol="false"/>
                    <a:lstStyle/>
                    <a:p>
                      <a:pPr algn="l">
                        <a:lnSpc>
                          <a:spcPts val="2250"/>
                        </a:lnSpc>
                        <a:defRPr/>
                      </a:pPr>
                      <a:r>
                        <a:rPr lang="en-US" sz="1875">
                          <a:solidFill>
                            <a:srgbClr val="23283A"/>
                          </a:solidFill>
                          <a:latin typeface="Calibri (MS)"/>
                          <a:ea typeface="Calibri (MS)"/>
                          <a:cs typeface="Calibri (MS)"/>
                          <a:sym typeface="Calibri (MS)"/>
                        </a:rPr>
                        <a:t>Holt-Winters</a:t>
                      </a:r>
                      <a:endParaRPr lang="en-US" sz="1100"/>
                    </a:p>
                  </a:txBody>
                  <a:tcPr marL="91440" marR="91440" marT="91440" marB="91440" anchor="ctr">
                    <a:lnL cmpd="sng" algn="ctr" cap="flat" w="9525">
                      <a:solidFill>
                        <a:srgbClr val="DCE2EE"/>
                      </a:solidFill>
                      <a:prstDash val="solid"/>
                      <a:round/>
                      <a:headEnd type="none" w="med" len="med"/>
                      <a:tailEnd type="none" w="med" len="med"/>
                    </a:lnL>
                    <a:lnR cmpd="sng" algn="ctr" cap="flat" w="9525">
                      <a:solidFill>
                        <a:srgbClr val="DCE2EE"/>
                      </a:solidFill>
                      <a:prstDash val="solid"/>
                      <a:round/>
                      <a:headEnd type="none" w="med" len="med"/>
                      <a:tailEnd type="none" w="med" len="med"/>
                    </a:lnR>
                    <a:lnT cmpd="sng" algn="ctr" cap="flat" w="9525">
                      <a:solidFill>
                        <a:srgbClr val="DCE2EE"/>
                      </a:solidFill>
                      <a:prstDash val="solid"/>
                      <a:round/>
                      <a:headEnd type="none" w="med" len="med"/>
                      <a:tailEnd type="none" w="med" len="med"/>
                    </a:lnT>
                    <a:lnB cmpd="sng" algn="ctr" cap="flat" w="9525">
                      <a:solidFill>
                        <a:srgbClr val="DCE2EE"/>
                      </a:solidFill>
                      <a:prstDash val="solid"/>
                      <a:round/>
                      <a:headEnd type="none" w="med" len="med"/>
                      <a:tailEnd type="none" w="med" len="med"/>
                    </a:lnB>
                    <a:solidFill>
                      <a:srgbClr val="FFFFFF"/>
                    </a:solidFill>
                  </a:tcPr>
                </a:tc>
                <a:tc>
                  <a:txBody>
                    <a:bodyPr anchor="t" rtlCol="false"/>
                    <a:lstStyle/>
                    <a:p>
                      <a:pPr algn="l">
                        <a:lnSpc>
                          <a:spcPts val="2250"/>
                        </a:lnSpc>
                        <a:defRPr/>
                      </a:pPr>
                      <a:r>
                        <a:rPr lang="en-US" sz="1875">
                          <a:solidFill>
                            <a:srgbClr val="23283A"/>
                          </a:solidFill>
                          <a:latin typeface="Calibri (MS)"/>
                          <a:ea typeface="Calibri (MS)"/>
                          <a:cs typeface="Calibri (MS)"/>
                          <a:sym typeface="Calibri (MS)"/>
                        </a:rPr>
                        <a:t>6.8%</a:t>
                      </a:r>
                      <a:endParaRPr lang="en-US" sz="1100"/>
                    </a:p>
                  </a:txBody>
                  <a:tcPr marL="91440" marR="91440" marT="91440" marB="91440" anchor="ctr">
                    <a:lnL cmpd="sng" algn="ctr" cap="flat" w="9525">
                      <a:solidFill>
                        <a:srgbClr val="DCE2EE"/>
                      </a:solidFill>
                      <a:prstDash val="solid"/>
                      <a:round/>
                      <a:headEnd type="none" w="med" len="med"/>
                      <a:tailEnd type="none" w="med" len="med"/>
                    </a:lnL>
                    <a:lnR cmpd="sng" algn="ctr" cap="flat" w="9525">
                      <a:solidFill>
                        <a:srgbClr val="DCE2EE"/>
                      </a:solidFill>
                      <a:prstDash val="solid"/>
                      <a:round/>
                      <a:headEnd type="none" w="med" len="med"/>
                      <a:tailEnd type="none" w="med" len="med"/>
                    </a:lnR>
                    <a:lnT cmpd="sng" algn="ctr" cap="flat" w="9525">
                      <a:solidFill>
                        <a:srgbClr val="DCE2EE"/>
                      </a:solidFill>
                      <a:prstDash val="solid"/>
                      <a:round/>
                      <a:headEnd type="none" w="med" len="med"/>
                      <a:tailEnd type="none" w="med" len="med"/>
                    </a:lnT>
                    <a:lnB cmpd="sng" algn="ctr" cap="flat" w="9525">
                      <a:solidFill>
                        <a:srgbClr val="DCE2EE"/>
                      </a:solidFill>
                      <a:prstDash val="solid"/>
                      <a:round/>
                      <a:headEnd type="none" w="med" len="med"/>
                      <a:tailEnd type="none" w="med" len="med"/>
                    </a:lnB>
                    <a:solidFill>
                      <a:srgbClr val="FFFFFF"/>
                    </a:solidFill>
                  </a:tcPr>
                </a:tc>
                <a:tc>
                  <a:txBody>
                    <a:bodyPr anchor="t" rtlCol="false"/>
                    <a:lstStyle/>
                    <a:p>
                      <a:pPr algn="l">
                        <a:lnSpc>
                          <a:spcPts val="2250"/>
                        </a:lnSpc>
                        <a:defRPr/>
                      </a:pPr>
                      <a:r>
                        <a:rPr lang="en-US" sz="1875">
                          <a:solidFill>
                            <a:srgbClr val="23283A"/>
                          </a:solidFill>
                          <a:latin typeface="Calibri (MS)"/>
                          <a:ea typeface="Calibri (MS)"/>
                          <a:cs typeface="Calibri (MS)"/>
                          <a:sym typeface="Calibri (MS)"/>
                        </a:rPr>
                        <a:t>Quarterly seasonality + growth</a:t>
                      </a:r>
                      <a:endParaRPr lang="en-US" sz="1100"/>
                    </a:p>
                  </a:txBody>
                  <a:tcPr marL="91440" marR="91440" marT="91440" marB="91440" anchor="ctr">
                    <a:lnL cmpd="sng" algn="ctr" cap="flat" w="9525">
                      <a:solidFill>
                        <a:srgbClr val="DCE2EE"/>
                      </a:solidFill>
                      <a:prstDash val="solid"/>
                      <a:round/>
                      <a:headEnd type="none" w="med" len="med"/>
                      <a:tailEnd type="none" w="med" len="med"/>
                    </a:lnL>
                    <a:lnR cmpd="sng" algn="ctr" cap="flat" w="9525">
                      <a:solidFill>
                        <a:srgbClr val="DCE2EE"/>
                      </a:solidFill>
                      <a:prstDash val="solid"/>
                      <a:round/>
                      <a:headEnd type="none" w="med" len="med"/>
                      <a:tailEnd type="none" w="med" len="med"/>
                    </a:lnR>
                    <a:lnT cmpd="sng" algn="ctr" cap="flat" w="9525">
                      <a:solidFill>
                        <a:srgbClr val="DCE2EE"/>
                      </a:solidFill>
                      <a:prstDash val="solid"/>
                      <a:round/>
                      <a:headEnd type="none" w="med" len="med"/>
                      <a:tailEnd type="none" w="med" len="med"/>
                    </a:lnT>
                    <a:lnB cmpd="sng" algn="ctr" cap="flat" w="9525">
                      <a:solidFill>
                        <a:srgbClr val="DCE2EE"/>
                      </a:solidFill>
                      <a:prstDash val="solid"/>
                      <a:round/>
                      <a:headEnd type="none" w="med" len="med"/>
                      <a:tailEnd type="none" w="med" len="med"/>
                    </a:lnB>
                    <a:solidFill>
                      <a:srgbClr val="FFFFFF"/>
                    </a:solidFill>
                  </a:tcPr>
                </a:tc>
                <a:tc>
                  <a:txBody>
                    <a:bodyPr anchor="t" rtlCol="false"/>
                    <a:lstStyle/>
                    <a:p>
                      <a:pPr algn="l">
                        <a:lnSpc>
                          <a:spcPts val="2250"/>
                        </a:lnSpc>
                        <a:defRPr/>
                      </a:pPr>
                      <a:r>
                        <a:rPr lang="en-US" sz="1875" b="true">
                          <a:solidFill>
                            <a:srgbClr val="0E7C7B"/>
                          </a:solidFill>
                          <a:latin typeface="Calibri (MS) Bold"/>
                          <a:ea typeface="Calibri (MS) Bold"/>
                          <a:cs typeface="Calibri (MS) Bold"/>
                          <a:sym typeface="Calibri (MS) Bold"/>
                        </a:rPr>
                        <a:t>Expected</a:t>
                      </a:r>
                      <a:endParaRPr lang="en-US" sz="1100"/>
                    </a:p>
                  </a:txBody>
                  <a:tcPr marL="91440" marR="91440" marT="91440" marB="91440" anchor="ctr">
                    <a:lnL cmpd="sng" algn="ctr" cap="flat" w="9525">
                      <a:solidFill>
                        <a:srgbClr val="DCE2EE"/>
                      </a:solidFill>
                      <a:prstDash val="solid"/>
                      <a:round/>
                      <a:headEnd type="none" w="med" len="med"/>
                      <a:tailEnd type="none" w="med" len="med"/>
                    </a:lnL>
                    <a:lnR cmpd="sng" algn="ctr" cap="flat" w="9525">
                      <a:solidFill>
                        <a:srgbClr val="DCE2EE"/>
                      </a:solidFill>
                      <a:prstDash val="solid"/>
                      <a:round/>
                      <a:headEnd type="none" w="med" len="med"/>
                      <a:tailEnd type="none" w="med" len="med"/>
                    </a:lnR>
                    <a:lnT cmpd="sng" algn="ctr" cap="flat" w="9525">
                      <a:solidFill>
                        <a:srgbClr val="DCE2EE"/>
                      </a:solidFill>
                      <a:prstDash val="solid"/>
                      <a:round/>
                      <a:headEnd type="none" w="med" len="med"/>
                      <a:tailEnd type="none" w="med" len="med"/>
                    </a:lnT>
                    <a:lnB cmpd="sng" algn="ctr" cap="flat" w="9525">
                      <a:solidFill>
                        <a:srgbClr val="DCE2EE"/>
                      </a:solidFill>
                      <a:prstDash val="solid"/>
                      <a:round/>
                      <a:headEnd type="none" w="med" len="med"/>
                      <a:tailEnd type="none" w="med" len="med"/>
                    </a:lnB>
                    <a:solidFill>
                      <a:srgbClr val="FFFFFF"/>
                    </a:solidFill>
                  </a:tcPr>
                </a:tc>
              </a:tr>
            </a:tbl>
          </a:graphicData>
        </a:graphic>
      </p:graphicFrame>
      <p:grpSp>
        <p:nvGrpSpPr>
          <p:cNvPr name="Group 9" id="9"/>
          <p:cNvGrpSpPr/>
          <p:nvPr/>
        </p:nvGrpSpPr>
        <p:grpSpPr>
          <a:xfrm rot="0">
            <a:off x="822960" y="7269480"/>
            <a:ext cx="16664940" cy="891540"/>
            <a:chOff x="0" y="0"/>
            <a:chExt cx="22219920" cy="1188720"/>
          </a:xfrm>
        </p:grpSpPr>
        <p:sp>
          <p:nvSpPr>
            <p:cNvPr name="Freeform 10" id="10"/>
            <p:cNvSpPr/>
            <p:nvPr/>
          </p:nvSpPr>
          <p:spPr>
            <a:xfrm flipH="false" flipV="false" rot="0">
              <a:off x="0" y="0"/>
              <a:ext cx="22219920" cy="1188720"/>
            </a:xfrm>
            <a:custGeom>
              <a:avLst/>
              <a:gdLst/>
              <a:ahLst/>
              <a:cxnLst/>
              <a:rect r="r" b="b" t="t" l="l"/>
              <a:pathLst>
                <a:path h="1188720" w="22219920">
                  <a:moveTo>
                    <a:pt x="0" y="146304"/>
                  </a:moveTo>
                  <a:cubicBezTo>
                    <a:pt x="0" y="65532"/>
                    <a:pt x="65532" y="0"/>
                    <a:pt x="146304" y="0"/>
                  </a:cubicBezTo>
                  <a:lnTo>
                    <a:pt x="22073615" y="0"/>
                  </a:lnTo>
                  <a:cubicBezTo>
                    <a:pt x="22154387" y="0"/>
                    <a:pt x="22219920" y="65532"/>
                    <a:pt x="22219920" y="146304"/>
                  </a:cubicBezTo>
                  <a:lnTo>
                    <a:pt x="22219920" y="1042416"/>
                  </a:lnTo>
                  <a:cubicBezTo>
                    <a:pt x="22219920" y="1123188"/>
                    <a:pt x="22154387" y="1188720"/>
                    <a:pt x="22073615" y="1188720"/>
                  </a:cubicBezTo>
                  <a:lnTo>
                    <a:pt x="146304" y="1188720"/>
                  </a:lnTo>
                  <a:cubicBezTo>
                    <a:pt x="65532" y="1188720"/>
                    <a:pt x="0" y="1123188"/>
                    <a:pt x="0" y="1042416"/>
                  </a:cubicBezTo>
                  <a:close/>
                </a:path>
              </a:pathLst>
            </a:custGeom>
            <a:solidFill>
              <a:srgbClr val="E4F2F1"/>
            </a:solidFill>
          </p:spPr>
        </p:sp>
      </p:grpSp>
      <p:grpSp>
        <p:nvGrpSpPr>
          <p:cNvPr name="Group 11" id="11"/>
          <p:cNvGrpSpPr/>
          <p:nvPr/>
        </p:nvGrpSpPr>
        <p:grpSpPr>
          <a:xfrm rot="0">
            <a:off x="1165860" y="7269480"/>
            <a:ext cx="16047720" cy="891540"/>
            <a:chOff x="0" y="0"/>
            <a:chExt cx="21396960" cy="1188720"/>
          </a:xfrm>
        </p:grpSpPr>
        <p:sp>
          <p:nvSpPr>
            <p:cNvPr name="Freeform 12" id="12"/>
            <p:cNvSpPr/>
            <p:nvPr/>
          </p:nvSpPr>
          <p:spPr>
            <a:xfrm flipH="false" flipV="false" rot="0">
              <a:off x="0" y="0"/>
              <a:ext cx="21396961" cy="1188720"/>
            </a:xfrm>
            <a:custGeom>
              <a:avLst/>
              <a:gdLst/>
              <a:ahLst/>
              <a:cxnLst/>
              <a:rect r="r" b="b" t="t" l="l"/>
              <a:pathLst>
                <a:path h="1188720" w="21396961">
                  <a:moveTo>
                    <a:pt x="0" y="0"/>
                  </a:moveTo>
                  <a:lnTo>
                    <a:pt x="21396961" y="0"/>
                  </a:lnTo>
                  <a:lnTo>
                    <a:pt x="21396961" y="1188720"/>
                  </a:lnTo>
                  <a:lnTo>
                    <a:pt x="0" y="1188720"/>
                  </a:lnTo>
                  <a:close/>
                </a:path>
              </a:pathLst>
            </a:custGeom>
            <a:blipFill>
              <a:blip r:embed="rId3">
                <a:alphaModFix amt="0"/>
              </a:blip>
              <a:stretch>
                <a:fillRect l="0" t="-300730" r="0" b="-300730"/>
              </a:stretch>
            </a:blipFill>
          </p:spPr>
        </p:sp>
        <p:sp>
          <p:nvSpPr>
            <p:cNvPr name="TextBox 13" id="13"/>
            <p:cNvSpPr txBox="true"/>
            <p:nvPr/>
          </p:nvSpPr>
          <p:spPr>
            <a:xfrm>
              <a:off x="0" y="-38100"/>
              <a:ext cx="21396960" cy="1226820"/>
            </a:xfrm>
            <a:prstGeom prst="rect">
              <a:avLst/>
            </a:prstGeom>
          </p:spPr>
          <p:txBody>
            <a:bodyPr anchor="ctr" rtlCol="false" tIns="0" lIns="0" bIns="0" rIns="0"/>
            <a:lstStyle/>
            <a:p>
              <a:pPr algn="l">
                <a:lnSpc>
                  <a:spcPts val="2070"/>
                </a:lnSpc>
              </a:pPr>
              <a:r>
                <a:rPr lang="en-US" sz="1725" b="true">
                  <a:solidFill>
                    <a:srgbClr val="0E7C7B"/>
                  </a:solidFill>
                  <a:latin typeface="Calibri (MS) Bold"/>
                  <a:ea typeface="Calibri (MS) Bold"/>
                  <a:cs typeface="Calibri (MS) Bold"/>
                  <a:sym typeface="Calibri (MS) Bold"/>
                </a:rPr>
                <a:t>PROMPT USED:  </a:t>
              </a:r>
              <a:r>
                <a:rPr lang="en-US" sz="1725" i="true">
                  <a:solidFill>
                    <a:srgbClr val="23283A"/>
                  </a:solidFill>
                  <a:latin typeface="Calibri (MS) Italics"/>
                  <a:ea typeface="Calibri (MS) Italics"/>
                  <a:cs typeface="Calibri (MS) Italics"/>
                  <a:sym typeface="Calibri (MS) Italics"/>
                </a:rPr>
                <a:t>“For each region, identify the forecasting method with the lowest error rate, then explain whether that result is consistent with the analyst's description of the region's demand pattern.”</a:t>
              </a:r>
            </a:p>
          </p:txBody>
        </p:sp>
      </p:grpSp>
      <p:grpSp>
        <p:nvGrpSpPr>
          <p:cNvPr name="Group 14" id="14"/>
          <p:cNvGrpSpPr/>
          <p:nvPr/>
        </p:nvGrpSpPr>
        <p:grpSpPr>
          <a:xfrm rot="0">
            <a:off x="822960" y="8435340"/>
            <a:ext cx="16664940" cy="548640"/>
            <a:chOff x="0" y="0"/>
            <a:chExt cx="22219920" cy="731520"/>
          </a:xfrm>
        </p:grpSpPr>
        <p:sp>
          <p:nvSpPr>
            <p:cNvPr name="Freeform 15" id="15"/>
            <p:cNvSpPr/>
            <p:nvPr/>
          </p:nvSpPr>
          <p:spPr>
            <a:xfrm flipH="false" flipV="false" rot="0">
              <a:off x="0" y="0"/>
              <a:ext cx="22219920" cy="731520"/>
            </a:xfrm>
            <a:custGeom>
              <a:avLst/>
              <a:gdLst/>
              <a:ahLst/>
              <a:cxnLst/>
              <a:rect r="r" b="b" t="t" l="l"/>
              <a:pathLst>
                <a:path h="731520" w="22219920">
                  <a:moveTo>
                    <a:pt x="0" y="0"/>
                  </a:moveTo>
                  <a:lnTo>
                    <a:pt x="22219920" y="0"/>
                  </a:lnTo>
                  <a:lnTo>
                    <a:pt x="22219920" y="731520"/>
                  </a:lnTo>
                  <a:lnTo>
                    <a:pt x="0" y="731520"/>
                  </a:lnTo>
                  <a:close/>
                </a:path>
              </a:pathLst>
            </a:custGeom>
            <a:blipFill>
              <a:blip r:embed="rId3">
                <a:alphaModFix amt="0"/>
              </a:blip>
              <a:stretch>
                <a:fillRect l="0" t="-541858" r="0" b="-541858"/>
              </a:stretch>
            </a:blipFill>
          </p:spPr>
        </p:sp>
        <p:sp>
          <p:nvSpPr>
            <p:cNvPr name="TextBox 16" id="16"/>
            <p:cNvSpPr txBox="true"/>
            <p:nvPr/>
          </p:nvSpPr>
          <p:spPr>
            <a:xfrm>
              <a:off x="0" y="-47625"/>
              <a:ext cx="22219920" cy="779145"/>
            </a:xfrm>
            <a:prstGeom prst="rect">
              <a:avLst/>
            </a:prstGeom>
          </p:spPr>
          <p:txBody>
            <a:bodyPr anchor="ctr" rtlCol="false" tIns="0" lIns="0" bIns="0" rIns="0"/>
            <a:lstStyle/>
            <a:p>
              <a:pPr algn="l">
                <a:lnSpc>
                  <a:spcPts val="2340"/>
                </a:lnSpc>
              </a:pPr>
              <a:r>
                <a:rPr lang="en-US" sz="1950" i="true">
                  <a:solidFill>
                    <a:srgbClr val="1E2761"/>
                  </a:solidFill>
                  <a:latin typeface="Calibri (MS) Italics"/>
                  <a:ea typeface="Calibri (MS) Italics"/>
                  <a:cs typeface="Calibri (MS) Italics"/>
                  <a:sym typeface="Calibri (MS) Italics"/>
                </a:rPr>
                <a:t>North, Central &amp; West behave as expected — South and East are the outliers worth a closer look, covered next.</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4F6FB"/>
        </a:solidFill>
      </p:bgPr>
    </p:bg>
    <p:spTree>
      <p:nvGrpSpPr>
        <p:cNvPr id="1" name=""/>
        <p:cNvGrpSpPr/>
        <p:nvPr/>
      </p:nvGrpSpPr>
      <p:grpSpPr>
        <a:xfrm>
          <a:off x="0" y="0"/>
          <a:ext cx="0" cy="0"/>
          <a:chOff x="0" y="0"/>
          <a:chExt cx="0" cy="0"/>
        </a:xfrm>
      </p:grpSpPr>
      <p:grpSp>
        <p:nvGrpSpPr>
          <p:cNvPr name="Group 2" id="2"/>
          <p:cNvGrpSpPr/>
          <p:nvPr/>
        </p:nvGrpSpPr>
        <p:grpSpPr>
          <a:xfrm rot="0">
            <a:off x="822960" y="576072"/>
            <a:ext cx="10972800" cy="411480"/>
            <a:chOff x="0" y="0"/>
            <a:chExt cx="14630400" cy="548640"/>
          </a:xfrm>
        </p:grpSpPr>
        <p:sp>
          <p:nvSpPr>
            <p:cNvPr name="Freeform 3" id="3"/>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4" id="4"/>
            <p:cNvSpPr txBox="true"/>
            <p:nvPr/>
          </p:nvSpPr>
          <p:spPr>
            <a:xfrm>
              <a:off x="0" y="-38100"/>
              <a:ext cx="14630400" cy="586740"/>
            </a:xfrm>
            <a:prstGeom prst="rect">
              <a:avLst/>
            </a:prstGeom>
          </p:spPr>
          <p:txBody>
            <a:bodyPr anchor="ctr" rtlCol="false" tIns="0" lIns="0" bIns="0" rIns="0"/>
            <a:lstStyle/>
            <a:p>
              <a:pPr algn="l">
                <a:lnSpc>
                  <a:spcPts val="2160"/>
                </a:lnSpc>
              </a:pPr>
              <a:r>
                <a:rPr lang="en-US" b="true" sz="1800" spc="300">
                  <a:solidFill>
                    <a:srgbClr val="B08D57"/>
                  </a:solidFill>
                  <a:latin typeface="Calibri (MS) Bold"/>
                  <a:ea typeface="Calibri (MS) Bold"/>
                  <a:cs typeface="Calibri (MS) Bold"/>
                  <a:sym typeface="Calibri (MS) Bold"/>
                </a:rPr>
                <a:t>TASK 3 WALKTHROUGH</a:t>
              </a:r>
            </a:p>
          </p:txBody>
        </p:sp>
      </p:grpSp>
      <p:grpSp>
        <p:nvGrpSpPr>
          <p:cNvPr name="Group 5" id="5"/>
          <p:cNvGrpSpPr/>
          <p:nvPr/>
        </p:nvGrpSpPr>
        <p:grpSpPr>
          <a:xfrm rot="0">
            <a:off x="822960" y="987552"/>
            <a:ext cx="16596360" cy="1234440"/>
            <a:chOff x="0" y="0"/>
            <a:chExt cx="22128480" cy="1645920"/>
          </a:xfrm>
        </p:grpSpPr>
        <p:sp>
          <p:nvSpPr>
            <p:cNvPr name="Freeform 6" id="6"/>
            <p:cNvSpPr/>
            <p:nvPr/>
          </p:nvSpPr>
          <p:spPr>
            <a:xfrm flipH="false" flipV="false" rot="0">
              <a:off x="0" y="0"/>
              <a:ext cx="22128480" cy="1645920"/>
            </a:xfrm>
            <a:custGeom>
              <a:avLst/>
              <a:gdLst/>
              <a:ahLst/>
              <a:cxnLst/>
              <a:rect r="r" b="b" t="t" l="l"/>
              <a:pathLst>
                <a:path h="1645920" w="22128480">
                  <a:moveTo>
                    <a:pt x="0" y="0"/>
                  </a:moveTo>
                  <a:lnTo>
                    <a:pt x="22128480" y="0"/>
                  </a:lnTo>
                  <a:lnTo>
                    <a:pt x="22128480" y="1645920"/>
                  </a:lnTo>
                  <a:lnTo>
                    <a:pt x="0" y="1645920"/>
                  </a:lnTo>
                  <a:close/>
                </a:path>
              </a:pathLst>
            </a:custGeom>
            <a:blipFill>
              <a:blip r:embed="rId3">
                <a:alphaModFix amt="0"/>
              </a:blip>
              <a:stretch>
                <a:fillRect l="0" t="-211965" r="0" b="-211965"/>
              </a:stretch>
            </a:blipFill>
          </p:spPr>
        </p:sp>
        <p:sp>
          <p:nvSpPr>
            <p:cNvPr name="TextBox 7" id="7"/>
            <p:cNvSpPr txBox="true"/>
            <p:nvPr/>
          </p:nvSpPr>
          <p:spPr>
            <a:xfrm>
              <a:off x="0" y="-19050"/>
              <a:ext cx="22128480" cy="1664970"/>
            </a:xfrm>
            <a:prstGeom prst="rect">
              <a:avLst/>
            </a:prstGeom>
          </p:spPr>
          <p:txBody>
            <a:bodyPr anchor="ctr" rtlCol="false" tIns="0" lIns="0" bIns="0" rIns="0"/>
            <a:lstStyle/>
            <a:p>
              <a:pPr algn="l">
                <a:lnSpc>
                  <a:spcPts val="5400"/>
                </a:lnSpc>
              </a:pPr>
              <a:r>
                <a:rPr lang="en-US" sz="4500" b="true">
                  <a:solidFill>
                    <a:srgbClr val="1E2761"/>
                  </a:solidFill>
                  <a:latin typeface="Cambria Bold"/>
                  <a:ea typeface="Cambria Bold"/>
                  <a:cs typeface="Cambria Bold"/>
                  <a:sym typeface="Cambria Bold"/>
                </a:rPr>
                <a:t>The Surprising Winner: South Region &amp; Prophet vs. Weather Surges</a:t>
              </a:r>
            </a:p>
          </p:txBody>
        </p:sp>
      </p:grpSp>
      <p:pic>
        <p:nvPicPr>
          <p:cNvPr name="Picture 8" id="8"/>
          <p:cNvPicPr>
            <a:picLocks noChangeAspect="true"/>
          </p:cNvPicPr>
          <p:nvPr/>
        </p:nvPicPr>
        <p:blipFill>
          <a:blip r:embed="rId4"/>
          <a:stretch>
            <a:fillRect/>
          </a:stretch>
        </p:blipFill>
        <p:spPr>
          <a:xfrm rot="0">
            <a:off x="-150876" y="1563624"/>
            <a:ext cx="11686032" cy="8668512"/>
          </a:xfrm>
          <a:prstGeom prst="rect">
            <a:avLst/>
          </a:prstGeom>
        </p:spPr>
      </p:pic>
      <p:grpSp>
        <p:nvGrpSpPr>
          <p:cNvPr name="Group 9" id="9"/>
          <p:cNvGrpSpPr/>
          <p:nvPr/>
        </p:nvGrpSpPr>
        <p:grpSpPr>
          <a:xfrm rot="0">
            <a:off x="10706862" y="1654302"/>
            <a:ext cx="6602730" cy="1555242"/>
            <a:chOff x="0" y="0"/>
            <a:chExt cx="8803640" cy="2073656"/>
          </a:xfrm>
        </p:grpSpPr>
        <p:sp>
          <p:nvSpPr>
            <p:cNvPr name="Freeform 10" id="10"/>
            <p:cNvSpPr/>
            <p:nvPr/>
          </p:nvSpPr>
          <p:spPr>
            <a:xfrm flipH="false" flipV="false" rot="0">
              <a:off x="0" y="0"/>
              <a:ext cx="8803640" cy="2073656"/>
            </a:xfrm>
            <a:custGeom>
              <a:avLst/>
              <a:gdLst/>
              <a:ahLst/>
              <a:cxnLst/>
              <a:rect r="r" b="b" t="t" l="l"/>
              <a:pathLst>
                <a:path h="2073656" w="8803640">
                  <a:moveTo>
                    <a:pt x="0" y="185166"/>
                  </a:moveTo>
                  <a:cubicBezTo>
                    <a:pt x="0" y="82931"/>
                    <a:pt x="82931" y="0"/>
                    <a:pt x="185166" y="0"/>
                  </a:cubicBezTo>
                  <a:lnTo>
                    <a:pt x="8618474" y="0"/>
                  </a:lnTo>
                  <a:cubicBezTo>
                    <a:pt x="8720709" y="0"/>
                    <a:pt x="8803640" y="82931"/>
                    <a:pt x="8803640" y="185166"/>
                  </a:cubicBezTo>
                  <a:lnTo>
                    <a:pt x="8803640" y="1888490"/>
                  </a:lnTo>
                  <a:cubicBezTo>
                    <a:pt x="8803640" y="1990725"/>
                    <a:pt x="8720709" y="2073656"/>
                    <a:pt x="8618474" y="2073656"/>
                  </a:cubicBezTo>
                  <a:lnTo>
                    <a:pt x="185166" y="2073656"/>
                  </a:lnTo>
                  <a:cubicBezTo>
                    <a:pt x="82931" y="2073656"/>
                    <a:pt x="0" y="1990725"/>
                    <a:pt x="0" y="1888490"/>
                  </a:cubicBezTo>
                  <a:close/>
                </a:path>
              </a:pathLst>
            </a:custGeom>
            <a:solidFill>
              <a:srgbClr val="FFFFFF"/>
            </a:solidFill>
            <a:ln w="19050" cap="sq">
              <a:solidFill>
                <a:srgbClr val="CADCFC"/>
              </a:solidFill>
              <a:prstDash val="solid"/>
              <a:miter/>
            </a:ln>
          </p:spPr>
        </p:sp>
      </p:grpSp>
      <p:grpSp>
        <p:nvGrpSpPr>
          <p:cNvPr name="Group 11" id="11"/>
          <p:cNvGrpSpPr/>
          <p:nvPr/>
        </p:nvGrpSpPr>
        <p:grpSpPr>
          <a:xfrm rot="0">
            <a:off x="11109960" y="1654302"/>
            <a:ext cx="5486400" cy="1344168"/>
            <a:chOff x="0" y="0"/>
            <a:chExt cx="7315200" cy="1792224"/>
          </a:xfrm>
        </p:grpSpPr>
        <p:sp>
          <p:nvSpPr>
            <p:cNvPr name="Freeform 12" id="12"/>
            <p:cNvSpPr/>
            <p:nvPr/>
          </p:nvSpPr>
          <p:spPr>
            <a:xfrm flipH="false" flipV="false" rot="0">
              <a:off x="0" y="0"/>
              <a:ext cx="7315200" cy="1792224"/>
            </a:xfrm>
            <a:custGeom>
              <a:avLst/>
              <a:gdLst/>
              <a:ahLst/>
              <a:cxnLst/>
              <a:rect r="r" b="b" t="t" l="l"/>
              <a:pathLst>
                <a:path h="1792224" w="7315200">
                  <a:moveTo>
                    <a:pt x="0" y="0"/>
                  </a:moveTo>
                  <a:lnTo>
                    <a:pt x="7315200" y="0"/>
                  </a:lnTo>
                  <a:lnTo>
                    <a:pt x="7315200" y="1792224"/>
                  </a:lnTo>
                  <a:lnTo>
                    <a:pt x="0" y="1792224"/>
                  </a:lnTo>
                  <a:close/>
                </a:path>
              </a:pathLst>
            </a:custGeom>
            <a:blipFill>
              <a:blip r:embed="rId3">
                <a:alphaModFix amt="0"/>
              </a:blip>
              <a:stretch>
                <a:fillRect l="0" t="-29530" r="0" b="-29530"/>
              </a:stretch>
            </a:blipFill>
          </p:spPr>
        </p:sp>
        <p:sp>
          <p:nvSpPr>
            <p:cNvPr name="TextBox 13" id="13"/>
            <p:cNvSpPr txBox="true"/>
            <p:nvPr/>
          </p:nvSpPr>
          <p:spPr>
            <a:xfrm>
              <a:off x="0" y="-28575"/>
              <a:ext cx="7315200" cy="1820799"/>
            </a:xfrm>
            <a:prstGeom prst="rect">
              <a:avLst/>
            </a:prstGeom>
          </p:spPr>
          <p:txBody>
            <a:bodyPr anchor="ctr" rtlCol="false" tIns="0" lIns="0" bIns="0" rIns="0"/>
            <a:lstStyle/>
            <a:p>
              <a:pPr algn="l">
                <a:lnSpc>
                  <a:spcPts val="1950"/>
                </a:lnSpc>
              </a:pPr>
              <a:r>
                <a:rPr lang="en-US" sz="1575">
                  <a:solidFill>
                    <a:srgbClr val="23283A"/>
                  </a:solidFill>
                  <a:latin typeface="Calibri (MS)"/>
                  <a:ea typeface="Calibri (MS)"/>
                  <a:cs typeface="Calibri (MS)"/>
                  <a:sym typeface="Calibri (MS)"/>
                </a:rPr>
                <a:t>Error rates: Naive 18.5%  ·  SES 17.1%  ·  Holt Linear 16.2%  ·  Holt-Winters 14.8%  ·  ARIMA 15.1%  ·  Prophet 9.2%</a:t>
              </a:r>
            </a:p>
          </p:txBody>
        </p:sp>
      </p:grpSp>
      <p:grpSp>
        <p:nvGrpSpPr>
          <p:cNvPr name="Group 14" id="14"/>
          <p:cNvGrpSpPr/>
          <p:nvPr/>
        </p:nvGrpSpPr>
        <p:grpSpPr>
          <a:xfrm rot="0">
            <a:off x="10763250" y="3298127"/>
            <a:ext cx="6602730" cy="1555242"/>
            <a:chOff x="0" y="0"/>
            <a:chExt cx="8803640" cy="2073656"/>
          </a:xfrm>
        </p:grpSpPr>
        <p:sp>
          <p:nvSpPr>
            <p:cNvPr name="Freeform 15" id="15"/>
            <p:cNvSpPr/>
            <p:nvPr/>
          </p:nvSpPr>
          <p:spPr>
            <a:xfrm flipH="false" flipV="false" rot="0">
              <a:off x="0" y="0"/>
              <a:ext cx="8803640" cy="2073656"/>
            </a:xfrm>
            <a:custGeom>
              <a:avLst/>
              <a:gdLst/>
              <a:ahLst/>
              <a:cxnLst/>
              <a:rect r="r" b="b" t="t" l="l"/>
              <a:pathLst>
                <a:path h="2073656" w="8803640">
                  <a:moveTo>
                    <a:pt x="0" y="185166"/>
                  </a:moveTo>
                  <a:cubicBezTo>
                    <a:pt x="0" y="82931"/>
                    <a:pt x="82931" y="0"/>
                    <a:pt x="185166" y="0"/>
                  </a:cubicBezTo>
                  <a:lnTo>
                    <a:pt x="8618474" y="0"/>
                  </a:lnTo>
                  <a:cubicBezTo>
                    <a:pt x="8720709" y="0"/>
                    <a:pt x="8803640" y="82931"/>
                    <a:pt x="8803640" y="185166"/>
                  </a:cubicBezTo>
                  <a:lnTo>
                    <a:pt x="8803640" y="1888490"/>
                  </a:lnTo>
                  <a:cubicBezTo>
                    <a:pt x="8803640" y="1990725"/>
                    <a:pt x="8720709" y="2073656"/>
                    <a:pt x="8618474" y="2073656"/>
                  </a:cubicBezTo>
                  <a:lnTo>
                    <a:pt x="185166" y="2073656"/>
                  </a:lnTo>
                  <a:cubicBezTo>
                    <a:pt x="82931" y="2073656"/>
                    <a:pt x="0" y="1990725"/>
                    <a:pt x="0" y="1888490"/>
                  </a:cubicBezTo>
                  <a:close/>
                </a:path>
              </a:pathLst>
            </a:custGeom>
            <a:solidFill>
              <a:srgbClr val="FFFFFF"/>
            </a:solidFill>
            <a:ln w="19050" cap="sq">
              <a:solidFill>
                <a:srgbClr val="CADCFC"/>
              </a:solidFill>
              <a:prstDash val="solid"/>
              <a:miter/>
            </a:ln>
          </p:spPr>
        </p:sp>
      </p:grpSp>
      <p:grpSp>
        <p:nvGrpSpPr>
          <p:cNvPr name="Group 16" id="16"/>
          <p:cNvGrpSpPr/>
          <p:nvPr/>
        </p:nvGrpSpPr>
        <p:grpSpPr>
          <a:xfrm rot="0">
            <a:off x="11109960" y="3298127"/>
            <a:ext cx="5486400" cy="1344168"/>
            <a:chOff x="0" y="0"/>
            <a:chExt cx="7315200" cy="1792224"/>
          </a:xfrm>
        </p:grpSpPr>
        <p:sp>
          <p:nvSpPr>
            <p:cNvPr name="Freeform 17" id="17"/>
            <p:cNvSpPr/>
            <p:nvPr/>
          </p:nvSpPr>
          <p:spPr>
            <a:xfrm flipH="false" flipV="false" rot="0">
              <a:off x="0" y="0"/>
              <a:ext cx="7315200" cy="1792224"/>
            </a:xfrm>
            <a:custGeom>
              <a:avLst/>
              <a:gdLst/>
              <a:ahLst/>
              <a:cxnLst/>
              <a:rect r="r" b="b" t="t" l="l"/>
              <a:pathLst>
                <a:path h="1792224" w="7315200">
                  <a:moveTo>
                    <a:pt x="0" y="0"/>
                  </a:moveTo>
                  <a:lnTo>
                    <a:pt x="7315200" y="0"/>
                  </a:lnTo>
                  <a:lnTo>
                    <a:pt x="7315200" y="1792224"/>
                  </a:lnTo>
                  <a:lnTo>
                    <a:pt x="0" y="1792224"/>
                  </a:lnTo>
                  <a:close/>
                </a:path>
              </a:pathLst>
            </a:custGeom>
            <a:blipFill>
              <a:blip r:embed="rId3">
                <a:alphaModFix amt="0"/>
              </a:blip>
              <a:stretch>
                <a:fillRect l="0" t="-29530" r="0" b="-29530"/>
              </a:stretch>
            </a:blipFill>
          </p:spPr>
        </p:sp>
        <p:sp>
          <p:nvSpPr>
            <p:cNvPr name="TextBox 18" id="18"/>
            <p:cNvSpPr txBox="true"/>
            <p:nvPr/>
          </p:nvSpPr>
          <p:spPr>
            <a:xfrm>
              <a:off x="0" y="-28575"/>
              <a:ext cx="7315200" cy="1820799"/>
            </a:xfrm>
            <a:prstGeom prst="rect">
              <a:avLst/>
            </a:prstGeom>
          </p:spPr>
          <p:txBody>
            <a:bodyPr anchor="ctr" rtlCol="false" tIns="0" lIns="0" bIns="0" rIns="0"/>
            <a:lstStyle/>
            <a:p>
              <a:pPr algn="l">
                <a:lnSpc>
                  <a:spcPts val="1950"/>
                </a:lnSpc>
              </a:pPr>
              <a:r>
                <a:rPr lang="en-US" sz="1575">
                  <a:solidFill>
                    <a:srgbClr val="23283A"/>
                  </a:solidFill>
                  <a:latin typeface="Calibri (MS)"/>
                  <a:ea typeface="Calibri (MS)"/>
                  <a:cs typeface="Calibri (MS)"/>
                  <a:sym typeface="Calibri (MS)"/>
                </a:rPr>
                <a:t>Analyst note: unpredictable, weather-driven monsoon surges creating non-linear spikes and holiday effects</a:t>
              </a:r>
            </a:p>
          </p:txBody>
        </p:sp>
      </p:grpSp>
      <p:grpSp>
        <p:nvGrpSpPr>
          <p:cNvPr name="Group 19" id="19"/>
          <p:cNvGrpSpPr/>
          <p:nvPr/>
        </p:nvGrpSpPr>
        <p:grpSpPr>
          <a:xfrm rot="0">
            <a:off x="10816590" y="4853369"/>
            <a:ext cx="6602730" cy="1555242"/>
            <a:chOff x="0" y="0"/>
            <a:chExt cx="8803640" cy="2073656"/>
          </a:xfrm>
        </p:grpSpPr>
        <p:sp>
          <p:nvSpPr>
            <p:cNvPr name="Freeform 20" id="20"/>
            <p:cNvSpPr/>
            <p:nvPr/>
          </p:nvSpPr>
          <p:spPr>
            <a:xfrm flipH="false" flipV="false" rot="0">
              <a:off x="0" y="0"/>
              <a:ext cx="8803640" cy="2073656"/>
            </a:xfrm>
            <a:custGeom>
              <a:avLst/>
              <a:gdLst/>
              <a:ahLst/>
              <a:cxnLst/>
              <a:rect r="r" b="b" t="t" l="l"/>
              <a:pathLst>
                <a:path h="2073656" w="8803640">
                  <a:moveTo>
                    <a:pt x="0" y="185166"/>
                  </a:moveTo>
                  <a:cubicBezTo>
                    <a:pt x="0" y="82931"/>
                    <a:pt x="82931" y="0"/>
                    <a:pt x="185166" y="0"/>
                  </a:cubicBezTo>
                  <a:lnTo>
                    <a:pt x="8618474" y="0"/>
                  </a:lnTo>
                  <a:cubicBezTo>
                    <a:pt x="8720709" y="0"/>
                    <a:pt x="8803640" y="82931"/>
                    <a:pt x="8803640" y="185166"/>
                  </a:cubicBezTo>
                  <a:lnTo>
                    <a:pt x="8803640" y="1888490"/>
                  </a:lnTo>
                  <a:cubicBezTo>
                    <a:pt x="8803640" y="1990725"/>
                    <a:pt x="8720709" y="2073656"/>
                    <a:pt x="8618474" y="2073656"/>
                  </a:cubicBezTo>
                  <a:lnTo>
                    <a:pt x="185166" y="2073656"/>
                  </a:lnTo>
                  <a:cubicBezTo>
                    <a:pt x="82931" y="2073656"/>
                    <a:pt x="0" y="1990725"/>
                    <a:pt x="0" y="1888490"/>
                  </a:cubicBezTo>
                  <a:close/>
                </a:path>
              </a:pathLst>
            </a:custGeom>
            <a:solidFill>
              <a:srgbClr val="FFFFFF"/>
            </a:solidFill>
            <a:ln w="19050" cap="sq">
              <a:solidFill>
                <a:srgbClr val="CADCFC"/>
              </a:solidFill>
              <a:prstDash val="solid"/>
              <a:miter/>
            </a:ln>
          </p:spPr>
        </p:sp>
      </p:grpSp>
      <p:grpSp>
        <p:nvGrpSpPr>
          <p:cNvPr name="Group 21" id="21"/>
          <p:cNvGrpSpPr/>
          <p:nvPr/>
        </p:nvGrpSpPr>
        <p:grpSpPr>
          <a:xfrm rot="0">
            <a:off x="11109960" y="4939094"/>
            <a:ext cx="5486400" cy="1344168"/>
            <a:chOff x="0" y="0"/>
            <a:chExt cx="7315200" cy="1792224"/>
          </a:xfrm>
        </p:grpSpPr>
        <p:sp>
          <p:nvSpPr>
            <p:cNvPr name="Freeform 22" id="22"/>
            <p:cNvSpPr/>
            <p:nvPr/>
          </p:nvSpPr>
          <p:spPr>
            <a:xfrm flipH="false" flipV="false" rot="0">
              <a:off x="0" y="0"/>
              <a:ext cx="7315200" cy="1792224"/>
            </a:xfrm>
            <a:custGeom>
              <a:avLst/>
              <a:gdLst/>
              <a:ahLst/>
              <a:cxnLst/>
              <a:rect r="r" b="b" t="t" l="l"/>
              <a:pathLst>
                <a:path h="1792224" w="7315200">
                  <a:moveTo>
                    <a:pt x="0" y="0"/>
                  </a:moveTo>
                  <a:lnTo>
                    <a:pt x="7315200" y="0"/>
                  </a:lnTo>
                  <a:lnTo>
                    <a:pt x="7315200" y="1792224"/>
                  </a:lnTo>
                  <a:lnTo>
                    <a:pt x="0" y="1792224"/>
                  </a:lnTo>
                  <a:close/>
                </a:path>
              </a:pathLst>
            </a:custGeom>
            <a:blipFill>
              <a:blip r:embed="rId3">
                <a:alphaModFix amt="0"/>
              </a:blip>
              <a:stretch>
                <a:fillRect l="0" t="-29530" r="0" b="-29530"/>
              </a:stretch>
            </a:blipFill>
          </p:spPr>
        </p:sp>
        <p:sp>
          <p:nvSpPr>
            <p:cNvPr name="TextBox 23" id="23"/>
            <p:cNvSpPr txBox="true"/>
            <p:nvPr/>
          </p:nvSpPr>
          <p:spPr>
            <a:xfrm>
              <a:off x="0" y="-28575"/>
              <a:ext cx="7315200" cy="1820799"/>
            </a:xfrm>
            <a:prstGeom prst="rect">
              <a:avLst/>
            </a:prstGeom>
          </p:spPr>
          <p:txBody>
            <a:bodyPr anchor="ctr" rtlCol="false" tIns="0" lIns="0" bIns="0" rIns="0"/>
            <a:lstStyle/>
            <a:p>
              <a:pPr algn="l">
                <a:lnSpc>
                  <a:spcPts val="1950"/>
                </a:lnSpc>
              </a:pPr>
              <a:r>
                <a:rPr lang="en-US" sz="1575">
                  <a:solidFill>
                    <a:srgbClr val="23283A"/>
                  </a:solidFill>
                  <a:latin typeface="Calibri (MS)"/>
                  <a:ea typeface="Calibri (MS)"/>
                  <a:cs typeface="Calibri (MS)"/>
                  <a:sym typeface="Calibri (MS)"/>
                </a:rPr>
                <a:t>Why Prophet wins: automatic changepoint detection absorbs abrupt, irregular surges that trend-and-seasonality-only models smooth over</a:t>
              </a:r>
            </a:p>
          </p:txBody>
        </p:sp>
      </p:grpSp>
      <p:grpSp>
        <p:nvGrpSpPr>
          <p:cNvPr name="Group 24" id="24"/>
          <p:cNvGrpSpPr/>
          <p:nvPr/>
        </p:nvGrpSpPr>
        <p:grpSpPr>
          <a:xfrm rot="0">
            <a:off x="10816590" y="6552533"/>
            <a:ext cx="6602730" cy="1555242"/>
            <a:chOff x="0" y="0"/>
            <a:chExt cx="8803640" cy="2073656"/>
          </a:xfrm>
        </p:grpSpPr>
        <p:sp>
          <p:nvSpPr>
            <p:cNvPr name="Freeform 25" id="25"/>
            <p:cNvSpPr/>
            <p:nvPr/>
          </p:nvSpPr>
          <p:spPr>
            <a:xfrm flipH="false" flipV="false" rot="0">
              <a:off x="0" y="0"/>
              <a:ext cx="8803640" cy="2073656"/>
            </a:xfrm>
            <a:custGeom>
              <a:avLst/>
              <a:gdLst/>
              <a:ahLst/>
              <a:cxnLst/>
              <a:rect r="r" b="b" t="t" l="l"/>
              <a:pathLst>
                <a:path h="2073656" w="8803640">
                  <a:moveTo>
                    <a:pt x="0" y="185166"/>
                  </a:moveTo>
                  <a:cubicBezTo>
                    <a:pt x="0" y="82931"/>
                    <a:pt x="82931" y="0"/>
                    <a:pt x="185166" y="0"/>
                  </a:cubicBezTo>
                  <a:lnTo>
                    <a:pt x="8618474" y="0"/>
                  </a:lnTo>
                  <a:cubicBezTo>
                    <a:pt x="8720709" y="0"/>
                    <a:pt x="8803640" y="82931"/>
                    <a:pt x="8803640" y="185166"/>
                  </a:cubicBezTo>
                  <a:lnTo>
                    <a:pt x="8803640" y="1888490"/>
                  </a:lnTo>
                  <a:cubicBezTo>
                    <a:pt x="8803640" y="1990725"/>
                    <a:pt x="8720709" y="2073656"/>
                    <a:pt x="8618474" y="2073656"/>
                  </a:cubicBezTo>
                  <a:lnTo>
                    <a:pt x="185166" y="2073656"/>
                  </a:lnTo>
                  <a:cubicBezTo>
                    <a:pt x="82931" y="2073656"/>
                    <a:pt x="0" y="1990725"/>
                    <a:pt x="0" y="1888490"/>
                  </a:cubicBezTo>
                  <a:close/>
                </a:path>
              </a:pathLst>
            </a:custGeom>
            <a:solidFill>
              <a:srgbClr val="FFFFFF"/>
            </a:solidFill>
            <a:ln w="19050" cap="sq">
              <a:solidFill>
                <a:srgbClr val="CADCFC"/>
              </a:solidFill>
              <a:prstDash val="solid"/>
              <a:miter/>
            </a:ln>
          </p:spPr>
        </p:sp>
      </p:grpSp>
      <p:grpSp>
        <p:nvGrpSpPr>
          <p:cNvPr name="Group 26" id="26"/>
          <p:cNvGrpSpPr/>
          <p:nvPr/>
        </p:nvGrpSpPr>
        <p:grpSpPr>
          <a:xfrm rot="0">
            <a:off x="11109960" y="6408610"/>
            <a:ext cx="5486400" cy="1344168"/>
            <a:chOff x="0" y="0"/>
            <a:chExt cx="7315200" cy="1792224"/>
          </a:xfrm>
        </p:grpSpPr>
        <p:sp>
          <p:nvSpPr>
            <p:cNvPr name="Freeform 27" id="27"/>
            <p:cNvSpPr/>
            <p:nvPr/>
          </p:nvSpPr>
          <p:spPr>
            <a:xfrm flipH="false" flipV="false" rot="0">
              <a:off x="0" y="0"/>
              <a:ext cx="7315200" cy="1792224"/>
            </a:xfrm>
            <a:custGeom>
              <a:avLst/>
              <a:gdLst/>
              <a:ahLst/>
              <a:cxnLst/>
              <a:rect r="r" b="b" t="t" l="l"/>
              <a:pathLst>
                <a:path h="1792224" w="7315200">
                  <a:moveTo>
                    <a:pt x="0" y="0"/>
                  </a:moveTo>
                  <a:lnTo>
                    <a:pt x="7315200" y="0"/>
                  </a:lnTo>
                  <a:lnTo>
                    <a:pt x="7315200" y="1792224"/>
                  </a:lnTo>
                  <a:lnTo>
                    <a:pt x="0" y="1792224"/>
                  </a:lnTo>
                  <a:close/>
                </a:path>
              </a:pathLst>
            </a:custGeom>
            <a:blipFill>
              <a:blip r:embed="rId3">
                <a:alphaModFix amt="0"/>
              </a:blip>
              <a:stretch>
                <a:fillRect l="0" t="-29530" r="0" b="-29530"/>
              </a:stretch>
            </a:blipFill>
          </p:spPr>
        </p:sp>
        <p:sp>
          <p:nvSpPr>
            <p:cNvPr name="TextBox 28" id="28"/>
            <p:cNvSpPr txBox="true"/>
            <p:nvPr/>
          </p:nvSpPr>
          <p:spPr>
            <a:xfrm>
              <a:off x="0" y="-28575"/>
              <a:ext cx="7315200" cy="1820799"/>
            </a:xfrm>
            <a:prstGeom prst="rect">
              <a:avLst/>
            </a:prstGeom>
          </p:spPr>
          <p:txBody>
            <a:bodyPr anchor="ctr" rtlCol="false" tIns="0" lIns="0" bIns="0" rIns="0"/>
            <a:lstStyle/>
            <a:p>
              <a:pPr algn="l">
                <a:lnSpc>
                  <a:spcPts val="1950"/>
                </a:lnSpc>
              </a:pPr>
              <a:r>
                <a:rPr lang="en-US" sz="1575">
                  <a:solidFill>
                    <a:srgbClr val="23283A"/>
                  </a:solidFill>
                  <a:latin typeface="Calibri (MS)"/>
                  <a:ea typeface="Calibri (MS)"/>
                  <a:cs typeface="Calibri (MS)"/>
                  <a:sym typeface="Calibri (MS)"/>
                </a:rPr>
                <a:t>Business takeaway: the most volatile region needs the most flexible model — not necessarily the most complex-sounding one</a:t>
              </a:r>
            </a:p>
          </p:txBody>
        </p:sp>
      </p:grpSp>
      <p:grpSp>
        <p:nvGrpSpPr>
          <p:cNvPr name="Group 29" id="29"/>
          <p:cNvGrpSpPr/>
          <p:nvPr/>
        </p:nvGrpSpPr>
        <p:grpSpPr>
          <a:xfrm rot="0">
            <a:off x="10976610" y="7876604"/>
            <a:ext cx="6442710" cy="1979999"/>
            <a:chOff x="0" y="0"/>
            <a:chExt cx="12468043" cy="3831727"/>
          </a:xfrm>
        </p:grpSpPr>
        <p:sp>
          <p:nvSpPr>
            <p:cNvPr name="Freeform 30" id="30"/>
            <p:cNvSpPr/>
            <p:nvPr/>
          </p:nvSpPr>
          <p:spPr>
            <a:xfrm flipH="false" flipV="false" rot="0">
              <a:off x="0" y="0"/>
              <a:ext cx="12468043" cy="3831727"/>
            </a:xfrm>
            <a:custGeom>
              <a:avLst/>
              <a:gdLst/>
              <a:ahLst/>
              <a:cxnLst/>
              <a:rect r="r" b="b" t="t" l="l"/>
              <a:pathLst>
                <a:path h="3831727" w="12468043">
                  <a:moveTo>
                    <a:pt x="0" y="0"/>
                  </a:moveTo>
                  <a:lnTo>
                    <a:pt x="12468043" y="0"/>
                  </a:lnTo>
                  <a:lnTo>
                    <a:pt x="12468043" y="3831727"/>
                  </a:lnTo>
                  <a:lnTo>
                    <a:pt x="0" y="3831727"/>
                  </a:lnTo>
                  <a:close/>
                </a:path>
              </a:pathLst>
            </a:custGeom>
            <a:blipFill>
              <a:blip r:embed="rId3">
                <a:alphaModFix amt="0"/>
              </a:blip>
              <a:stretch>
                <a:fillRect l="0" t="-93295" r="-71614" b="-24319"/>
              </a:stretch>
            </a:blipFill>
          </p:spPr>
        </p:sp>
        <p:sp>
          <p:nvSpPr>
            <p:cNvPr name="TextBox 31" id="31"/>
            <p:cNvSpPr txBox="true"/>
            <p:nvPr/>
          </p:nvSpPr>
          <p:spPr>
            <a:xfrm>
              <a:off x="0" y="-38100"/>
              <a:ext cx="12468043" cy="3869827"/>
            </a:xfrm>
            <a:prstGeom prst="rect">
              <a:avLst/>
            </a:prstGeom>
          </p:spPr>
          <p:txBody>
            <a:bodyPr anchor="ctr" rtlCol="false" tIns="0" lIns="0" bIns="0" rIns="0"/>
            <a:lstStyle/>
            <a:p>
              <a:pPr algn="l">
                <a:lnSpc>
                  <a:spcPts val="2070"/>
                </a:lnSpc>
              </a:pPr>
              <a:r>
                <a:rPr lang="en-US" sz="1725" b="true">
                  <a:solidFill>
                    <a:srgbClr val="0E7C7B"/>
                  </a:solidFill>
                  <a:latin typeface="Calibri (MS) Bold"/>
                  <a:ea typeface="Calibri (MS) Bold"/>
                  <a:cs typeface="Calibri (MS) Bold"/>
                  <a:sym typeface="Calibri (MS) Bold"/>
                </a:rPr>
                <a:t>PROMPT USED:  </a:t>
              </a:r>
              <a:r>
                <a:rPr lang="en-US" sz="1725" i="true">
                  <a:solidFill>
                    <a:srgbClr val="23283A"/>
                  </a:solidFill>
                  <a:latin typeface="Calibri (MS) Italics"/>
                  <a:ea typeface="Calibri (MS) Italics"/>
                  <a:cs typeface="Calibri (MS) Italics"/>
                  <a:sym typeface="Calibri (MS) Italics"/>
                </a:rPr>
                <a:t>For any region where the best-performing method surprises you, explain using only the provided sources why that method might be winning there.</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4F6FB"/>
        </a:solidFill>
      </p:bgPr>
    </p:bg>
    <p:spTree>
      <p:nvGrpSpPr>
        <p:cNvPr id="1" name=""/>
        <p:cNvGrpSpPr/>
        <p:nvPr/>
      </p:nvGrpSpPr>
      <p:grpSpPr>
        <a:xfrm>
          <a:off x="0" y="0"/>
          <a:ext cx="0" cy="0"/>
          <a:chOff x="0" y="0"/>
          <a:chExt cx="0" cy="0"/>
        </a:xfrm>
      </p:grpSpPr>
      <p:grpSp>
        <p:nvGrpSpPr>
          <p:cNvPr name="Group 2" id="2"/>
          <p:cNvGrpSpPr/>
          <p:nvPr/>
        </p:nvGrpSpPr>
        <p:grpSpPr>
          <a:xfrm rot="0">
            <a:off x="822960" y="576072"/>
            <a:ext cx="10972800" cy="411480"/>
            <a:chOff x="0" y="0"/>
            <a:chExt cx="14630400" cy="548640"/>
          </a:xfrm>
        </p:grpSpPr>
        <p:sp>
          <p:nvSpPr>
            <p:cNvPr name="Freeform 3" id="3"/>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4" id="4"/>
            <p:cNvSpPr txBox="true"/>
            <p:nvPr/>
          </p:nvSpPr>
          <p:spPr>
            <a:xfrm>
              <a:off x="0" y="-38100"/>
              <a:ext cx="14630400" cy="586740"/>
            </a:xfrm>
            <a:prstGeom prst="rect">
              <a:avLst/>
            </a:prstGeom>
          </p:spPr>
          <p:txBody>
            <a:bodyPr anchor="ctr" rtlCol="false" tIns="0" lIns="0" bIns="0" rIns="0"/>
            <a:lstStyle/>
            <a:p>
              <a:pPr algn="l">
                <a:lnSpc>
                  <a:spcPts val="2160"/>
                </a:lnSpc>
              </a:pPr>
              <a:r>
                <a:rPr lang="en-US" b="true" sz="1800" spc="300">
                  <a:solidFill>
                    <a:srgbClr val="B08D57"/>
                  </a:solidFill>
                  <a:latin typeface="Calibri (MS) Bold"/>
                  <a:ea typeface="Calibri (MS) Bold"/>
                  <a:cs typeface="Calibri (MS) Bold"/>
                  <a:sym typeface="Calibri (MS) Bold"/>
                </a:rPr>
                <a:t>TASK 4 WALKTHROUGH</a:t>
              </a:r>
            </a:p>
          </p:txBody>
        </p:sp>
      </p:grpSp>
      <p:grpSp>
        <p:nvGrpSpPr>
          <p:cNvPr name="Group 5" id="5"/>
          <p:cNvGrpSpPr/>
          <p:nvPr/>
        </p:nvGrpSpPr>
        <p:grpSpPr>
          <a:xfrm rot="0">
            <a:off x="822960" y="987552"/>
            <a:ext cx="16596360" cy="1234440"/>
            <a:chOff x="0" y="0"/>
            <a:chExt cx="22128480" cy="1645920"/>
          </a:xfrm>
        </p:grpSpPr>
        <p:sp>
          <p:nvSpPr>
            <p:cNvPr name="Freeform 6" id="6"/>
            <p:cNvSpPr/>
            <p:nvPr/>
          </p:nvSpPr>
          <p:spPr>
            <a:xfrm flipH="false" flipV="false" rot="0">
              <a:off x="0" y="0"/>
              <a:ext cx="22128480" cy="1645920"/>
            </a:xfrm>
            <a:custGeom>
              <a:avLst/>
              <a:gdLst/>
              <a:ahLst/>
              <a:cxnLst/>
              <a:rect r="r" b="b" t="t" l="l"/>
              <a:pathLst>
                <a:path h="1645920" w="22128480">
                  <a:moveTo>
                    <a:pt x="0" y="0"/>
                  </a:moveTo>
                  <a:lnTo>
                    <a:pt x="22128480" y="0"/>
                  </a:lnTo>
                  <a:lnTo>
                    <a:pt x="22128480" y="1645920"/>
                  </a:lnTo>
                  <a:lnTo>
                    <a:pt x="0" y="1645920"/>
                  </a:lnTo>
                  <a:close/>
                </a:path>
              </a:pathLst>
            </a:custGeom>
            <a:blipFill>
              <a:blip r:embed="rId3">
                <a:alphaModFix amt="0"/>
              </a:blip>
              <a:stretch>
                <a:fillRect l="0" t="-211965" r="0" b="-211965"/>
              </a:stretch>
            </a:blipFill>
          </p:spPr>
        </p:sp>
        <p:sp>
          <p:nvSpPr>
            <p:cNvPr name="TextBox 7" id="7"/>
            <p:cNvSpPr txBox="true"/>
            <p:nvPr/>
          </p:nvSpPr>
          <p:spPr>
            <a:xfrm>
              <a:off x="0" y="-19050"/>
              <a:ext cx="22128480" cy="1664970"/>
            </a:xfrm>
            <a:prstGeom prst="rect">
              <a:avLst/>
            </a:prstGeom>
          </p:spPr>
          <p:txBody>
            <a:bodyPr anchor="ctr" rtlCol="false" tIns="0" lIns="0" bIns="0" rIns="0"/>
            <a:lstStyle/>
            <a:p>
              <a:pPr algn="l">
                <a:lnSpc>
                  <a:spcPts val="5400"/>
                </a:lnSpc>
              </a:pPr>
              <a:r>
                <a:rPr lang="en-US" sz="4500" b="true">
                  <a:solidFill>
                    <a:srgbClr val="1E2761"/>
                  </a:solidFill>
                  <a:latin typeface="Cambria Bold"/>
                  <a:ea typeface="Cambria Bold"/>
                  <a:cs typeface="Cambria Bold"/>
                  <a:sym typeface="Cambria Bold"/>
                </a:rPr>
                <a:t>Simple Wins: East Region, Overfitting &amp; Model-Complexity Fit</a:t>
              </a:r>
            </a:p>
          </p:txBody>
        </p:sp>
      </p:grpSp>
      <p:pic>
        <p:nvPicPr>
          <p:cNvPr name="Picture 8" id="8"/>
          <p:cNvPicPr>
            <a:picLocks noChangeAspect="true"/>
          </p:cNvPicPr>
          <p:nvPr/>
        </p:nvPicPr>
        <p:blipFill>
          <a:blip r:embed="rId4"/>
          <a:stretch>
            <a:fillRect/>
          </a:stretch>
        </p:blipFill>
        <p:spPr>
          <a:xfrm rot="0">
            <a:off x="-150876" y="1563624"/>
            <a:ext cx="11686032" cy="8668512"/>
          </a:xfrm>
          <a:prstGeom prst="rect">
            <a:avLst/>
          </a:prstGeom>
        </p:spPr>
      </p:pic>
      <p:grpSp>
        <p:nvGrpSpPr>
          <p:cNvPr name="Group 9" id="9"/>
          <p:cNvGrpSpPr/>
          <p:nvPr/>
        </p:nvGrpSpPr>
        <p:grpSpPr>
          <a:xfrm rot="0">
            <a:off x="10894695" y="2221992"/>
            <a:ext cx="6602730" cy="1555242"/>
            <a:chOff x="0" y="0"/>
            <a:chExt cx="8803640" cy="2073656"/>
          </a:xfrm>
        </p:grpSpPr>
        <p:sp>
          <p:nvSpPr>
            <p:cNvPr name="Freeform 10" id="10"/>
            <p:cNvSpPr/>
            <p:nvPr/>
          </p:nvSpPr>
          <p:spPr>
            <a:xfrm flipH="false" flipV="false" rot="0">
              <a:off x="0" y="0"/>
              <a:ext cx="8803640" cy="2073656"/>
            </a:xfrm>
            <a:custGeom>
              <a:avLst/>
              <a:gdLst/>
              <a:ahLst/>
              <a:cxnLst/>
              <a:rect r="r" b="b" t="t" l="l"/>
              <a:pathLst>
                <a:path h="2073656" w="8803640">
                  <a:moveTo>
                    <a:pt x="0" y="185166"/>
                  </a:moveTo>
                  <a:cubicBezTo>
                    <a:pt x="0" y="82931"/>
                    <a:pt x="82931" y="0"/>
                    <a:pt x="185166" y="0"/>
                  </a:cubicBezTo>
                  <a:lnTo>
                    <a:pt x="8618474" y="0"/>
                  </a:lnTo>
                  <a:cubicBezTo>
                    <a:pt x="8720709" y="0"/>
                    <a:pt x="8803640" y="82931"/>
                    <a:pt x="8803640" y="185166"/>
                  </a:cubicBezTo>
                  <a:lnTo>
                    <a:pt x="8803640" y="1888490"/>
                  </a:lnTo>
                  <a:cubicBezTo>
                    <a:pt x="8803640" y="1990725"/>
                    <a:pt x="8720709" y="2073656"/>
                    <a:pt x="8618474" y="2073656"/>
                  </a:cubicBezTo>
                  <a:lnTo>
                    <a:pt x="185166" y="2073656"/>
                  </a:lnTo>
                  <a:cubicBezTo>
                    <a:pt x="82931" y="2073656"/>
                    <a:pt x="0" y="1990725"/>
                    <a:pt x="0" y="1888490"/>
                  </a:cubicBezTo>
                  <a:close/>
                </a:path>
              </a:pathLst>
            </a:custGeom>
            <a:solidFill>
              <a:srgbClr val="FFFFFF"/>
            </a:solidFill>
            <a:ln w="19050" cap="sq">
              <a:solidFill>
                <a:srgbClr val="CADCFC"/>
              </a:solidFill>
              <a:prstDash val="solid"/>
              <a:miter/>
            </a:ln>
          </p:spPr>
        </p:sp>
      </p:grpSp>
      <p:grpSp>
        <p:nvGrpSpPr>
          <p:cNvPr name="Group 11" id="11"/>
          <p:cNvGrpSpPr/>
          <p:nvPr/>
        </p:nvGrpSpPr>
        <p:grpSpPr>
          <a:xfrm rot="0">
            <a:off x="11452860" y="2221992"/>
            <a:ext cx="5486400" cy="1344168"/>
            <a:chOff x="0" y="0"/>
            <a:chExt cx="7315200" cy="1792224"/>
          </a:xfrm>
        </p:grpSpPr>
        <p:sp>
          <p:nvSpPr>
            <p:cNvPr name="Freeform 12" id="12"/>
            <p:cNvSpPr/>
            <p:nvPr/>
          </p:nvSpPr>
          <p:spPr>
            <a:xfrm flipH="false" flipV="false" rot="0">
              <a:off x="0" y="0"/>
              <a:ext cx="7315200" cy="1792224"/>
            </a:xfrm>
            <a:custGeom>
              <a:avLst/>
              <a:gdLst/>
              <a:ahLst/>
              <a:cxnLst/>
              <a:rect r="r" b="b" t="t" l="l"/>
              <a:pathLst>
                <a:path h="1792224" w="7315200">
                  <a:moveTo>
                    <a:pt x="0" y="0"/>
                  </a:moveTo>
                  <a:lnTo>
                    <a:pt x="7315200" y="0"/>
                  </a:lnTo>
                  <a:lnTo>
                    <a:pt x="7315200" y="1792224"/>
                  </a:lnTo>
                  <a:lnTo>
                    <a:pt x="0" y="1792224"/>
                  </a:lnTo>
                  <a:close/>
                </a:path>
              </a:pathLst>
            </a:custGeom>
            <a:blipFill>
              <a:blip r:embed="rId3">
                <a:alphaModFix amt="0"/>
              </a:blip>
              <a:stretch>
                <a:fillRect l="0" t="-29530" r="0" b="-29530"/>
              </a:stretch>
            </a:blipFill>
          </p:spPr>
        </p:sp>
        <p:sp>
          <p:nvSpPr>
            <p:cNvPr name="TextBox 13" id="13"/>
            <p:cNvSpPr txBox="true"/>
            <p:nvPr/>
          </p:nvSpPr>
          <p:spPr>
            <a:xfrm>
              <a:off x="0" y="-28575"/>
              <a:ext cx="7315200" cy="1820799"/>
            </a:xfrm>
            <a:prstGeom prst="rect">
              <a:avLst/>
            </a:prstGeom>
          </p:spPr>
          <p:txBody>
            <a:bodyPr anchor="ctr" rtlCol="false" tIns="0" lIns="0" bIns="0" rIns="0"/>
            <a:lstStyle/>
            <a:p>
              <a:pPr algn="l">
                <a:lnSpc>
                  <a:spcPts val="1950"/>
                </a:lnSpc>
              </a:pPr>
              <a:r>
                <a:rPr lang="en-US" sz="1575">
                  <a:solidFill>
                    <a:srgbClr val="23283A"/>
                  </a:solidFill>
                  <a:latin typeface="Calibri (MS)"/>
                  <a:ea typeface="Calibri (MS)"/>
                  <a:cs typeface="Calibri (MS)"/>
                  <a:sym typeface="Calibri (MS)"/>
                </a:rPr>
                <a:t>Error rates: Naive 5.1%  ·  SES 5.3%  ·  Holt Linear 6.8%  ·  Holt-Winters 8.2%  ·  ARIMA 7.1%  ·  Prophet 7.9%</a:t>
              </a:r>
            </a:p>
          </p:txBody>
        </p:sp>
      </p:grpSp>
      <p:grpSp>
        <p:nvGrpSpPr>
          <p:cNvPr name="Group 14" id="14"/>
          <p:cNvGrpSpPr/>
          <p:nvPr/>
        </p:nvGrpSpPr>
        <p:grpSpPr>
          <a:xfrm rot="0">
            <a:off x="10953750" y="3659886"/>
            <a:ext cx="6602730" cy="1555242"/>
            <a:chOff x="0" y="0"/>
            <a:chExt cx="8803640" cy="2073656"/>
          </a:xfrm>
        </p:grpSpPr>
        <p:sp>
          <p:nvSpPr>
            <p:cNvPr name="Freeform 15" id="15"/>
            <p:cNvSpPr/>
            <p:nvPr/>
          </p:nvSpPr>
          <p:spPr>
            <a:xfrm flipH="false" flipV="false" rot="0">
              <a:off x="0" y="0"/>
              <a:ext cx="8803640" cy="2073656"/>
            </a:xfrm>
            <a:custGeom>
              <a:avLst/>
              <a:gdLst/>
              <a:ahLst/>
              <a:cxnLst/>
              <a:rect r="r" b="b" t="t" l="l"/>
              <a:pathLst>
                <a:path h="2073656" w="8803640">
                  <a:moveTo>
                    <a:pt x="0" y="185166"/>
                  </a:moveTo>
                  <a:cubicBezTo>
                    <a:pt x="0" y="82931"/>
                    <a:pt x="82931" y="0"/>
                    <a:pt x="185166" y="0"/>
                  </a:cubicBezTo>
                  <a:lnTo>
                    <a:pt x="8618474" y="0"/>
                  </a:lnTo>
                  <a:cubicBezTo>
                    <a:pt x="8720709" y="0"/>
                    <a:pt x="8803640" y="82931"/>
                    <a:pt x="8803640" y="185166"/>
                  </a:cubicBezTo>
                  <a:lnTo>
                    <a:pt x="8803640" y="1888490"/>
                  </a:lnTo>
                  <a:cubicBezTo>
                    <a:pt x="8803640" y="1990725"/>
                    <a:pt x="8720709" y="2073656"/>
                    <a:pt x="8618474" y="2073656"/>
                  </a:cubicBezTo>
                  <a:lnTo>
                    <a:pt x="185166" y="2073656"/>
                  </a:lnTo>
                  <a:cubicBezTo>
                    <a:pt x="82931" y="2073656"/>
                    <a:pt x="0" y="1990725"/>
                    <a:pt x="0" y="1888490"/>
                  </a:cubicBezTo>
                  <a:close/>
                </a:path>
              </a:pathLst>
            </a:custGeom>
            <a:solidFill>
              <a:srgbClr val="FFFFFF"/>
            </a:solidFill>
            <a:ln w="19050" cap="sq">
              <a:solidFill>
                <a:srgbClr val="CADCFC"/>
              </a:solidFill>
              <a:prstDash val="solid"/>
              <a:miter/>
            </a:ln>
          </p:spPr>
        </p:sp>
      </p:grpSp>
      <p:grpSp>
        <p:nvGrpSpPr>
          <p:cNvPr name="Group 16" id="16"/>
          <p:cNvGrpSpPr/>
          <p:nvPr/>
        </p:nvGrpSpPr>
        <p:grpSpPr>
          <a:xfrm rot="0">
            <a:off x="11452860" y="3636836"/>
            <a:ext cx="5486400" cy="1344168"/>
            <a:chOff x="0" y="0"/>
            <a:chExt cx="7315200" cy="1792224"/>
          </a:xfrm>
        </p:grpSpPr>
        <p:sp>
          <p:nvSpPr>
            <p:cNvPr name="Freeform 17" id="17"/>
            <p:cNvSpPr/>
            <p:nvPr/>
          </p:nvSpPr>
          <p:spPr>
            <a:xfrm flipH="false" flipV="false" rot="0">
              <a:off x="0" y="0"/>
              <a:ext cx="7315200" cy="1792224"/>
            </a:xfrm>
            <a:custGeom>
              <a:avLst/>
              <a:gdLst/>
              <a:ahLst/>
              <a:cxnLst/>
              <a:rect r="r" b="b" t="t" l="l"/>
              <a:pathLst>
                <a:path h="1792224" w="7315200">
                  <a:moveTo>
                    <a:pt x="0" y="0"/>
                  </a:moveTo>
                  <a:lnTo>
                    <a:pt x="7315200" y="0"/>
                  </a:lnTo>
                  <a:lnTo>
                    <a:pt x="7315200" y="1792224"/>
                  </a:lnTo>
                  <a:lnTo>
                    <a:pt x="0" y="1792224"/>
                  </a:lnTo>
                  <a:close/>
                </a:path>
              </a:pathLst>
            </a:custGeom>
            <a:blipFill>
              <a:blip r:embed="rId3">
                <a:alphaModFix amt="0"/>
              </a:blip>
              <a:stretch>
                <a:fillRect l="0" t="-29530" r="0" b="-29530"/>
              </a:stretch>
            </a:blipFill>
          </p:spPr>
        </p:sp>
        <p:sp>
          <p:nvSpPr>
            <p:cNvPr name="TextBox 18" id="18"/>
            <p:cNvSpPr txBox="true"/>
            <p:nvPr/>
          </p:nvSpPr>
          <p:spPr>
            <a:xfrm>
              <a:off x="0" y="-28575"/>
              <a:ext cx="7315200" cy="1820799"/>
            </a:xfrm>
            <a:prstGeom prst="rect">
              <a:avLst/>
            </a:prstGeom>
          </p:spPr>
          <p:txBody>
            <a:bodyPr anchor="ctr" rtlCol="false" tIns="0" lIns="0" bIns="0" rIns="0"/>
            <a:lstStyle/>
            <a:p>
              <a:pPr algn="l">
                <a:lnSpc>
                  <a:spcPts val="1950"/>
                </a:lnSpc>
              </a:pPr>
              <a:r>
                <a:rPr lang="en-US" sz="1575">
                  <a:solidFill>
                    <a:srgbClr val="23283A"/>
                  </a:solidFill>
                  <a:latin typeface="Calibri (MS)"/>
                  <a:ea typeface="Calibri (MS)"/>
                  <a:cs typeface="Calibri (MS)"/>
                  <a:sym typeface="Calibri (MS)"/>
                </a:rPr>
                <a:t>Analyst note: very stable, flat demand with minor random variation, no significant trend or seasonality</a:t>
              </a:r>
            </a:p>
          </p:txBody>
        </p:sp>
      </p:grpSp>
      <p:grpSp>
        <p:nvGrpSpPr>
          <p:cNvPr name="Group 19" id="19"/>
          <p:cNvGrpSpPr/>
          <p:nvPr/>
        </p:nvGrpSpPr>
        <p:grpSpPr>
          <a:xfrm rot="0">
            <a:off x="10953750" y="5281803"/>
            <a:ext cx="6602730" cy="1555242"/>
            <a:chOff x="0" y="0"/>
            <a:chExt cx="8803640" cy="2073656"/>
          </a:xfrm>
        </p:grpSpPr>
        <p:sp>
          <p:nvSpPr>
            <p:cNvPr name="Freeform 20" id="20"/>
            <p:cNvSpPr/>
            <p:nvPr/>
          </p:nvSpPr>
          <p:spPr>
            <a:xfrm flipH="false" flipV="false" rot="0">
              <a:off x="0" y="0"/>
              <a:ext cx="8803640" cy="2073656"/>
            </a:xfrm>
            <a:custGeom>
              <a:avLst/>
              <a:gdLst/>
              <a:ahLst/>
              <a:cxnLst/>
              <a:rect r="r" b="b" t="t" l="l"/>
              <a:pathLst>
                <a:path h="2073656" w="8803640">
                  <a:moveTo>
                    <a:pt x="0" y="185166"/>
                  </a:moveTo>
                  <a:cubicBezTo>
                    <a:pt x="0" y="82931"/>
                    <a:pt x="82931" y="0"/>
                    <a:pt x="185166" y="0"/>
                  </a:cubicBezTo>
                  <a:lnTo>
                    <a:pt x="8618474" y="0"/>
                  </a:lnTo>
                  <a:cubicBezTo>
                    <a:pt x="8720709" y="0"/>
                    <a:pt x="8803640" y="82931"/>
                    <a:pt x="8803640" y="185166"/>
                  </a:cubicBezTo>
                  <a:lnTo>
                    <a:pt x="8803640" y="1888490"/>
                  </a:lnTo>
                  <a:cubicBezTo>
                    <a:pt x="8803640" y="1990725"/>
                    <a:pt x="8720709" y="2073656"/>
                    <a:pt x="8618474" y="2073656"/>
                  </a:cubicBezTo>
                  <a:lnTo>
                    <a:pt x="185166" y="2073656"/>
                  </a:lnTo>
                  <a:cubicBezTo>
                    <a:pt x="82931" y="2073656"/>
                    <a:pt x="0" y="1990725"/>
                    <a:pt x="0" y="1888490"/>
                  </a:cubicBezTo>
                  <a:close/>
                </a:path>
              </a:pathLst>
            </a:custGeom>
            <a:solidFill>
              <a:srgbClr val="FFFFFF"/>
            </a:solidFill>
            <a:ln w="19050" cap="sq">
              <a:solidFill>
                <a:srgbClr val="CADCFC"/>
              </a:solidFill>
              <a:prstDash val="solid"/>
              <a:miter/>
            </a:ln>
          </p:spPr>
        </p:sp>
      </p:grpSp>
      <p:grpSp>
        <p:nvGrpSpPr>
          <p:cNvPr name="Group 21" id="21"/>
          <p:cNvGrpSpPr/>
          <p:nvPr/>
        </p:nvGrpSpPr>
        <p:grpSpPr>
          <a:xfrm rot="0">
            <a:off x="11511915" y="5362956"/>
            <a:ext cx="5486400" cy="1344168"/>
            <a:chOff x="0" y="0"/>
            <a:chExt cx="7315200" cy="1792224"/>
          </a:xfrm>
        </p:grpSpPr>
        <p:sp>
          <p:nvSpPr>
            <p:cNvPr name="Freeform 22" id="22"/>
            <p:cNvSpPr/>
            <p:nvPr/>
          </p:nvSpPr>
          <p:spPr>
            <a:xfrm flipH="false" flipV="false" rot="0">
              <a:off x="0" y="0"/>
              <a:ext cx="7315200" cy="1792224"/>
            </a:xfrm>
            <a:custGeom>
              <a:avLst/>
              <a:gdLst/>
              <a:ahLst/>
              <a:cxnLst/>
              <a:rect r="r" b="b" t="t" l="l"/>
              <a:pathLst>
                <a:path h="1792224" w="7315200">
                  <a:moveTo>
                    <a:pt x="0" y="0"/>
                  </a:moveTo>
                  <a:lnTo>
                    <a:pt x="7315200" y="0"/>
                  </a:lnTo>
                  <a:lnTo>
                    <a:pt x="7315200" y="1792224"/>
                  </a:lnTo>
                  <a:lnTo>
                    <a:pt x="0" y="1792224"/>
                  </a:lnTo>
                  <a:close/>
                </a:path>
              </a:pathLst>
            </a:custGeom>
            <a:blipFill>
              <a:blip r:embed="rId3">
                <a:alphaModFix amt="0"/>
              </a:blip>
              <a:stretch>
                <a:fillRect l="0" t="-29530" r="0" b="-29530"/>
              </a:stretch>
            </a:blipFill>
          </p:spPr>
        </p:sp>
        <p:sp>
          <p:nvSpPr>
            <p:cNvPr name="TextBox 23" id="23"/>
            <p:cNvSpPr txBox="true"/>
            <p:nvPr/>
          </p:nvSpPr>
          <p:spPr>
            <a:xfrm>
              <a:off x="0" y="-28575"/>
              <a:ext cx="7315200" cy="1820799"/>
            </a:xfrm>
            <a:prstGeom prst="rect">
              <a:avLst/>
            </a:prstGeom>
          </p:spPr>
          <p:txBody>
            <a:bodyPr anchor="ctr" rtlCol="false" tIns="0" lIns="0" bIns="0" rIns="0"/>
            <a:lstStyle/>
            <a:p>
              <a:pPr algn="l">
                <a:lnSpc>
                  <a:spcPts val="1950"/>
                </a:lnSpc>
              </a:pPr>
              <a:r>
                <a:rPr lang="en-US" sz="1575">
                  <a:solidFill>
                    <a:srgbClr val="23283A"/>
                  </a:solidFill>
                  <a:latin typeface="Calibri (MS)"/>
                  <a:ea typeface="Calibri (MS)"/>
                  <a:cs typeface="Calibri (MS)"/>
                  <a:sym typeface="Calibri (MS)"/>
                </a:rPr>
                <a:t>Finding: every added layer of model complexity increases error in this region — a textbook overfitting signature</a:t>
              </a:r>
            </a:p>
          </p:txBody>
        </p:sp>
      </p:grpSp>
      <p:grpSp>
        <p:nvGrpSpPr>
          <p:cNvPr name="Group 24" id="24"/>
          <p:cNvGrpSpPr/>
          <p:nvPr/>
        </p:nvGrpSpPr>
        <p:grpSpPr>
          <a:xfrm rot="0">
            <a:off x="10953750" y="6932295"/>
            <a:ext cx="6602730" cy="1555242"/>
            <a:chOff x="0" y="0"/>
            <a:chExt cx="8803640" cy="2073656"/>
          </a:xfrm>
        </p:grpSpPr>
        <p:sp>
          <p:nvSpPr>
            <p:cNvPr name="Freeform 25" id="25"/>
            <p:cNvSpPr/>
            <p:nvPr/>
          </p:nvSpPr>
          <p:spPr>
            <a:xfrm flipH="false" flipV="false" rot="0">
              <a:off x="0" y="0"/>
              <a:ext cx="8803640" cy="2073656"/>
            </a:xfrm>
            <a:custGeom>
              <a:avLst/>
              <a:gdLst/>
              <a:ahLst/>
              <a:cxnLst/>
              <a:rect r="r" b="b" t="t" l="l"/>
              <a:pathLst>
                <a:path h="2073656" w="8803640">
                  <a:moveTo>
                    <a:pt x="0" y="185166"/>
                  </a:moveTo>
                  <a:cubicBezTo>
                    <a:pt x="0" y="82931"/>
                    <a:pt x="82931" y="0"/>
                    <a:pt x="185166" y="0"/>
                  </a:cubicBezTo>
                  <a:lnTo>
                    <a:pt x="8618474" y="0"/>
                  </a:lnTo>
                  <a:cubicBezTo>
                    <a:pt x="8720709" y="0"/>
                    <a:pt x="8803640" y="82931"/>
                    <a:pt x="8803640" y="185166"/>
                  </a:cubicBezTo>
                  <a:lnTo>
                    <a:pt x="8803640" y="1888490"/>
                  </a:lnTo>
                  <a:cubicBezTo>
                    <a:pt x="8803640" y="1990725"/>
                    <a:pt x="8720709" y="2073656"/>
                    <a:pt x="8618474" y="2073656"/>
                  </a:cubicBezTo>
                  <a:lnTo>
                    <a:pt x="185166" y="2073656"/>
                  </a:lnTo>
                  <a:cubicBezTo>
                    <a:pt x="82931" y="2073656"/>
                    <a:pt x="0" y="1990725"/>
                    <a:pt x="0" y="1888490"/>
                  </a:cubicBezTo>
                  <a:close/>
                </a:path>
              </a:pathLst>
            </a:custGeom>
            <a:solidFill>
              <a:srgbClr val="FFFFFF"/>
            </a:solidFill>
            <a:ln w="19050" cap="sq">
              <a:solidFill>
                <a:srgbClr val="CADCFC"/>
              </a:solidFill>
              <a:prstDash val="solid"/>
              <a:miter/>
            </a:ln>
          </p:spPr>
        </p:sp>
      </p:grpSp>
      <p:grpSp>
        <p:nvGrpSpPr>
          <p:cNvPr name="Group 26" id="26"/>
          <p:cNvGrpSpPr/>
          <p:nvPr/>
        </p:nvGrpSpPr>
        <p:grpSpPr>
          <a:xfrm rot="0">
            <a:off x="11511915" y="6838950"/>
            <a:ext cx="5486400" cy="1344168"/>
            <a:chOff x="0" y="0"/>
            <a:chExt cx="7315200" cy="1792224"/>
          </a:xfrm>
        </p:grpSpPr>
        <p:sp>
          <p:nvSpPr>
            <p:cNvPr name="Freeform 27" id="27"/>
            <p:cNvSpPr/>
            <p:nvPr/>
          </p:nvSpPr>
          <p:spPr>
            <a:xfrm flipH="false" flipV="false" rot="0">
              <a:off x="0" y="0"/>
              <a:ext cx="7315200" cy="1792224"/>
            </a:xfrm>
            <a:custGeom>
              <a:avLst/>
              <a:gdLst/>
              <a:ahLst/>
              <a:cxnLst/>
              <a:rect r="r" b="b" t="t" l="l"/>
              <a:pathLst>
                <a:path h="1792224" w="7315200">
                  <a:moveTo>
                    <a:pt x="0" y="0"/>
                  </a:moveTo>
                  <a:lnTo>
                    <a:pt x="7315200" y="0"/>
                  </a:lnTo>
                  <a:lnTo>
                    <a:pt x="7315200" y="1792224"/>
                  </a:lnTo>
                  <a:lnTo>
                    <a:pt x="0" y="1792224"/>
                  </a:lnTo>
                  <a:close/>
                </a:path>
              </a:pathLst>
            </a:custGeom>
            <a:blipFill>
              <a:blip r:embed="rId3">
                <a:alphaModFix amt="0"/>
              </a:blip>
              <a:stretch>
                <a:fillRect l="0" t="-29530" r="0" b="-29530"/>
              </a:stretch>
            </a:blipFill>
          </p:spPr>
        </p:sp>
        <p:sp>
          <p:nvSpPr>
            <p:cNvPr name="TextBox 28" id="28"/>
            <p:cNvSpPr txBox="true"/>
            <p:nvPr/>
          </p:nvSpPr>
          <p:spPr>
            <a:xfrm>
              <a:off x="0" y="-28575"/>
              <a:ext cx="7315200" cy="1820799"/>
            </a:xfrm>
            <a:prstGeom prst="rect">
              <a:avLst/>
            </a:prstGeom>
          </p:spPr>
          <p:txBody>
            <a:bodyPr anchor="ctr" rtlCol="false" tIns="0" lIns="0" bIns="0" rIns="0"/>
            <a:lstStyle/>
            <a:p>
              <a:pPr algn="l">
                <a:lnSpc>
                  <a:spcPts val="1950"/>
                </a:lnSpc>
              </a:pPr>
              <a:r>
                <a:rPr lang="en-US" sz="1575">
                  <a:solidFill>
                    <a:srgbClr val="23283A"/>
                  </a:solidFill>
                  <a:latin typeface="Calibri (MS)"/>
                  <a:ea typeface="Calibri (MS)"/>
                  <a:cs typeface="Calibri (MS)"/>
                  <a:sym typeface="Calibri (MS)"/>
                </a:rPr>
                <a:t>Business takeaway: match model complexity to demand complexity — sophistication is not automatically accuracy</a:t>
              </a:r>
            </a:p>
          </p:txBody>
        </p:sp>
      </p:grpSp>
      <p:grpSp>
        <p:nvGrpSpPr>
          <p:cNvPr name="Group 29" id="29"/>
          <p:cNvGrpSpPr/>
          <p:nvPr/>
        </p:nvGrpSpPr>
        <p:grpSpPr>
          <a:xfrm rot="0">
            <a:off x="10953750" y="8075295"/>
            <a:ext cx="7010400" cy="1979999"/>
            <a:chOff x="0" y="0"/>
            <a:chExt cx="13566646" cy="3831727"/>
          </a:xfrm>
        </p:grpSpPr>
        <p:sp>
          <p:nvSpPr>
            <p:cNvPr name="Freeform 30" id="30"/>
            <p:cNvSpPr/>
            <p:nvPr/>
          </p:nvSpPr>
          <p:spPr>
            <a:xfrm flipH="false" flipV="false" rot="0">
              <a:off x="0" y="0"/>
              <a:ext cx="13566646" cy="3831727"/>
            </a:xfrm>
            <a:custGeom>
              <a:avLst/>
              <a:gdLst/>
              <a:ahLst/>
              <a:cxnLst/>
              <a:rect r="r" b="b" t="t" l="l"/>
              <a:pathLst>
                <a:path h="3831727" w="13566646">
                  <a:moveTo>
                    <a:pt x="0" y="0"/>
                  </a:moveTo>
                  <a:lnTo>
                    <a:pt x="13566646" y="0"/>
                  </a:lnTo>
                  <a:lnTo>
                    <a:pt x="13566646" y="3831727"/>
                  </a:lnTo>
                  <a:lnTo>
                    <a:pt x="0" y="3831727"/>
                  </a:lnTo>
                  <a:close/>
                </a:path>
              </a:pathLst>
            </a:custGeom>
            <a:blipFill>
              <a:blip r:embed="rId3">
                <a:alphaModFix amt="0"/>
              </a:blip>
              <a:stretch>
                <a:fillRect l="0" t="-93295" r="-57717" b="-24319"/>
              </a:stretch>
            </a:blipFill>
          </p:spPr>
        </p:sp>
        <p:sp>
          <p:nvSpPr>
            <p:cNvPr name="TextBox 31" id="31"/>
            <p:cNvSpPr txBox="true"/>
            <p:nvPr/>
          </p:nvSpPr>
          <p:spPr>
            <a:xfrm>
              <a:off x="0" y="-38100"/>
              <a:ext cx="13566646" cy="3869827"/>
            </a:xfrm>
            <a:prstGeom prst="rect">
              <a:avLst/>
            </a:prstGeom>
          </p:spPr>
          <p:txBody>
            <a:bodyPr anchor="ctr" rtlCol="false" tIns="0" lIns="0" bIns="0" rIns="0"/>
            <a:lstStyle/>
            <a:p>
              <a:pPr algn="l">
                <a:lnSpc>
                  <a:spcPts val="2070"/>
                </a:lnSpc>
              </a:pPr>
              <a:r>
                <a:rPr lang="en-US" sz="1725" b="true">
                  <a:solidFill>
                    <a:srgbClr val="0E7C7B"/>
                  </a:solidFill>
                  <a:latin typeface="Calibri (MS) Bold"/>
                  <a:ea typeface="Calibri (MS) Bold"/>
                  <a:cs typeface="Calibri (MS) Bold"/>
                  <a:sym typeface="Calibri (MS) Bold"/>
                </a:rPr>
                <a:t>PROMPT USED: </a:t>
              </a:r>
              <a:r>
                <a:rPr lang="en-US" sz="1725" i="true">
                  <a:solidFill>
                    <a:srgbClr val="23283A"/>
                  </a:solidFill>
                  <a:latin typeface="Calibri (MS) Italics"/>
                  <a:ea typeface="Calibri (MS) Italics"/>
                  <a:cs typeface="Calibri (MS) Italics"/>
                  <a:sym typeface="Calibri (MS) Italics"/>
                </a:rPr>
                <a:t>. </a:t>
              </a:r>
            </a:p>
            <a:p>
              <a:pPr algn="l">
                <a:lnSpc>
                  <a:spcPts val="2070"/>
                </a:lnSpc>
              </a:pPr>
              <a:r>
                <a:rPr lang="en-US" sz="1725" i="true">
                  <a:solidFill>
                    <a:srgbClr val="23283A"/>
                  </a:solidFill>
                  <a:latin typeface="Calibri (MS) Italics"/>
                  <a:ea typeface="Calibri (MS) Italics"/>
                  <a:cs typeface="Calibri (MS) Italics"/>
                  <a:sym typeface="Calibri (MS) Italics"/>
                </a:rPr>
                <a:t>"Identify the one region where the simplest methods (naive or simple exponential smoothing) actually perform competitively — and explain, from the analyst note, why added complexity isn't paying off there.</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4F6FB"/>
        </a:solidFill>
      </p:bgPr>
    </p:bg>
    <p:spTree>
      <p:nvGrpSpPr>
        <p:cNvPr id="1" name=""/>
        <p:cNvGrpSpPr/>
        <p:nvPr/>
      </p:nvGrpSpPr>
      <p:grpSpPr>
        <a:xfrm>
          <a:off x="0" y="0"/>
          <a:ext cx="0" cy="0"/>
          <a:chOff x="0" y="0"/>
          <a:chExt cx="0" cy="0"/>
        </a:xfrm>
      </p:grpSpPr>
      <p:grpSp>
        <p:nvGrpSpPr>
          <p:cNvPr name="Group 2" id="2"/>
          <p:cNvGrpSpPr/>
          <p:nvPr/>
        </p:nvGrpSpPr>
        <p:grpSpPr>
          <a:xfrm rot="0">
            <a:off x="822960" y="576072"/>
            <a:ext cx="10972800" cy="411480"/>
            <a:chOff x="0" y="0"/>
            <a:chExt cx="14630400" cy="548640"/>
          </a:xfrm>
        </p:grpSpPr>
        <p:sp>
          <p:nvSpPr>
            <p:cNvPr name="Freeform 3" id="3"/>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4" id="4"/>
            <p:cNvSpPr txBox="true"/>
            <p:nvPr/>
          </p:nvSpPr>
          <p:spPr>
            <a:xfrm>
              <a:off x="0" y="-38100"/>
              <a:ext cx="14630400" cy="586740"/>
            </a:xfrm>
            <a:prstGeom prst="rect">
              <a:avLst/>
            </a:prstGeom>
          </p:spPr>
          <p:txBody>
            <a:bodyPr anchor="ctr" rtlCol="false" tIns="0" lIns="0" bIns="0" rIns="0"/>
            <a:lstStyle/>
            <a:p>
              <a:pPr algn="l">
                <a:lnSpc>
                  <a:spcPts val="2160"/>
                </a:lnSpc>
              </a:pPr>
              <a:r>
                <a:rPr lang="en-US" b="true" sz="1800" spc="300">
                  <a:solidFill>
                    <a:srgbClr val="B08D57"/>
                  </a:solidFill>
                  <a:latin typeface="Calibri (MS) Bold"/>
                  <a:ea typeface="Calibri (MS) Bold"/>
                  <a:cs typeface="Calibri (MS) Bold"/>
                  <a:sym typeface="Calibri (MS) Bold"/>
                </a:rPr>
                <a:t>TASK 5 DELIVERABLE</a:t>
              </a:r>
            </a:p>
          </p:txBody>
        </p:sp>
      </p:grpSp>
      <p:grpSp>
        <p:nvGrpSpPr>
          <p:cNvPr name="Group 5" id="5"/>
          <p:cNvGrpSpPr/>
          <p:nvPr/>
        </p:nvGrpSpPr>
        <p:grpSpPr>
          <a:xfrm rot="0">
            <a:off x="822960" y="987552"/>
            <a:ext cx="16596360" cy="1234440"/>
            <a:chOff x="0" y="0"/>
            <a:chExt cx="22128480" cy="1645920"/>
          </a:xfrm>
        </p:grpSpPr>
        <p:sp>
          <p:nvSpPr>
            <p:cNvPr name="Freeform 6" id="6"/>
            <p:cNvSpPr/>
            <p:nvPr/>
          </p:nvSpPr>
          <p:spPr>
            <a:xfrm flipH="false" flipV="false" rot="0">
              <a:off x="0" y="0"/>
              <a:ext cx="22128480" cy="1645920"/>
            </a:xfrm>
            <a:custGeom>
              <a:avLst/>
              <a:gdLst/>
              <a:ahLst/>
              <a:cxnLst/>
              <a:rect r="r" b="b" t="t" l="l"/>
              <a:pathLst>
                <a:path h="1645920" w="22128480">
                  <a:moveTo>
                    <a:pt x="0" y="0"/>
                  </a:moveTo>
                  <a:lnTo>
                    <a:pt x="22128480" y="0"/>
                  </a:lnTo>
                  <a:lnTo>
                    <a:pt x="22128480" y="1645920"/>
                  </a:lnTo>
                  <a:lnTo>
                    <a:pt x="0" y="1645920"/>
                  </a:lnTo>
                  <a:close/>
                </a:path>
              </a:pathLst>
            </a:custGeom>
            <a:blipFill>
              <a:blip r:embed="rId3">
                <a:alphaModFix amt="0"/>
              </a:blip>
              <a:stretch>
                <a:fillRect l="0" t="-211965" r="0" b="-211965"/>
              </a:stretch>
            </a:blipFill>
          </p:spPr>
        </p:sp>
        <p:sp>
          <p:nvSpPr>
            <p:cNvPr name="TextBox 7" id="7"/>
            <p:cNvSpPr txBox="true"/>
            <p:nvPr/>
          </p:nvSpPr>
          <p:spPr>
            <a:xfrm>
              <a:off x="0" y="-19050"/>
              <a:ext cx="22128480" cy="1664970"/>
            </a:xfrm>
            <a:prstGeom prst="rect">
              <a:avLst/>
            </a:prstGeom>
          </p:spPr>
          <p:txBody>
            <a:bodyPr anchor="ctr" rtlCol="false" tIns="0" lIns="0" bIns="0" rIns="0"/>
            <a:lstStyle/>
            <a:p>
              <a:pPr algn="l">
                <a:lnSpc>
                  <a:spcPts val="5400"/>
                </a:lnSpc>
              </a:pPr>
              <a:r>
                <a:rPr lang="en-US" sz="4500" b="true">
                  <a:solidFill>
                    <a:srgbClr val="1E2761"/>
                  </a:solidFill>
                  <a:latin typeface="Cambria Bold"/>
                  <a:ea typeface="Cambria Bold"/>
                  <a:cs typeface="Cambria Bold"/>
                  <a:sym typeface="Cambria Bold"/>
                </a:rPr>
                <a:t>Executive Summary: Regional Default Forecasting Methods</a:t>
              </a:r>
            </a:p>
          </p:txBody>
        </p:sp>
      </p:grpSp>
      <p:graphicFrame>
        <p:nvGraphicFramePr>
          <p:cNvPr name="Table 8" id="8"/>
          <p:cNvGraphicFramePr>
            <a:graphicFrameLocks noGrp="true"/>
          </p:cNvGraphicFramePr>
          <p:nvPr/>
        </p:nvGraphicFramePr>
        <p:xfrm>
          <a:off x="822960" y="2537460"/>
          <a:ext cx="16630650" cy="4686300"/>
        </p:xfrm>
        <a:graphic>
          <a:graphicData uri="http://schemas.openxmlformats.org/drawingml/2006/table">
            <a:tbl>
              <a:tblPr/>
              <a:tblGrid>
                <a:gridCol w="2203448"/>
                <a:gridCol w="3019120"/>
                <a:gridCol w="1591694"/>
                <a:gridCol w="9816388"/>
              </a:tblGrid>
              <a:tr h="781050">
                <a:tc>
                  <a:txBody>
                    <a:bodyPr anchor="t" rtlCol="false"/>
                    <a:lstStyle/>
                    <a:p>
                      <a:pPr algn="l">
                        <a:lnSpc>
                          <a:spcPts val="2340"/>
                        </a:lnSpc>
                        <a:defRPr/>
                      </a:pPr>
                      <a:r>
                        <a:rPr lang="en-US" sz="1950" b="true">
                          <a:solidFill>
                            <a:srgbClr val="FFFFFF"/>
                          </a:solidFill>
                          <a:latin typeface="Calibri (MS) Bold"/>
                          <a:ea typeface="Calibri (MS) Bold"/>
                          <a:cs typeface="Calibri (MS) Bold"/>
                          <a:sym typeface="Calibri (MS) Bold"/>
                        </a:rPr>
                        <a:t>Region</a:t>
                      </a:r>
                      <a:endParaRPr lang="en-US" sz="1100"/>
                    </a:p>
                  </a:txBody>
                  <a:tcPr marL="91440" marR="91440" marT="91440" marB="91440" anchor="ctr">
                    <a:lnL cmpd="sng" algn="ctr" cap="flat" w="9525">
                      <a:solidFill>
                        <a:srgbClr val="DCE2EE"/>
                      </a:solidFill>
                      <a:prstDash val="solid"/>
                      <a:round/>
                      <a:headEnd type="none" w="med" len="med"/>
                      <a:tailEnd type="none" w="med" len="med"/>
                    </a:lnL>
                    <a:lnR cmpd="sng" algn="ctr" cap="flat" w="9525">
                      <a:solidFill>
                        <a:srgbClr val="DCE2EE"/>
                      </a:solidFill>
                      <a:prstDash val="solid"/>
                      <a:round/>
                      <a:headEnd type="none" w="med" len="med"/>
                      <a:tailEnd type="none" w="med" len="med"/>
                    </a:lnR>
                    <a:lnT cmpd="sng" algn="ctr" cap="flat" w="9525">
                      <a:solidFill>
                        <a:srgbClr val="DCE2EE"/>
                      </a:solidFill>
                      <a:prstDash val="solid"/>
                      <a:round/>
                      <a:headEnd type="none" w="med" len="med"/>
                      <a:tailEnd type="none" w="med" len="med"/>
                    </a:lnT>
                    <a:lnB cmpd="sng" algn="ctr" cap="flat" w="9525">
                      <a:solidFill>
                        <a:srgbClr val="DCE2EE"/>
                      </a:solidFill>
                      <a:prstDash val="solid"/>
                      <a:round/>
                      <a:headEnd type="none" w="med" len="med"/>
                      <a:tailEnd type="none" w="med" len="med"/>
                    </a:lnB>
                    <a:solidFill>
                      <a:srgbClr val="1E2761"/>
                    </a:solidFill>
                  </a:tcPr>
                </a:tc>
                <a:tc>
                  <a:txBody>
                    <a:bodyPr anchor="t" rtlCol="false"/>
                    <a:lstStyle/>
                    <a:p>
                      <a:pPr algn="l">
                        <a:lnSpc>
                          <a:spcPts val="2340"/>
                        </a:lnSpc>
                        <a:defRPr/>
                      </a:pPr>
                      <a:r>
                        <a:rPr lang="en-US" sz="1950" b="true">
                          <a:solidFill>
                            <a:srgbClr val="FFFFFF"/>
                          </a:solidFill>
                          <a:latin typeface="Calibri (MS) Bold"/>
                          <a:ea typeface="Calibri (MS) Bold"/>
                          <a:cs typeface="Calibri (MS) Bold"/>
                          <a:sym typeface="Calibri (MS) Bold"/>
                        </a:rPr>
                        <a:t>Default Method</a:t>
                      </a:r>
                      <a:endParaRPr lang="en-US" sz="1100"/>
                    </a:p>
                  </a:txBody>
                  <a:tcPr marL="91440" marR="91440" marT="91440" marB="91440" anchor="ctr">
                    <a:lnL cmpd="sng" algn="ctr" cap="flat" w="9525">
                      <a:solidFill>
                        <a:srgbClr val="DCE2EE"/>
                      </a:solidFill>
                      <a:prstDash val="solid"/>
                      <a:round/>
                      <a:headEnd type="none" w="med" len="med"/>
                      <a:tailEnd type="none" w="med" len="med"/>
                    </a:lnL>
                    <a:lnR cmpd="sng" algn="ctr" cap="flat" w="9525">
                      <a:solidFill>
                        <a:srgbClr val="DCE2EE"/>
                      </a:solidFill>
                      <a:prstDash val="solid"/>
                      <a:round/>
                      <a:headEnd type="none" w="med" len="med"/>
                      <a:tailEnd type="none" w="med" len="med"/>
                    </a:lnR>
                    <a:lnT cmpd="sng" algn="ctr" cap="flat" w="9525">
                      <a:solidFill>
                        <a:srgbClr val="DCE2EE"/>
                      </a:solidFill>
                      <a:prstDash val="solid"/>
                      <a:round/>
                      <a:headEnd type="none" w="med" len="med"/>
                      <a:tailEnd type="none" w="med" len="med"/>
                    </a:lnT>
                    <a:lnB cmpd="sng" algn="ctr" cap="flat" w="9525">
                      <a:solidFill>
                        <a:srgbClr val="DCE2EE"/>
                      </a:solidFill>
                      <a:prstDash val="solid"/>
                      <a:round/>
                      <a:headEnd type="none" w="med" len="med"/>
                      <a:tailEnd type="none" w="med" len="med"/>
                    </a:lnB>
                    <a:solidFill>
                      <a:srgbClr val="1E2761"/>
                    </a:solidFill>
                  </a:tcPr>
                </a:tc>
                <a:tc>
                  <a:txBody>
                    <a:bodyPr anchor="t" rtlCol="false"/>
                    <a:lstStyle/>
                    <a:p>
                      <a:pPr algn="l">
                        <a:lnSpc>
                          <a:spcPts val="2340"/>
                        </a:lnSpc>
                        <a:defRPr/>
                      </a:pPr>
                      <a:r>
                        <a:rPr lang="en-US" sz="1950" b="true">
                          <a:solidFill>
                            <a:srgbClr val="FFFFFF"/>
                          </a:solidFill>
                          <a:latin typeface="Calibri (MS) Bold"/>
                          <a:ea typeface="Calibri (MS) Bold"/>
                          <a:cs typeface="Calibri (MS) Bold"/>
                          <a:sym typeface="Calibri (MS) Bold"/>
                        </a:rPr>
                        <a:t>Error</a:t>
                      </a:r>
                      <a:endParaRPr lang="en-US" sz="1100"/>
                    </a:p>
                  </a:txBody>
                  <a:tcPr marL="91440" marR="91440" marT="91440" marB="91440" anchor="ctr">
                    <a:lnL cmpd="sng" algn="ctr" cap="flat" w="9525">
                      <a:solidFill>
                        <a:srgbClr val="DCE2EE"/>
                      </a:solidFill>
                      <a:prstDash val="solid"/>
                      <a:round/>
                      <a:headEnd type="none" w="med" len="med"/>
                      <a:tailEnd type="none" w="med" len="med"/>
                    </a:lnL>
                    <a:lnR cmpd="sng" algn="ctr" cap="flat" w="9525">
                      <a:solidFill>
                        <a:srgbClr val="DCE2EE"/>
                      </a:solidFill>
                      <a:prstDash val="solid"/>
                      <a:round/>
                      <a:headEnd type="none" w="med" len="med"/>
                      <a:tailEnd type="none" w="med" len="med"/>
                    </a:lnR>
                    <a:lnT cmpd="sng" algn="ctr" cap="flat" w="9525">
                      <a:solidFill>
                        <a:srgbClr val="DCE2EE"/>
                      </a:solidFill>
                      <a:prstDash val="solid"/>
                      <a:round/>
                      <a:headEnd type="none" w="med" len="med"/>
                      <a:tailEnd type="none" w="med" len="med"/>
                    </a:lnT>
                    <a:lnB cmpd="sng" algn="ctr" cap="flat" w="9525">
                      <a:solidFill>
                        <a:srgbClr val="DCE2EE"/>
                      </a:solidFill>
                      <a:prstDash val="solid"/>
                      <a:round/>
                      <a:headEnd type="none" w="med" len="med"/>
                      <a:tailEnd type="none" w="med" len="med"/>
                    </a:lnB>
                    <a:solidFill>
                      <a:srgbClr val="1E2761"/>
                    </a:solidFill>
                  </a:tcPr>
                </a:tc>
                <a:tc>
                  <a:txBody>
                    <a:bodyPr anchor="t" rtlCol="false"/>
                    <a:lstStyle/>
                    <a:p>
                      <a:pPr algn="l">
                        <a:lnSpc>
                          <a:spcPts val="2340"/>
                        </a:lnSpc>
                        <a:defRPr/>
                      </a:pPr>
                      <a:r>
                        <a:rPr lang="en-US" sz="1950" b="true">
                          <a:solidFill>
                            <a:srgbClr val="FFFFFF"/>
                          </a:solidFill>
                          <a:latin typeface="Calibri (MS) Bold"/>
                          <a:ea typeface="Calibri (MS) Bold"/>
                          <a:cs typeface="Calibri (MS) Bold"/>
                          <a:sym typeface="Calibri (MS) Bold"/>
                        </a:rPr>
                        <a:t>Business Rationale</a:t>
                      </a:r>
                      <a:endParaRPr lang="en-US" sz="1100"/>
                    </a:p>
                  </a:txBody>
                  <a:tcPr marL="91440" marR="91440" marT="91440" marB="91440" anchor="ctr">
                    <a:lnL cmpd="sng" algn="ctr" cap="flat" w="9525">
                      <a:solidFill>
                        <a:srgbClr val="DCE2EE"/>
                      </a:solidFill>
                      <a:prstDash val="solid"/>
                      <a:round/>
                      <a:headEnd type="none" w="med" len="med"/>
                      <a:tailEnd type="none" w="med" len="med"/>
                    </a:lnL>
                    <a:lnR cmpd="sng" algn="ctr" cap="flat" w="9525">
                      <a:solidFill>
                        <a:srgbClr val="DCE2EE"/>
                      </a:solidFill>
                      <a:prstDash val="solid"/>
                      <a:round/>
                      <a:headEnd type="none" w="med" len="med"/>
                      <a:tailEnd type="none" w="med" len="med"/>
                    </a:lnR>
                    <a:lnT cmpd="sng" algn="ctr" cap="flat" w="9525">
                      <a:solidFill>
                        <a:srgbClr val="DCE2EE"/>
                      </a:solidFill>
                      <a:prstDash val="solid"/>
                      <a:round/>
                      <a:headEnd type="none" w="med" len="med"/>
                      <a:tailEnd type="none" w="med" len="med"/>
                    </a:lnT>
                    <a:lnB cmpd="sng" algn="ctr" cap="flat" w="9525">
                      <a:solidFill>
                        <a:srgbClr val="DCE2EE"/>
                      </a:solidFill>
                      <a:prstDash val="solid"/>
                      <a:round/>
                      <a:headEnd type="none" w="med" len="med"/>
                      <a:tailEnd type="none" w="med" len="med"/>
                    </a:lnB>
                    <a:solidFill>
                      <a:srgbClr val="1E2761"/>
                    </a:solidFill>
                  </a:tcPr>
                </a:tc>
              </a:tr>
              <a:tr h="781050">
                <a:tc>
                  <a:txBody>
                    <a:bodyPr anchor="t" rtlCol="false"/>
                    <a:lstStyle/>
                    <a:p>
                      <a:pPr algn="l">
                        <a:lnSpc>
                          <a:spcPts val="2340"/>
                        </a:lnSpc>
                        <a:defRPr/>
                      </a:pPr>
                      <a:r>
                        <a:rPr lang="en-US" sz="1950">
                          <a:solidFill>
                            <a:srgbClr val="23283A"/>
                          </a:solidFill>
                          <a:latin typeface="Calibri (MS)"/>
                          <a:ea typeface="Calibri (MS)"/>
                          <a:cs typeface="Calibri (MS)"/>
                          <a:sym typeface="Calibri (MS)"/>
                        </a:rPr>
                        <a:t>North</a:t>
                      </a:r>
                      <a:endParaRPr lang="en-US" sz="1100"/>
                    </a:p>
                  </a:txBody>
                  <a:tcPr marL="91440" marR="91440" marT="91440" marB="91440" anchor="ctr">
                    <a:lnL cmpd="sng" algn="ctr" cap="flat" w="9525">
                      <a:solidFill>
                        <a:srgbClr val="DCE2EE"/>
                      </a:solidFill>
                      <a:prstDash val="solid"/>
                      <a:round/>
                      <a:headEnd type="none" w="med" len="med"/>
                      <a:tailEnd type="none" w="med" len="med"/>
                    </a:lnL>
                    <a:lnR cmpd="sng" algn="ctr" cap="flat" w="9525">
                      <a:solidFill>
                        <a:srgbClr val="DCE2EE"/>
                      </a:solidFill>
                      <a:prstDash val="solid"/>
                      <a:round/>
                      <a:headEnd type="none" w="med" len="med"/>
                      <a:tailEnd type="none" w="med" len="med"/>
                    </a:lnR>
                    <a:lnT cmpd="sng" algn="ctr" cap="flat" w="9525">
                      <a:solidFill>
                        <a:srgbClr val="DCE2EE"/>
                      </a:solidFill>
                      <a:prstDash val="solid"/>
                      <a:round/>
                      <a:headEnd type="none" w="med" len="med"/>
                      <a:tailEnd type="none" w="med" len="med"/>
                    </a:lnT>
                    <a:lnB cmpd="sng" algn="ctr" cap="flat" w="9525">
                      <a:solidFill>
                        <a:srgbClr val="DCE2EE"/>
                      </a:solidFill>
                      <a:prstDash val="solid"/>
                      <a:round/>
                      <a:headEnd type="none" w="med" len="med"/>
                      <a:tailEnd type="none" w="med" len="med"/>
                    </a:lnB>
                    <a:solidFill>
                      <a:srgbClr val="FFFFFF"/>
                    </a:solidFill>
                  </a:tcPr>
                </a:tc>
                <a:tc>
                  <a:txBody>
                    <a:bodyPr anchor="t" rtlCol="false"/>
                    <a:lstStyle/>
                    <a:p>
                      <a:pPr algn="l">
                        <a:lnSpc>
                          <a:spcPts val="2340"/>
                        </a:lnSpc>
                        <a:defRPr/>
                      </a:pPr>
                      <a:r>
                        <a:rPr lang="en-US" sz="1950" b="true">
                          <a:solidFill>
                            <a:srgbClr val="1E2761"/>
                          </a:solidFill>
                          <a:latin typeface="Calibri (MS) Bold"/>
                          <a:ea typeface="Calibri (MS) Bold"/>
                          <a:cs typeface="Calibri (MS) Bold"/>
                          <a:sym typeface="Calibri (MS) Bold"/>
                        </a:rPr>
                        <a:t>Holt-Winters</a:t>
                      </a:r>
                      <a:endParaRPr lang="en-US" sz="1100"/>
                    </a:p>
                  </a:txBody>
                  <a:tcPr marL="91440" marR="91440" marT="91440" marB="91440" anchor="ctr">
                    <a:lnL cmpd="sng" algn="ctr" cap="flat" w="9525">
                      <a:solidFill>
                        <a:srgbClr val="DCE2EE"/>
                      </a:solidFill>
                      <a:prstDash val="solid"/>
                      <a:round/>
                      <a:headEnd type="none" w="med" len="med"/>
                      <a:tailEnd type="none" w="med" len="med"/>
                    </a:lnL>
                    <a:lnR cmpd="sng" algn="ctr" cap="flat" w="9525">
                      <a:solidFill>
                        <a:srgbClr val="DCE2EE"/>
                      </a:solidFill>
                      <a:prstDash val="solid"/>
                      <a:round/>
                      <a:headEnd type="none" w="med" len="med"/>
                      <a:tailEnd type="none" w="med" len="med"/>
                    </a:lnR>
                    <a:lnT cmpd="sng" algn="ctr" cap="flat" w="9525">
                      <a:solidFill>
                        <a:srgbClr val="DCE2EE"/>
                      </a:solidFill>
                      <a:prstDash val="solid"/>
                      <a:round/>
                      <a:headEnd type="none" w="med" len="med"/>
                      <a:tailEnd type="none" w="med" len="med"/>
                    </a:lnT>
                    <a:lnB cmpd="sng" algn="ctr" cap="flat" w="9525">
                      <a:solidFill>
                        <a:srgbClr val="DCE2EE"/>
                      </a:solidFill>
                      <a:prstDash val="solid"/>
                      <a:round/>
                      <a:headEnd type="none" w="med" len="med"/>
                      <a:tailEnd type="none" w="med" len="med"/>
                    </a:lnB>
                    <a:solidFill>
                      <a:srgbClr val="FFFFFF"/>
                    </a:solidFill>
                  </a:tcPr>
                </a:tc>
                <a:tc>
                  <a:txBody>
                    <a:bodyPr anchor="t" rtlCol="false"/>
                    <a:lstStyle/>
                    <a:p>
                      <a:pPr algn="l">
                        <a:lnSpc>
                          <a:spcPts val="2340"/>
                        </a:lnSpc>
                        <a:defRPr/>
                      </a:pPr>
                      <a:r>
                        <a:rPr lang="en-US" sz="1950">
                          <a:solidFill>
                            <a:srgbClr val="23283A"/>
                          </a:solidFill>
                          <a:latin typeface="Calibri (MS)"/>
                          <a:ea typeface="Calibri (MS)"/>
                          <a:cs typeface="Calibri (MS)"/>
                          <a:sym typeface="Calibri (MS)"/>
                        </a:rPr>
                        <a:t>7.1%</a:t>
                      </a:r>
                      <a:endParaRPr lang="en-US" sz="1100"/>
                    </a:p>
                  </a:txBody>
                  <a:tcPr marL="91440" marR="91440" marT="91440" marB="91440" anchor="ctr">
                    <a:lnL cmpd="sng" algn="ctr" cap="flat" w="9525">
                      <a:solidFill>
                        <a:srgbClr val="DCE2EE"/>
                      </a:solidFill>
                      <a:prstDash val="solid"/>
                      <a:round/>
                      <a:headEnd type="none" w="med" len="med"/>
                      <a:tailEnd type="none" w="med" len="med"/>
                    </a:lnL>
                    <a:lnR cmpd="sng" algn="ctr" cap="flat" w="9525">
                      <a:solidFill>
                        <a:srgbClr val="DCE2EE"/>
                      </a:solidFill>
                      <a:prstDash val="solid"/>
                      <a:round/>
                      <a:headEnd type="none" w="med" len="med"/>
                      <a:tailEnd type="none" w="med" len="med"/>
                    </a:lnR>
                    <a:lnT cmpd="sng" algn="ctr" cap="flat" w="9525">
                      <a:solidFill>
                        <a:srgbClr val="DCE2EE"/>
                      </a:solidFill>
                      <a:prstDash val="solid"/>
                      <a:round/>
                      <a:headEnd type="none" w="med" len="med"/>
                      <a:tailEnd type="none" w="med" len="med"/>
                    </a:lnT>
                    <a:lnB cmpd="sng" algn="ctr" cap="flat" w="9525">
                      <a:solidFill>
                        <a:srgbClr val="DCE2EE"/>
                      </a:solidFill>
                      <a:prstDash val="solid"/>
                      <a:round/>
                      <a:headEnd type="none" w="med" len="med"/>
                      <a:tailEnd type="none" w="med" len="med"/>
                    </a:lnB>
                    <a:solidFill>
                      <a:srgbClr val="FFFFFF"/>
                    </a:solidFill>
                  </a:tcPr>
                </a:tc>
                <a:tc>
                  <a:txBody>
                    <a:bodyPr anchor="t" rtlCol="false"/>
                    <a:lstStyle/>
                    <a:p>
                      <a:pPr algn="l">
                        <a:lnSpc>
                          <a:spcPts val="2340"/>
                        </a:lnSpc>
                        <a:defRPr/>
                      </a:pPr>
                      <a:r>
                        <a:rPr lang="en-US" sz="1950">
                          <a:solidFill>
                            <a:srgbClr val="23283A"/>
                          </a:solidFill>
                          <a:latin typeface="Calibri (MS)"/>
                          <a:ea typeface="Calibri (MS)"/>
                          <a:cs typeface="Calibri (MS)"/>
                          <a:sym typeface="Calibri (MS)"/>
                        </a:rPr>
                        <a:t>Captures strong, predictable Q4 seasonality</a:t>
                      </a:r>
                      <a:endParaRPr lang="en-US" sz="1100"/>
                    </a:p>
                  </a:txBody>
                  <a:tcPr marL="91440" marR="91440" marT="91440" marB="91440" anchor="ctr">
                    <a:lnL cmpd="sng" algn="ctr" cap="flat" w="9525">
                      <a:solidFill>
                        <a:srgbClr val="DCE2EE"/>
                      </a:solidFill>
                      <a:prstDash val="solid"/>
                      <a:round/>
                      <a:headEnd type="none" w="med" len="med"/>
                      <a:tailEnd type="none" w="med" len="med"/>
                    </a:lnL>
                    <a:lnR cmpd="sng" algn="ctr" cap="flat" w="9525">
                      <a:solidFill>
                        <a:srgbClr val="DCE2EE"/>
                      </a:solidFill>
                      <a:prstDash val="solid"/>
                      <a:round/>
                      <a:headEnd type="none" w="med" len="med"/>
                      <a:tailEnd type="none" w="med" len="med"/>
                    </a:lnR>
                    <a:lnT cmpd="sng" algn="ctr" cap="flat" w="9525">
                      <a:solidFill>
                        <a:srgbClr val="DCE2EE"/>
                      </a:solidFill>
                      <a:prstDash val="solid"/>
                      <a:round/>
                      <a:headEnd type="none" w="med" len="med"/>
                      <a:tailEnd type="none" w="med" len="med"/>
                    </a:lnT>
                    <a:lnB cmpd="sng" algn="ctr" cap="flat" w="9525">
                      <a:solidFill>
                        <a:srgbClr val="DCE2EE"/>
                      </a:solidFill>
                      <a:prstDash val="solid"/>
                      <a:round/>
                      <a:headEnd type="none" w="med" len="med"/>
                      <a:tailEnd type="none" w="med" len="med"/>
                    </a:lnB>
                    <a:solidFill>
                      <a:srgbClr val="FFFFFF"/>
                    </a:solidFill>
                  </a:tcPr>
                </a:tc>
              </a:tr>
              <a:tr h="781050">
                <a:tc>
                  <a:txBody>
                    <a:bodyPr anchor="t" rtlCol="false"/>
                    <a:lstStyle/>
                    <a:p>
                      <a:pPr algn="l">
                        <a:lnSpc>
                          <a:spcPts val="2340"/>
                        </a:lnSpc>
                        <a:defRPr/>
                      </a:pPr>
                      <a:r>
                        <a:rPr lang="en-US" sz="1950">
                          <a:solidFill>
                            <a:srgbClr val="23283A"/>
                          </a:solidFill>
                          <a:latin typeface="Calibri (MS)"/>
                          <a:ea typeface="Calibri (MS)"/>
                          <a:cs typeface="Calibri (MS)"/>
                          <a:sym typeface="Calibri (MS)"/>
                        </a:rPr>
                        <a:t>South</a:t>
                      </a:r>
                      <a:endParaRPr lang="en-US" sz="1100"/>
                    </a:p>
                  </a:txBody>
                  <a:tcPr marL="91440" marR="91440" marT="91440" marB="91440" anchor="ctr">
                    <a:lnL cmpd="sng" algn="ctr" cap="flat" w="9525">
                      <a:solidFill>
                        <a:srgbClr val="DCE2EE"/>
                      </a:solidFill>
                      <a:prstDash val="solid"/>
                      <a:round/>
                      <a:headEnd type="none" w="med" len="med"/>
                      <a:tailEnd type="none" w="med" len="med"/>
                    </a:lnL>
                    <a:lnR cmpd="sng" algn="ctr" cap="flat" w="9525">
                      <a:solidFill>
                        <a:srgbClr val="DCE2EE"/>
                      </a:solidFill>
                      <a:prstDash val="solid"/>
                      <a:round/>
                      <a:headEnd type="none" w="med" len="med"/>
                      <a:tailEnd type="none" w="med" len="med"/>
                    </a:lnR>
                    <a:lnT cmpd="sng" algn="ctr" cap="flat" w="9525">
                      <a:solidFill>
                        <a:srgbClr val="DCE2EE"/>
                      </a:solidFill>
                      <a:prstDash val="solid"/>
                      <a:round/>
                      <a:headEnd type="none" w="med" len="med"/>
                      <a:tailEnd type="none" w="med" len="med"/>
                    </a:lnT>
                    <a:lnB cmpd="sng" algn="ctr" cap="flat" w="9525">
                      <a:solidFill>
                        <a:srgbClr val="DCE2EE"/>
                      </a:solidFill>
                      <a:prstDash val="solid"/>
                      <a:round/>
                      <a:headEnd type="none" w="med" len="med"/>
                      <a:tailEnd type="none" w="med" len="med"/>
                    </a:lnB>
                    <a:solidFill>
                      <a:srgbClr val="EEEFF3"/>
                    </a:solidFill>
                  </a:tcPr>
                </a:tc>
                <a:tc>
                  <a:txBody>
                    <a:bodyPr anchor="t" rtlCol="false"/>
                    <a:lstStyle/>
                    <a:p>
                      <a:pPr algn="l">
                        <a:lnSpc>
                          <a:spcPts val="2340"/>
                        </a:lnSpc>
                        <a:defRPr/>
                      </a:pPr>
                      <a:r>
                        <a:rPr lang="en-US" sz="1950" b="true">
                          <a:solidFill>
                            <a:srgbClr val="1E2761"/>
                          </a:solidFill>
                          <a:latin typeface="Calibri (MS) Bold"/>
                          <a:ea typeface="Calibri (MS) Bold"/>
                          <a:cs typeface="Calibri (MS) Bold"/>
                          <a:sym typeface="Calibri (MS) Bold"/>
                        </a:rPr>
                        <a:t>Prophet</a:t>
                      </a:r>
                      <a:endParaRPr lang="en-US" sz="1100"/>
                    </a:p>
                  </a:txBody>
                  <a:tcPr marL="91440" marR="91440" marT="91440" marB="91440" anchor="ctr">
                    <a:lnL cmpd="sng" algn="ctr" cap="flat" w="9525">
                      <a:solidFill>
                        <a:srgbClr val="DCE2EE"/>
                      </a:solidFill>
                      <a:prstDash val="solid"/>
                      <a:round/>
                      <a:headEnd type="none" w="med" len="med"/>
                      <a:tailEnd type="none" w="med" len="med"/>
                    </a:lnL>
                    <a:lnR cmpd="sng" algn="ctr" cap="flat" w="9525">
                      <a:solidFill>
                        <a:srgbClr val="DCE2EE"/>
                      </a:solidFill>
                      <a:prstDash val="solid"/>
                      <a:round/>
                      <a:headEnd type="none" w="med" len="med"/>
                      <a:tailEnd type="none" w="med" len="med"/>
                    </a:lnR>
                    <a:lnT cmpd="sng" algn="ctr" cap="flat" w="9525">
                      <a:solidFill>
                        <a:srgbClr val="DCE2EE"/>
                      </a:solidFill>
                      <a:prstDash val="solid"/>
                      <a:round/>
                      <a:headEnd type="none" w="med" len="med"/>
                      <a:tailEnd type="none" w="med" len="med"/>
                    </a:lnT>
                    <a:lnB cmpd="sng" algn="ctr" cap="flat" w="9525">
                      <a:solidFill>
                        <a:srgbClr val="DCE2EE"/>
                      </a:solidFill>
                      <a:prstDash val="solid"/>
                      <a:round/>
                      <a:headEnd type="none" w="med" len="med"/>
                      <a:tailEnd type="none" w="med" len="med"/>
                    </a:lnB>
                    <a:solidFill>
                      <a:srgbClr val="EEEFF3"/>
                    </a:solidFill>
                  </a:tcPr>
                </a:tc>
                <a:tc>
                  <a:txBody>
                    <a:bodyPr anchor="t" rtlCol="false"/>
                    <a:lstStyle/>
                    <a:p>
                      <a:pPr algn="l">
                        <a:lnSpc>
                          <a:spcPts val="2340"/>
                        </a:lnSpc>
                        <a:defRPr/>
                      </a:pPr>
                      <a:r>
                        <a:rPr lang="en-US" sz="1950">
                          <a:solidFill>
                            <a:srgbClr val="23283A"/>
                          </a:solidFill>
                          <a:latin typeface="Calibri (MS)"/>
                          <a:ea typeface="Calibri (MS)"/>
                          <a:cs typeface="Calibri (MS)"/>
                          <a:sym typeface="Calibri (MS)"/>
                        </a:rPr>
                        <a:t>9.2%</a:t>
                      </a:r>
                      <a:endParaRPr lang="en-US" sz="1100"/>
                    </a:p>
                  </a:txBody>
                  <a:tcPr marL="91440" marR="91440" marT="91440" marB="91440" anchor="ctr">
                    <a:lnL cmpd="sng" algn="ctr" cap="flat" w="9525">
                      <a:solidFill>
                        <a:srgbClr val="DCE2EE"/>
                      </a:solidFill>
                      <a:prstDash val="solid"/>
                      <a:round/>
                      <a:headEnd type="none" w="med" len="med"/>
                      <a:tailEnd type="none" w="med" len="med"/>
                    </a:lnL>
                    <a:lnR cmpd="sng" algn="ctr" cap="flat" w="9525">
                      <a:solidFill>
                        <a:srgbClr val="DCE2EE"/>
                      </a:solidFill>
                      <a:prstDash val="solid"/>
                      <a:round/>
                      <a:headEnd type="none" w="med" len="med"/>
                      <a:tailEnd type="none" w="med" len="med"/>
                    </a:lnR>
                    <a:lnT cmpd="sng" algn="ctr" cap="flat" w="9525">
                      <a:solidFill>
                        <a:srgbClr val="DCE2EE"/>
                      </a:solidFill>
                      <a:prstDash val="solid"/>
                      <a:round/>
                      <a:headEnd type="none" w="med" len="med"/>
                      <a:tailEnd type="none" w="med" len="med"/>
                    </a:lnT>
                    <a:lnB cmpd="sng" algn="ctr" cap="flat" w="9525">
                      <a:solidFill>
                        <a:srgbClr val="DCE2EE"/>
                      </a:solidFill>
                      <a:prstDash val="solid"/>
                      <a:round/>
                      <a:headEnd type="none" w="med" len="med"/>
                      <a:tailEnd type="none" w="med" len="med"/>
                    </a:lnB>
                    <a:solidFill>
                      <a:srgbClr val="EEEFF3"/>
                    </a:solidFill>
                  </a:tcPr>
                </a:tc>
                <a:tc>
                  <a:txBody>
                    <a:bodyPr anchor="t" rtlCol="false"/>
                    <a:lstStyle/>
                    <a:p>
                      <a:pPr algn="l">
                        <a:lnSpc>
                          <a:spcPts val="2340"/>
                        </a:lnSpc>
                        <a:defRPr/>
                      </a:pPr>
                      <a:r>
                        <a:rPr lang="en-US" sz="1950">
                          <a:solidFill>
                            <a:srgbClr val="23283A"/>
                          </a:solidFill>
                          <a:latin typeface="Calibri (MS)"/>
                          <a:ea typeface="Calibri (MS)"/>
                          <a:cs typeface="Calibri (MS)"/>
                          <a:sym typeface="Calibri (MS)"/>
                        </a:rPr>
                        <a:t>Adapts to irregular, weather-driven demand shocks</a:t>
                      </a:r>
                      <a:endParaRPr lang="en-US" sz="1100"/>
                    </a:p>
                  </a:txBody>
                  <a:tcPr marL="91440" marR="91440" marT="91440" marB="91440" anchor="ctr">
                    <a:lnL cmpd="sng" algn="ctr" cap="flat" w="9525">
                      <a:solidFill>
                        <a:srgbClr val="DCE2EE"/>
                      </a:solidFill>
                      <a:prstDash val="solid"/>
                      <a:round/>
                      <a:headEnd type="none" w="med" len="med"/>
                      <a:tailEnd type="none" w="med" len="med"/>
                    </a:lnL>
                    <a:lnR cmpd="sng" algn="ctr" cap="flat" w="9525">
                      <a:solidFill>
                        <a:srgbClr val="DCE2EE"/>
                      </a:solidFill>
                      <a:prstDash val="solid"/>
                      <a:round/>
                      <a:headEnd type="none" w="med" len="med"/>
                      <a:tailEnd type="none" w="med" len="med"/>
                    </a:lnR>
                    <a:lnT cmpd="sng" algn="ctr" cap="flat" w="9525">
                      <a:solidFill>
                        <a:srgbClr val="DCE2EE"/>
                      </a:solidFill>
                      <a:prstDash val="solid"/>
                      <a:round/>
                      <a:headEnd type="none" w="med" len="med"/>
                      <a:tailEnd type="none" w="med" len="med"/>
                    </a:lnT>
                    <a:lnB cmpd="sng" algn="ctr" cap="flat" w="9525">
                      <a:solidFill>
                        <a:srgbClr val="DCE2EE"/>
                      </a:solidFill>
                      <a:prstDash val="solid"/>
                      <a:round/>
                      <a:headEnd type="none" w="med" len="med"/>
                      <a:tailEnd type="none" w="med" len="med"/>
                    </a:lnB>
                    <a:solidFill>
                      <a:srgbClr val="EEEFF3"/>
                    </a:solidFill>
                  </a:tcPr>
                </a:tc>
              </a:tr>
              <a:tr h="781050">
                <a:tc>
                  <a:txBody>
                    <a:bodyPr anchor="t" rtlCol="false"/>
                    <a:lstStyle/>
                    <a:p>
                      <a:pPr algn="l">
                        <a:lnSpc>
                          <a:spcPts val="2340"/>
                        </a:lnSpc>
                        <a:defRPr/>
                      </a:pPr>
                      <a:r>
                        <a:rPr lang="en-US" sz="1950">
                          <a:solidFill>
                            <a:srgbClr val="23283A"/>
                          </a:solidFill>
                          <a:latin typeface="Calibri (MS)"/>
                          <a:ea typeface="Calibri (MS)"/>
                          <a:cs typeface="Calibri (MS)"/>
                          <a:sym typeface="Calibri (MS)"/>
                        </a:rPr>
                        <a:t>East</a:t>
                      </a:r>
                      <a:endParaRPr lang="en-US" sz="1100"/>
                    </a:p>
                  </a:txBody>
                  <a:tcPr marL="91440" marR="91440" marT="91440" marB="91440" anchor="ctr">
                    <a:lnL cmpd="sng" algn="ctr" cap="flat" w="9525">
                      <a:solidFill>
                        <a:srgbClr val="DCE2EE"/>
                      </a:solidFill>
                      <a:prstDash val="solid"/>
                      <a:round/>
                      <a:headEnd type="none" w="med" len="med"/>
                      <a:tailEnd type="none" w="med" len="med"/>
                    </a:lnL>
                    <a:lnR cmpd="sng" algn="ctr" cap="flat" w="9525">
                      <a:solidFill>
                        <a:srgbClr val="DCE2EE"/>
                      </a:solidFill>
                      <a:prstDash val="solid"/>
                      <a:round/>
                      <a:headEnd type="none" w="med" len="med"/>
                      <a:tailEnd type="none" w="med" len="med"/>
                    </a:lnR>
                    <a:lnT cmpd="sng" algn="ctr" cap="flat" w="9525">
                      <a:solidFill>
                        <a:srgbClr val="DCE2EE"/>
                      </a:solidFill>
                      <a:prstDash val="solid"/>
                      <a:round/>
                      <a:headEnd type="none" w="med" len="med"/>
                      <a:tailEnd type="none" w="med" len="med"/>
                    </a:lnT>
                    <a:lnB cmpd="sng" algn="ctr" cap="flat" w="9525">
                      <a:solidFill>
                        <a:srgbClr val="DCE2EE"/>
                      </a:solidFill>
                      <a:prstDash val="solid"/>
                      <a:round/>
                      <a:headEnd type="none" w="med" len="med"/>
                      <a:tailEnd type="none" w="med" len="med"/>
                    </a:lnB>
                    <a:solidFill>
                      <a:srgbClr val="FFFFFF"/>
                    </a:solidFill>
                  </a:tcPr>
                </a:tc>
                <a:tc>
                  <a:txBody>
                    <a:bodyPr anchor="t" rtlCol="false"/>
                    <a:lstStyle/>
                    <a:p>
                      <a:pPr algn="l">
                        <a:lnSpc>
                          <a:spcPts val="2340"/>
                        </a:lnSpc>
                        <a:defRPr/>
                      </a:pPr>
                      <a:r>
                        <a:rPr lang="en-US" sz="1950" b="true">
                          <a:solidFill>
                            <a:srgbClr val="1E2761"/>
                          </a:solidFill>
                          <a:latin typeface="Calibri (MS) Bold"/>
                          <a:ea typeface="Calibri (MS) Bold"/>
                          <a:cs typeface="Calibri (MS) Bold"/>
                          <a:sym typeface="Calibri (MS) Bold"/>
                        </a:rPr>
                        <a:t>Naive</a:t>
                      </a:r>
                      <a:endParaRPr lang="en-US" sz="1100"/>
                    </a:p>
                  </a:txBody>
                  <a:tcPr marL="91440" marR="91440" marT="91440" marB="91440" anchor="ctr">
                    <a:lnL cmpd="sng" algn="ctr" cap="flat" w="9525">
                      <a:solidFill>
                        <a:srgbClr val="DCE2EE"/>
                      </a:solidFill>
                      <a:prstDash val="solid"/>
                      <a:round/>
                      <a:headEnd type="none" w="med" len="med"/>
                      <a:tailEnd type="none" w="med" len="med"/>
                    </a:lnL>
                    <a:lnR cmpd="sng" algn="ctr" cap="flat" w="9525">
                      <a:solidFill>
                        <a:srgbClr val="DCE2EE"/>
                      </a:solidFill>
                      <a:prstDash val="solid"/>
                      <a:round/>
                      <a:headEnd type="none" w="med" len="med"/>
                      <a:tailEnd type="none" w="med" len="med"/>
                    </a:lnR>
                    <a:lnT cmpd="sng" algn="ctr" cap="flat" w="9525">
                      <a:solidFill>
                        <a:srgbClr val="DCE2EE"/>
                      </a:solidFill>
                      <a:prstDash val="solid"/>
                      <a:round/>
                      <a:headEnd type="none" w="med" len="med"/>
                      <a:tailEnd type="none" w="med" len="med"/>
                    </a:lnT>
                    <a:lnB cmpd="sng" algn="ctr" cap="flat" w="9525">
                      <a:solidFill>
                        <a:srgbClr val="DCE2EE"/>
                      </a:solidFill>
                      <a:prstDash val="solid"/>
                      <a:round/>
                      <a:headEnd type="none" w="med" len="med"/>
                      <a:tailEnd type="none" w="med" len="med"/>
                    </a:lnB>
                    <a:solidFill>
                      <a:srgbClr val="FFFFFF"/>
                    </a:solidFill>
                  </a:tcPr>
                </a:tc>
                <a:tc>
                  <a:txBody>
                    <a:bodyPr anchor="t" rtlCol="false"/>
                    <a:lstStyle/>
                    <a:p>
                      <a:pPr algn="l">
                        <a:lnSpc>
                          <a:spcPts val="2340"/>
                        </a:lnSpc>
                        <a:defRPr/>
                      </a:pPr>
                      <a:r>
                        <a:rPr lang="en-US" sz="1950">
                          <a:solidFill>
                            <a:srgbClr val="23283A"/>
                          </a:solidFill>
                          <a:latin typeface="Calibri (MS)"/>
                          <a:ea typeface="Calibri (MS)"/>
                          <a:cs typeface="Calibri (MS)"/>
                          <a:sym typeface="Calibri (MS)"/>
                        </a:rPr>
                        <a:t>5.1%</a:t>
                      </a:r>
                      <a:endParaRPr lang="en-US" sz="1100"/>
                    </a:p>
                  </a:txBody>
                  <a:tcPr marL="91440" marR="91440" marT="91440" marB="91440" anchor="ctr">
                    <a:lnL cmpd="sng" algn="ctr" cap="flat" w="9525">
                      <a:solidFill>
                        <a:srgbClr val="DCE2EE"/>
                      </a:solidFill>
                      <a:prstDash val="solid"/>
                      <a:round/>
                      <a:headEnd type="none" w="med" len="med"/>
                      <a:tailEnd type="none" w="med" len="med"/>
                    </a:lnL>
                    <a:lnR cmpd="sng" algn="ctr" cap="flat" w="9525">
                      <a:solidFill>
                        <a:srgbClr val="DCE2EE"/>
                      </a:solidFill>
                      <a:prstDash val="solid"/>
                      <a:round/>
                      <a:headEnd type="none" w="med" len="med"/>
                      <a:tailEnd type="none" w="med" len="med"/>
                    </a:lnR>
                    <a:lnT cmpd="sng" algn="ctr" cap="flat" w="9525">
                      <a:solidFill>
                        <a:srgbClr val="DCE2EE"/>
                      </a:solidFill>
                      <a:prstDash val="solid"/>
                      <a:round/>
                      <a:headEnd type="none" w="med" len="med"/>
                      <a:tailEnd type="none" w="med" len="med"/>
                    </a:lnT>
                    <a:lnB cmpd="sng" algn="ctr" cap="flat" w="9525">
                      <a:solidFill>
                        <a:srgbClr val="DCE2EE"/>
                      </a:solidFill>
                      <a:prstDash val="solid"/>
                      <a:round/>
                      <a:headEnd type="none" w="med" len="med"/>
                      <a:tailEnd type="none" w="med" len="med"/>
                    </a:lnB>
                    <a:solidFill>
                      <a:srgbClr val="FFFFFF"/>
                    </a:solidFill>
                  </a:tcPr>
                </a:tc>
                <a:tc>
                  <a:txBody>
                    <a:bodyPr anchor="t" rtlCol="false"/>
                    <a:lstStyle/>
                    <a:p>
                      <a:pPr algn="l">
                        <a:lnSpc>
                          <a:spcPts val="2340"/>
                        </a:lnSpc>
                        <a:defRPr/>
                      </a:pPr>
                      <a:r>
                        <a:rPr lang="en-US" sz="1950">
                          <a:solidFill>
                            <a:srgbClr val="23283A"/>
                          </a:solidFill>
                          <a:latin typeface="Calibri (MS)"/>
                          <a:ea typeface="Calibri (MS)"/>
                          <a:cs typeface="Calibri (MS)"/>
                          <a:sym typeface="Calibri (MS)"/>
                        </a:rPr>
                        <a:t>Flat demand needs no complexity; avoids overfitting</a:t>
                      </a:r>
                      <a:endParaRPr lang="en-US" sz="1100"/>
                    </a:p>
                  </a:txBody>
                  <a:tcPr marL="91440" marR="91440" marT="91440" marB="91440" anchor="ctr">
                    <a:lnL cmpd="sng" algn="ctr" cap="flat" w="9525">
                      <a:solidFill>
                        <a:srgbClr val="DCE2EE"/>
                      </a:solidFill>
                      <a:prstDash val="solid"/>
                      <a:round/>
                      <a:headEnd type="none" w="med" len="med"/>
                      <a:tailEnd type="none" w="med" len="med"/>
                    </a:lnL>
                    <a:lnR cmpd="sng" algn="ctr" cap="flat" w="9525">
                      <a:solidFill>
                        <a:srgbClr val="DCE2EE"/>
                      </a:solidFill>
                      <a:prstDash val="solid"/>
                      <a:round/>
                      <a:headEnd type="none" w="med" len="med"/>
                      <a:tailEnd type="none" w="med" len="med"/>
                    </a:lnR>
                    <a:lnT cmpd="sng" algn="ctr" cap="flat" w="9525">
                      <a:solidFill>
                        <a:srgbClr val="DCE2EE"/>
                      </a:solidFill>
                      <a:prstDash val="solid"/>
                      <a:round/>
                      <a:headEnd type="none" w="med" len="med"/>
                      <a:tailEnd type="none" w="med" len="med"/>
                    </a:lnT>
                    <a:lnB cmpd="sng" algn="ctr" cap="flat" w="9525">
                      <a:solidFill>
                        <a:srgbClr val="DCE2EE"/>
                      </a:solidFill>
                      <a:prstDash val="solid"/>
                      <a:round/>
                      <a:headEnd type="none" w="med" len="med"/>
                      <a:tailEnd type="none" w="med" len="med"/>
                    </a:lnB>
                    <a:solidFill>
                      <a:srgbClr val="FFFFFF"/>
                    </a:solidFill>
                  </a:tcPr>
                </a:tc>
              </a:tr>
              <a:tr h="781050">
                <a:tc>
                  <a:txBody>
                    <a:bodyPr anchor="t" rtlCol="false"/>
                    <a:lstStyle/>
                    <a:p>
                      <a:pPr algn="l">
                        <a:lnSpc>
                          <a:spcPts val="2340"/>
                        </a:lnSpc>
                        <a:defRPr/>
                      </a:pPr>
                      <a:r>
                        <a:rPr lang="en-US" sz="1950">
                          <a:solidFill>
                            <a:srgbClr val="23283A"/>
                          </a:solidFill>
                          <a:latin typeface="Calibri (MS)"/>
                          <a:ea typeface="Calibri (MS)"/>
                          <a:cs typeface="Calibri (MS)"/>
                          <a:sym typeface="Calibri (MS)"/>
                        </a:rPr>
                        <a:t>West</a:t>
                      </a:r>
                      <a:endParaRPr lang="en-US" sz="1100"/>
                    </a:p>
                  </a:txBody>
                  <a:tcPr marL="91440" marR="91440" marT="91440" marB="91440" anchor="ctr">
                    <a:lnL cmpd="sng" algn="ctr" cap="flat" w="9525">
                      <a:solidFill>
                        <a:srgbClr val="DCE2EE"/>
                      </a:solidFill>
                      <a:prstDash val="solid"/>
                      <a:round/>
                      <a:headEnd type="none" w="med" len="med"/>
                      <a:tailEnd type="none" w="med" len="med"/>
                    </a:lnL>
                    <a:lnR cmpd="sng" algn="ctr" cap="flat" w="9525">
                      <a:solidFill>
                        <a:srgbClr val="DCE2EE"/>
                      </a:solidFill>
                      <a:prstDash val="solid"/>
                      <a:round/>
                      <a:headEnd type="none" w="med" len="med"/>
                      <a:tailEnd type="none" w="med" len="med"/>
                    </a:lnR>
                    <a:lnT cmpd="sng" algn="ctr" cap="flat" w="9525">
                      <a:solidFill>
                        <a:srgbClr val="DCE2EE"/>
                      </a:solidFill>
                      <a:prstDash val="solid"/>
                      <a:round/>
                      <a:headEnd type="none" w="med" len="med"/>
                      <a:tailEnd type="none" w="med" len="med"/>
                    </a:lnT>
                    <a:lnB cmpd="sng" algn="ctr" cap="flat" w="9525">
                      <a:solidFill>
                        <a:srgbClr val="DCE2EE"/>
                      </a:solidFill>
                      <a:prstDash val="solid"/>
                      <a:round/>
                      <a:headEnd type="none" w="med" len="med"/>
                      <a:tailEnd type="none" w="med" len="med"/>
                    </a:lnB>
                    <a:solidFill>
                      <a:srgbClr val="EEEFF3"/>
                    </a:solidFill>
                  </a:tcPr>
                </a:tc>
                <a:tc>
                  <a:txBody>
                    <a:bodyPr anchor="t" rtlCol="false"/>
                    <a:lstStyle/>
                    <a:p>
                      <a:pPr algn="l">
                        <a:lnSpc>
                          <a:spcPts val="2340"/>
                        </a:lnSpc>
                        <a:defRPr/>
                      </a:pPr>
                      <a:r>
                        <a:rPr lang="en-US" sz="1950" b="true">
                          <a:solidFill>
                            <a:srgbClr val="1E2761"/>
                          </a:solidFill>
                          <a:latin typeface="Calibri (MS) Bold"/>
                          <a:ea typeface="Calibri (MS) Bold"/>
                          <a:cs typeface="Calibri (MS) Bold"/>
                          <a:sym typeface="Calibri (MS) Bold"/>
                        </a:rPr>
                        <a:t>Prophet</a:t>
                      </a:r>
                      <a:endParaRPr lang="en-US" sz="1100"/>
                    </a:p>
                  </a:txBody>
                  <a:tcPr marL="91440" marR="91440" marT="91440" marB="91440" anchor="ctr">
                    <a:lnL cmpd="sng" algn="ctr" cap="flat" w="9525">
                      <a:solidFill>
                        <a:srgbClr val="DCE2EE"/>
                      </a:solidFill>
                      <a:prstDash val="solid"/>
                      <a:round/>
                      <a:headEnd type="none" w="med" len="med"/>
                      <a:tailEnd type="none" w="med" len="med"/>
                    </a:lnL>
                    <a:lnR cmpd="sng" algn="ctr" cap="flat" w="9525">
                      <a:solidFill>
                        <a:srgbClr val="DCE2EE"/>
                      </a:solidFill>
                      <a:prstDash val="solid"/>
                      <a:round/>
                      <a:headEnd type="none" w="med" len="med"/>
                      <a:tailEnd type="none" w="med" len="med"/>
                    </a:lnR>
                    <a:lnT cmpd="sng" algn="ctr" cap="flat" w="9525">
                      <a:solidFill>
                        <a:srgbClr val="DCE2EE"/>
                      </a:solidFill>
                      <a:prstDash val="solid"/>
                      <a:round/>
                      <a:headEnd type="none" w="med" len="med"/>
                      <a:tailEnd type="none" w="med" len="med"/>
                    </a:lnT>
                    <a:lnB cmpd="sng" algn="ctr" cap="flat" w="9525">
                      <a:solidFill>
                        <a:srgbClr val="DCE2EE"/>
                      </a:solidFill>
                      <a:prstDash val="solid"/>
                      <a:round/>
                      <a:headEnd type="none" w="med" len="med"/>
                      <a:tailEnd type="none" w="med" len="med"/>
                    </a:lnB>
                    <a:solidFill>
                      <a:srgbClr val="EEEFF3"/>
                    </a:solidFill>
                  </a:tcPr>
                </a:tc>
                <a:tc>
                  <a:txBody>
                    <a:bodyPr anchor="t" rtlCol="false"/>
                    <a:lstStyle/>
                    <a:p>
                      <a:pPr algn="l">
                        <a:lnSpc>
                          <a:spcPts val="2340"/>
                        </a:lnSpc>
                        <a:defRPr/>
                      </a:pPr>
                      <a:r>
                        <a:rPr lang="en-US" sz="1950">
                          <a:solidFill>
                            <a:srgbClr val="23283A"/>
                          </a:solidFill>
                          <a:latin typeface="Calibri (MS)"/>
                          <a:ea typeface="Calibri (MS)"/>
                          <a:cs typeface="Calibri (MS)"/>
                          <a:sym typeface="Calibri (MS)"/>
                        </a:rPr>
                        <a:t>11.2%</a:t>
                      </a:r>
                      <a:endParaRPr lang="en-US" sz="1100"/>
                    </a:p>
                  </a:txBody>
                  <a:tcPr marL="91440" marR="91440" marT="91440" marB="91440" anchor="ctr">
                    <a:lnL cmpd="sng" algn="ctr" cap="flat" w="9525">
                      <a:solidFill>
                        <a:srgbClr val="DCE2EE"/>
                      </a:solidFill>
                      <a:prstDash val="solid"/>
                      <a:round/>
                      <a:headEnd type="none" w="med" len="med"/>
                      <a:tailEnd type="none" w="med" len="med"/>
                    </a:lnL>
                    <a:lnR cmpd="sng" algn="ctr" cap="flat" w="9525">
                      <a:solidFill>
                        <a:srgbClr val="DCE2EE"/>
                      </a:solidFill>
                      <a:prstDash val="solid"/>
                      <a:round/>
                      <a:headEnd type="none" w="med" len="med"/>
                      <a:tailEnd type="none" w="med" len="med"/>
                    </a:lnR>
                    <a:lnT cmpd="sng" algn="ctr" cap="flat" w="9525">
                      <a:solidFill>
                        <a:srgbClr val="DCE2EE"/>
                      </a:solidFill>
                      <a:prstDash val="solid"/>
                      <a:round/>
                      <a:headEnd type="none" w="med" len="med"/>
                      <a:tailEnd type="none" w="med" len="med"/>
                    </a:lnT>
                    <a:lnB cmpd="sng" algn="ctr" cap="flat" w="9525">
                      <a:solidFill>
                        <a:srgbClr val="DCE2EE"/>
                      </a:solidFill>
                      <a:prstDash val="solid"/>
                      <a:round/>
                      <a:headEnd type="none" w="med" len="med"/>
                      <a:tailEnd type="none" w="med" len="med"/>
                    </a:lnB>
                    <a:solidFill>
                      <a:srgbClr val="EEEFF3"/>
                    </a:solidFill>
                  </a:tcPr>
                </a:tc>
                <a:tc>
                  <a:txBody>
                    <a:bodyPr anchor="t" rtlCol="false"/>
                    <a:lstStyle/>
                    <a:p>
                      <a:pPr algn="l">
                        <a:lnSpc>
                          <a:spcPts val="2340"/>
                        </a:lnSpc>
                        <a:defRPr/>
                      </a:pPr>
                      <a:r>
                        <a:rPr lang="en-US" sz="1950">
                          <a:solidFill>
                            <a:srgbClr val="23283A"/>
                          </a:solidFill>
                          <a:latin typeface="Calibri (MS)"/>
                          <a:ea typeface="Calibri (MS)"/>
                          <a:cs typeface="Calibri (MS)"/>
                          <a:sym typeface="Calibri (MS)"/>
                        </a:rPr>
                        <a:t>Balances steady growth trend with seasonal peaks</a:t>
                      </a:r>
                      <a:endParaRPr lang="en-US" sz="1100"/>
                    </a:p>
                  </a:txBody>
                  <a:tcPr marL="91440" marR="91440" marT="91440" marB="91440" anchor="ctr">
                    <a:lnL cmpd="sng" algn="ctr" cap="flat" w="9525">
                      <a:solidFill>
                        <a:srgbClr val="DCE2EE"/>
                      </a:solidFill>
                      <a:prstDash val="solid"/>
                      <a:round/>
                      <a:headEnd type="none" w="med" len="med"/>
                      <a:tailEnd type="none" w="med" len="med"/>
                    </a:lnL>
                    <a:lnR cmpd="sng" algn="ctr" cap="flat" w="9525">
                      <a:solidFill>
                        <a:srgbClr val="DCE2EE"/>
                      </a:solidFill>
                      <a:prstDash val="solid"/>
                      <a:round/>
                      <a:headEnd type="none" w="med" len="med"/>
                      <a:tailEnd type="none" w="med" len="med"/>
                    </a:lnR>
                    <a:lnT cmpd="sng" algn="ctr" cap="flat" w="9525">
                      <a:solidFill>
                        <a:srgbClr val="DCE2EE"/>
                      </a:solidFill>
                      <a:prstDash val="solid"/>
                      <a:round/>
                      <a:headEnd type="none" w="med" len="med"/>
                      <a:tailEnd type="none" w="med" len="med"/>
                    </a:lnT>
                    <a:lnB cmpd="sng" algn="ctr" cap="flat" w="9525">
                      <a:solidFill>
                        <a:srgbClr val="DCE2EE"/>
                      </a:solidFill>
                      <a:prstDash val="solid"/>
                      <a:round/>
                      <a:headEnd type="none" w="med" len="med"/>
                      <a:tailEnd type="none" w="med" len="med"/>
                    </a:lnB>
                    <a:solidFill>
                      <a:srgbClr val="EEEFF3"/>
                    </a:solidFill>
                  </a:tcPr>
                </a:tc>
              </a:tr>
              <a:tr h="781050">
                <a:tc>
                  <a:txBody>
                    <a:bodyPr anchor="t" rtlCol="false"/>
                    <a:lstStyle/>
                    <a:p>
                      <a:pPr algn="l">
                        <a:lnSpc>
                          <a:spcPts val="2340"/>
                        </a:lnSpc>
                        <a:defRPr/>
                      </a:pPr>
                      <a:r>
                        <a:rPr lang="en-US" sz="1950">
                          <a:solidFill>
                            <a:srgbClr val="23283A"/>
                          </a:solidFill>
                          <a:latin typeface="Calibri (MS)"/>
                          <a:ea typeface="Calibri (MS)"/>
                          <a:cs typeface="Calibri (MS)"/>
                          <a:sym typeface="Calibri (MS)"/>
                        </a:rPr>
                        <a:t>Central</a:t>
                      </a:r>
                      <a:endParaRPr lang="en-US" sz="1100"/>
                    </a:p>
                  </a:txBody>
                  <a:tcPr marL="91440" marR="91440" marT="91440" marB="91440" anchor="ctr">
                    <a:lnL cmpd="sng" algn="ctr" cap="flat" w="9525">
                      <a:solidFill>
                        <a:srgbClr val="DCE2EE"/>
                      </a:solidFill>
                      <a:prstDash val="solid"/>
                      <a:round/>
                      <a:headEnd type="none" w="med" len="med"/>
                      <a:tailEnd type="none" w="med" len="med"/>
                    </a:lnL>
                    <a:lnR cmpd="sng" algn="ctr" cap="flat" w="9525">
                      <a:solidFill>
                        <a:srgbClr val="DCE2EE"/>
                      </a:solidFill>
                      <a:prstDash val="solid"/>
                      <a:round/>
                      <a:headEnd type="none" w="med" len="med"/>
                      <a:tailEnd type="none" w="med" len="med"/>
                    </a:lnR>
                    <a:lnT cmpd="sng" algn="ctr" cap="flat" w="9525">
                      <a:solidFill>
                        <a:srgbClr val="DCE2EE"/>
                      </a:solidFill>
                      <a:prstDash val="solid"/>
                      <a:round/>
                      <a:headEnd type="none" w="med" len="med"/>
                      <a:tailEnd type="none" w="med" len="med"/>
                    </a:lnT>
                    <a:lnB cmpd="sng" algn="ctr" cap="flat" w="9525">
                      <a:solidFill>
                        <a:srgbClr val="DCE2EE"/>
                      </a:solidFill>
                      <a:prstDash val="solid"/>
                      <a:round/>
                      <a:headEnd type="none" w="med" len="med"/>
                      <a:tailEnd type="none" w="med" len="med"/>
                    </a:lnB>
                    <a:solidFill>
                      <a:srgbClr val="FFFFFF"/>
                    </a:solidFill>
                  </a:tcPr>
                </a:tc>
                <a:tc>
                  <a:txBody>
                    <a:bodyPr anchor="t" rtlCol="false"/>
                    <a:lstStyle/>
                    <a:p>
                      <a:pPr algn="l">
                        <a:lnSpc>
                          <a:spcPts val="2340"/>
                        </a:lnSpc>
                        <a:defRPr/>
                      </a:pPr>
                      <a:r>
                        <a:rPr lang="en-US" sz="1950" b="true">
                          <a:solidFill>
                            <a:srgbClr val="1E2761"/>
                          </a:solidFill>
                          <a:latin typeface="Calibri (MS) Bold"/>
                          <a:ea typeface="Calibri (MS) Bold"/>
                          <a:cs typeface="Calibri (MS) Bold"/>
                          <a:sym typeface="Calibri (MS) Bold"/>
                        </a:rPr>
                        <a:t>Holt-Winters</a:t>
                      </a:r>
                      <a:endParaRPr lang="en-US" sz="1100"/>
                    </a:p>
                  </a:txBody>
                  <a:tcPr marL="91440" marR="91440" marT="91440" marB="91440" anchor="ctr">
                    <a:lnL cmpd="sng" algn="ctr" cap="flat" w="9525">
                      <a:solidFill>
                        <a:srgbClr val="DCE2EE"/>
                      </a:solidFill>
                      <a:prstDash val="solid"/>
                      <a:round/>
                      <a:headEnd type="none" w="med" len="med"/>
                      <a:tailEnd type="none" w="med" len="med"/>
                    </a:lnL>
                    <a:lnR cmpd="sng" algn="ctr" cap="flat" w="9525">
                      <a:solidFill>
                        <a:srgbClr val="DCE2EE"/>
                      </a:solidFill>
                      <a:prstDash val="solid"/>
                      <a:round/>
                      <a:headEnd type="none" w="med" len="med"/>
                      <a:tailEnd type="none" w="med" len="med"/>
                    </a:lnR>
                    <a:lnT cmpd="sng" algn="ctr" cap="flat" w="9525">
                      <a:solidFill>
                        <a:srgbClr val="DCE2EE"/>
                      </a:solidFill>
                      <a:prstDash val="solid"/>
                      <a:round/>
                      <a:headEnd type="none" w="med" len="med"/>
                      <a:tailEnd type="none" w="med" len="med"/>
                    </a:lnT>
                    <a:lnB cmpd="sng" algn="ctr" cap="flat" w="9525">
                      <a:solidFill>
                        <a:srgbClr val="DCE2EE"/>
                      </a:solidFill>
                      <a:prstDash val="solid"/>
                      <a:round/>
                      <a:headEnd type="none" w="med" len="med"/>
                      <a:tailEnd type="none" w="med" len="med"/>
                    </a:lnB>
                    <a:solidFill>
                      <a:srgbClr val="FFFFFF"/>
                    </a:solidFill>
                  </a:tcPr>
                </a:tc>
                <a:tc>
                  <a:txBody>
                    <a:bodyPr anchor="t" rtlCol="false"/>
                    <a:lstStyle/>
                    <a:p>
                      <a:pPr algn="l">
                        <a:lnSpc>
                          <a:spcPts val="2340"/>
                        </a:lnSpc>
                        <a:defRPr/>
                      </a:pPr>
                      <a:r>
                        <a:rPr lang="en-US" sz="1950">
                          <a:solidFill>
                            <a:srgbClr val="23283A"/>
                          </a:solidFill>
                          <a:latin typeface="Calibri (MS)"/>
                          <a:ea typeface="Calibri (MS)"/>
                          <a:cs typeface="Calibri (MS)"/>
                          <a:sym typeface="Calibri (MS)"/>
                        </a:rPr>
                        <a:t>6.8%</a:t>
                      </a:r>
                      <a:endParaRPr lang="en-US" sz="1100"/>
                    </a:p>
                  </a:txBody>
                  <a:tcPr marL="91440" marR="91440" marT="91440" marB="91440" anchor="ctr">
                    <a:lnL cmpd="sng" algn="ctr" cap="flat" w="9525">
                      <a:solidFill>
                        <a:srgbClr val="DCE2EE"/>
                      </a:solidFill>
                      <a:prstDash val="solid"/>
                      <a:round/>
                      <a:headEnd type="none" w="med" len="med"/>
                      <a:tailEnd type="none" w="med" len="med"/>
                    </a:lnL>
                    <a:lnR cmpd="sng" algn="ctr" cap="flat" w="9525">
                      <a:solidFill>
                        <a:srgbClr val="DCE2EE"/>
                      </a:solidFill>
                      <a:prstDash val="solid"/>
                      <a:round/>
                      <a:headEnd type="none" w="med" len="med"/>
                      <a:tailEnd type="none" w="med" len="med"/>
                    </a:lnR>
                    <a:lnT cmpd="sng" algn="ctr" cap="flat" w="9525">
                      <a:solidFill>
                        <a:srgbClr val="DCE2EE"/>
                      </a:solidFill>
                      <a:prstDash val="solid"/>
                      <a:round/>
                      <a:headEnd type="none" w="med" len="med"/>
                      <a:tailEnd type="none" w="med" len="med"/>
                    </a:lnT>
                    <a:lnB cmpd="sng" algn="ctr" cap="flat" w="9525">
                      <a:solidFill>
                        <a:srgbClr val="DCE2EE"/>
                      </a:solidFill>
                      <a:prstDash val="solid"/>
                      <a:round/>
                      <a:headEnd type="none" w="med" len="med"/>
                      <a:tailEnd type="none" w="med" len="med"/>
                    </a:lnB>
                    <a:solidFill>
                      <a:srgbClr val="FFFFFF"/>
                    </a:solidFill>
                  </a:tcPr>
                </a:tc>
                <a:tc>
                  <a:txBody>
                    <a:bodyPr anchor="t" rtlCol="false"/>
                    <a:lstStyle/>
                    <a:p>
                      <a:pPr algn="l">
                        <a:lnSpc>
                          <a:spcPts val="2340"/>
                        </a:lnSpc>
                        <a:defRPr/>
                      </a:pPr>
                      <a:r>
                        <a:rPr lang="en-US" sz="1950">
                          <a:solidFill>
                            <a:srgbClr val="23283A"/>
                          </a:solidFill>
                          <a:latin typeface="Calibri (MS)"/>
                          <a:ea typeface="Calibri (MS)"/>
                          <a:cs typeface="Calibri (MS)"/>
                          <a:sym typeface="Calibri (MS)"/>
                        </a:rPr>
                        <a:t>Matches quarterly seasonality plus moderate growth</a:t>
                      </a:r>
                      <a:endParaRPr lang="en-US" sz="1100"/>
                    </a:p>
                  </a:txBody>
                  <a:tcPr marL="91440" marR="91440" marT="91440" marB="91440" anchor="ctr">
                    <a:lnL cmpd="sng" algn="ctr" cap="flat" w="9525">
                      <a:solidFill>
                        <a:srgbClr val="DCE2EE"/>
                      </a:solidFill>
                      <a:prstDash val="solid"/>
                      <a:round/>
                      <a:headEnd type="none" w="med" len="med"/>
                      <a:tailEnd type="none" w="med" len="med"/>
                    </a:lnL>
                    <a:lnR cmpd="sng" algn="ctr" cap="flat" w="9525">
                      <a:solidFill>
                        <a:srgbClr val="DCE2EE"/>
                      </a:solidFill>
                      <a:prstDash val="solid"/>
                      <a:round/>
                      <a:headEnd type="none" w="med" len="med"/>
                      <a:tailEnd type="none" w="med" len="med"/>
                    </a:lnR>
                    <a:lnT cmpd="sng" algn="ctr" cap="flat" w="9525">
                      <a:solidFill>
                        <a:srgbClr val="DCE2EE"/>
                      </a:solidFill>
                      <a:prstDash val="solid"/>
                      <a:round/>
                      <a:headEnd type="none" w="med" len="med"/>
                      <a:tailEnd type="none" w="med" len="med"/>
                    </a:lnT>
                    <a:lnB cmpd="sng" algn="ctr" cap="flat" w="9525">
                      <a:solidFill>
                        <a:srgbClr val="DCE2EE"/>
                      </a:solidFill>
                      <a:prstDash val="solid"/>
                      <a:round/>
                      <a:headEnd type="none" w="med" len="med"/>
                      <a:tailEnd type="none" w="med" len="med"/>
                    </a:lnB>
                    <a:solidFill>
                      <a:srgbClr val="FFFFFF"/>
                    </a:solidFill>
                  </a:tcPr>
                </a:tc>
              </a:tr>
            </a:tbl>
          </a:graphicData>
        </a:graphic>
      </p:graphicFrame>
      <p:grpSp>
        <p:nvGrpSpPr>
          <p:cNvPr name="Group 9" id="9"/>
          <p:cNvGrpSpPr/>
          <p:nvPr/>
        </p:nvGrpSpPr>
        <p:grpSpPr>
          <a:xfrm rot="0">
            <a:off x="822960" y="7475220"/>
            <a:ext cx="16664940" cy="1851660"/>
            <a:chOff x="0" y="0"/>
            <a:chExt cx="22219920" cy="2468880"/>
          </a:xfrm>
        </p:grpSpPr>
        <p:sp>
          <p:nvSpPr>
            <p:cNvPr name="Freeform 10" id="10"/>
            <p:cNvSpPr/>
            <p:nvPr/>
          </p:nvSpPr>
          <p:spPr>
            <a:xfrm flipH="false" flipV="false" rot="0">
              <a:off x="0" y="0"/>
              <a:ext cx="22219920" cy="2468880"/>
            </a:xfrm>
            <a:custGeom>
              <a:avLst/>
              <a:gdLst/>
              <a:ahLst/>
              <a:cxnLst/>
              <a:rect r="r" b="b" t="t" l="l"/>
              <a:pathLst>
                <a:path h="2468880" w="22219920">
                  <a:moveTo>
                    <a:pt x="0" y="219456"/>
                  </a:moveTo>
                  <a:cubicBezTo>
                    <a:pt x="0" y="98298"/>
                    <a:pt x="98298" y="0"/>
                    <a:pt x="219456" y="0"/>
                  </a:cubicBezTo>
                  <a:lnTo>
                    <a:pt x="22000463" y="0"/>
                  </a:lnTo>
                  <a:cubicBezTo>
                    <a:pt x="22121622" y="0"/>
                    <a:pt x="22219920" y="98298"/>
                    <a:pt x="22219920" y="219456"/>
                  </a:cubicBezTo>
                  <a:lnTo>
                    <a:pt x="22219920" y="2249424"/>
                  </a:lnTo>
                  <a:cubicBezTo>
                    <a:pt x="22219920" y="2370582"/>
                    <a:pt x="22121622" y="2468880"/>
                    <a:pt x="22000463" y="2468880"/>
                  </a:cubicBezTo>
                  <a:lnTo>
                    <a:pt x="219456" y="2468880"/>
                  </a:lnTo>
                  <a:cubicBezTo>
                    <a:pt x="98298" y="2468880"/>
                    <a:pt x="0" y="2370582"/>
                    <a:pt x="0" y="2249424"/>
                  </a:cubicBezTo>
                  <a:close/>
                </a:path>
              </a:pathLst>
            </a:custGeom>
            <a:solidFill>
              <a:srgbClr val="1E2761"/>
            </a:solidFill>
          </p:spPr>
        </p:sp>
      </p:grpSp>
      <p:grpSp>
        <p:nvGrpSpPr>
          <p:cNvPr name="Group 11" id="11"/>
          <p:cNvGrpSpPr/>
          <p:nvPr/>
        </p:nvGrpSpPr>
        <p:grpSpPr>
          <a:xfrm rot="0">
            <a:off x="1303020" y="7475220"/>
            <a:ext cx="15773400" cy="1851660"/>
            <a:chOff x="0" y="0"/>
            <a:chExt cx="21031200" cy="2468880"/>
          </a:xfrm>
        </p:grpSpPr>
        <p:sp>
          <p:nvSpPr>
            <p:cNvPr name="Freeform 12" id="12"/>
            <p:cNvSpPr/>
            <p:nvPr/>
          </p:nvSpPr>
          <p:spPr>
            <a:xfrm flipH="false" flipV="false" rot="0">
              <a:off x="0" y="0"/>
              <a:ext cx="21031200" cy="2468880"/>
            </a:xfrm>
            <a:custGeom>
              <a:avLst/>
              <a:gdLst/>
              <a:ahLst/>
              <a:cxnLst/>
              <a:rect r="r" b="b" t="t" l="l"/>
              <a:pathLst>
                <a:path h="2468880" w="21031200">
                  <a:moveTo>
                    <a:pt x="0" y="0"/>
                  </a:moveTo>
                  <a:lnTo>
                    <a:pt x="21031200" y="0"/>
                  </a:lnTo>
                  <a:lnTo>
                    <a:pt x="21031200" y="2468880"/>
                  </a:lnTo>
                  <a:lnTo>
                    <a:pt x="0" y="2468880"/>
                  </a:lnTo>
                  <a:close/>
                </a:path>
              </a:pathLst>
            </a:custGeom>
            <a:blipFill>
              <a:blip r:embed="rId3">
                <a:alphaModFix amt="0"/>
              </a:blip>
              <a:stretch>
                <a:fillRect l="0" t="-115983" r="0" b="-115983"/>
              </a:stretch>
            </a:blipFill>
          </p:spPr>
        </p:sp>
        <p:sp>
          <p:nvSpPr>
            <p:cNvPr name="TextBox 13" id="13"/>
            <p:cNvSpPr txBox="true"/>
            <p:nvPr/>
          </p:nvSpPr>
          <p:spPr>
            <a:xfrm>
              <a:off x="0" y="-38100"/>
              <a:ext cx="21031200" cy="2506980"/>
            </a:xfrm>
            <a:prstGeom prst="rect">
              <a:avLst/>
            </a:prstGeom>
          </p:spPr>
          <p:txBody>
            <a:bodyPr anchor="ctr" rtlCol="false" tIns="0" lIns="0" bIns="0" rIns="0"/>
            <a:lstStyle/>
            <a:p>
              <a:pPr algn="l">
                <a:lnSpc>
                  <a:spcPts val="2999"/>
                </a:lnSpc>
              </a:pPr>
              <a:r>
                <a:rPr lang="en-US" sz="2250" i="true">
                  <a:solidFill>
                    <a:srgbClr val="FFFFFF"/>
                  </a:solidFill>
                  <a:latin typeface="Cambria Italics"/>
                  <a:ea typeface="Cambria Italics"/>
                  <a:cs typeface="Cambria Italics"/>
                  <a:sym typeface="Cambria Italics"/>
                </a:rPr>
                <a:t>We are not choosing one company-wide forecasting standard — we are matching model sophistication to the actual shape of regional demand. That region-by-region discipline is what drives the accuracy gains in this table.</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4F6FB"/>
        </a:solidFill>
      </p:bgPr>
    </p:bg>
    <p:spTree>
      <p:nvGrpSpPr>
        <p:cNvPr id="1" name=""/>
        <p:cNvGrpSpPr/>
        <p:nvPr/>
      </p:nvGrpSpPr>
      <p:grpSpPr>
        <a:xfrm>
          <a:off x="0" y="0"/>
          <a:ext cx="0" cy="0"/>
          <a:chOff x="0" y="0"/>
          <a:chExt cx="0" cy="0"/>
        </a:xfrm>
      </p:grpSpPr>
      <p:grpSp>
        <p:nvGrpSpPr>
          <p:cNvPr name="Group 2" id="2"/>
          <p:cNvGrpSpPr/>
          <p:nvPr/>
        </p:nvGrpSpPr>
        <p:grpSpPr>
          <a:xfrm rot="0">
            <a:off x="822960" y="576072"/>
            <a:ext cx="10972800" cy="411480"/>
            <a:chOff x="0" y="0"/>
            <a:chExt cx="14630400" cy="548640"/>
          </a:xfrm>
        </p:grpSpPr>
        <p:sp>
          <p:nvSpPr>
            <p:cNvPr name="Freeform 3" id="3"/>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4" id="4"/>
            <p:cNvSpPr txBox="true"/>
            <p:nvPr/>
          </p:nvSpPr>
          <p:spPr>
            <a:xfrm>
              <a:off x="0" y="-38100"/>
              <a:ext cx="14630400" cy="586740"/>
            </a:xfrm>
            <a:prstGeom prst="rect">
              <a:avLst/>
            </a:prstGeom>
          </p:spPr>
          <p:txBody>
            <a:bodyPr anchor="ctr" rtlCol="false" tIns="0" lIns="0" bIns="0" rIns="0"/>
            <a:lstStyle/>
            <a:p>
              <a:pPr algn="l">
                <a:lnSpc>
                  <a:spcPts val="2160"/>
                </a:lnSpc>
              </a:pPr>
              <a:r>
                <a:rPr lang="en-US" b="true" sz="1800" spc="300">
                  <a:solidFill>
                    <a:srgbClr val="B08D57"/>
                  </a:solidFill>
                  <a:latin typeface="Calibri (MS) Bold"/>
                  <a:ea typeface="Calibri (MS) Bold"/>
                  <a:cs typeface="Calibri (MS) Bold"/>
                  <a:sym typeface="Calibri (MS) Bold"/>
                </a:rPr>
                <a:t>TASK 6 DELIVERABLE</a:t>
              </a:r>
            </a:p>
          </p:txBody>
        </p:sp>
      </p:grpSp>
      <p:grpSp>
        <p:nvGrpSpPr>
          <p:cNvPr name="Group 5" id="5"/>
          <p:cNvGrpSpPr/>
          <p:nvPr/>
        </p:nvGrpSpPr>
        <p:grpSpPr>
          <a:xfrm rot="0">
            <a:off x="822960" y="987552"/>
            <a:ext cx="16596360" cy="1234440"/>
            <a:chOff x="0" y="0"/>
            <a:chExt cx="22128480" cy="1645920"/>
          </a:xfrm>
        </p:grpSpPr>
        <p:sp>
          <p:nvSpPr>
            <p:cNvPr name="Freeform 6" id="6"/>
            <p:cNvSpPr/>
            <p:nvPr/>
          </p:nvSpPr>
          <p:spPr>
            <a:xfrm flipH="false" flipV="false" rot="0">
              <a:off x="0" y="0"/>
              <a:ext cx="22128480" cy="1645920"/>
            </a:xfrm>
            <a:custGeom>
              <a:avLst/>
              <a:gdLst/>
              <a:ahLst/>
              <a:cxnLst/>
              <a:rect r="r" b="b" t="t" l="l"/>
              <a:pathLst>
                <a:path h="1645920" w="22128480">
                  <a:moveTo>
                    <a:pt x="0" y="0"/>
                  </a:moveTo>
                  <a:lnTo>
                    <a:pt x="22128480" y="0"/>
                  </a:lnTo>
                  <a:lnTo>
                    <a:pt x="22128480" y="1645920"/>
                  </a:lnTo>
                  <a:lnTo>
                    <a:pt x="0" y="1645920"/>
                  </a:lnTo>
                  <a:close/>
                </a:path>
              </a:pathLst>
            </a:custGeom>
            <a:blipFill>
              <a:blip r:embed="rId3">
                <a:alphaModFix amt="0"/>
              </a:blip>
              <a:stretch>
                <a:fillRect l="0" t="-211965" r="0" b="-211965"/>
              </a:stretch>
            </a:blipFill>
          </p:spPr>
        </p:sp>
        <p:sp>
          <p:nvSpPr>
            <p:cNvPr name="TextBox 7" id="7"/>
            <p:cNvSpPr txBox="true"/>
            <p:nvPr/>
          </p:nvSpPr>
          <p:spPr>
            <a:xfrm>
              <a:off x="0" y="-19050"/>
              <a:ext cx="22128480" cy="1664970"/>
            </a:xfrm>
            <a:prstGeom prst="rect">
              <a:avLst/>
            </a:prstGeom>
          </p:spPr>
          <p:txBody>
            <a:bodyPr anchor="ctr" rtlCol="false" tIns="0" lIns="0" bIns="0" rIns="0"/>
            <a:lstStyle/>
            <a:p>
              <a:pPr algn="l">
                <a:lnSpc>
                  <a:spcPts val="5400"/>
                </a:lnSpc>
              </a:pPr>
              <a:r>
                <a:rPr lang="en-US" sz="4500" b="true">
                  <a:solidFill>
                    <a:srgbClr val="1E2761"/>
                  </a:solidFill>
                  <a:latin typeface="Cambria Bold"/>
                  <a:ea typeface="Cambria Bold"/>
                  <a:cs typeface="Cambria Bold"/>
                  <a:sym typeface="Cambria Bold"/>
                </a:rPr>
                <a:t>Critique of NotebookLM: Insight Added vs. Numbers Restated</a:t>
              </a:r>
            </a:p>
          </p:txBody>
        </p:sp>
      </p:grpSp>
      <p:grpSp>
        <p:nvGrpSpPr>
          <p:cNvPr name="Group 8" id="8"/>
          <p:cNvGrpSpPr/>
          <p:nvPr/>
        </p:nvGrpSpPr>
        <p:grpSpPr>
          <a:xfrm rot="0">
            <a:off x="822960" y="2537460"/>
            <a:ext cx="8092440" cy="5280660"/>
            <a:chOff x="0" y="0"/>
            <a:chExt cx="10789920" cy="7040880"/>
          </a:xfrm>
        </p:grpSpPr>
        <p:sp>
          <p:nvSpPr>
            <p:cNvPr name="Freeform 9" id="9"/>
            <p:cNvSpPr/>
            <p:nvPr/>
          </p:nvSpPr>
          <p:spPr>
            <a:xfrm flipH="false" flipV="false" rot="0">
              <a:off x="0" y="0"/>
              <a:ext cx="10789920" cy="7040880"/>
            </a:xfrm>
            <a:custGeom>
              <a:avLst/>
              <a:gdLst/>
              <a:ahLst/>
              <a:cxnLst/>
              <a:rect r="r" b="b" t="t" l="l"/>
              <a:pathLst>
                <a:path h="7040880" w="10789920">
                  <a:moveTo>
                    <a:pt x="0" y="219456"/>
                  </a:moveTo>
                  <a:cubicBezTo>
                    <a:pt x="0" y="98298"/>
                    <a:pt x="98298" y="0"/>
                    <a:pt x="219456" y="0"/>
                  </a:cubicBezTo>
                  <a:lnTo>
                    <a:pt x="10570464" y="0"/>
                  </a:lnTo>
                  <a:cubicBezTo>
                    <a:pt x="10691622" y="0"/>
                    <a:pt x="10789920" y="98298"/>
                    <a:pt x="10789920" y="219456"/>
                  </a:cubicBezTo>
                  <a:lnTo>
                    <a:pt x="10789920" y="6821424"/>
                  </a:lnTo>
                  <a:cubicBezTo>
                    <a:pt x="10789920" y="6942582"/>
                    <a:pt x="10691622" y="7040880"/>
                    <a:pt x="10570464" y="7040880"/>
                  </a:cubicBezTo>
                  <a:lnTo>
                    <a:pt x="219456" y="7040880"/>
                  </a:lnTo>
                  <a:cubicBezTo>
                    <a:pt x="98298" y="7040880"/>
                    <a:pt x="0" y="6942582"/>
                    <a:pt x="0" y="6821424"/>
                  </a:cubicBezTo>
                  <a:close/>
                </a:path>
              </a:pathLst>
            </a:custGeom>
            <a:solidFill>
              <a:srgbClr val="E4F2F1"/>
            </a:solidFill>
          </p:spPr>
        </p:sp>
      </p:grpSp>
      <p:grpSp>
        <p:nvGrpSpPr>
          <p:cNvPr name="Group 10" id="10"/>
          <p:cNvGrpSpPr/>
          <p:nvPr/>
        </p:nvGrpSpPr>
        <p:grpSpPr>
          <a:xfrm rot="0">
            <a:off x="1234440" y="2811780"/>
            <a:ext cx="7269480" cy="480060"/>
            <a:chOff x="0" y="0"/>
            <a:chExt cx="9692640" cy="640080"/>
          </a:xfrm>
        </p:grpSpPr>
        <p:sp>
          <p:nvSpPr>
            <p:cNvPr name="Freeform 11" id="11"/>
            <p:cNvSpPr/>
            <p:nvPr/>
          </p:nvSpPr>
          <p:spPr>
            <a:xfrm flipH="false" flipV="false" rot="0">
              <a:off x="0" y="0"/>
              <a:ext cx="9692640" cy="640080"/>
            </a:xfrm>
            <a:custGeom>
              <a:avLst/>
              <a:gdLst/>
              <a:ahLst/>
              <a:cxnLst/>
              <a:rect r="r" b="b" t="t" l="l"/>
              <a:pathLst>
                <a:path h="640080" w="9692640">
                  <a:moveTo>
                    <a:pt x="0" y="0"/>
                  </a:moveTo>
                  <a:lnTo>
                    <a:pt x="9692640" y="0"/>
                  </a:lnTo>
                  <a:lnTo>
                    <a:pt x="9692640" y="640080"/>
                  </a:lnTo>
                  <a:lnTo>
                    <a:pt x="0" y="640080"/>
                  </a:lnTo>
                  <a:close/>
                </a:path>
              </a:pathLst>
            </a:custGeom>
            <a:blipFill>
              <a:blip r:embed="rId3">
                <a:alphaModFix amt="0"/>
              </a:blip>
              <a:stretch>
                <a:fillRect l="0" t="-245059" r="0" b="-245059"/>
              </a:stretch>
            </a:blipFill>
          </p:spPr>
        </p:sp>
        <p:sp>
          <p:nvSpPr>
            <p:cNvPr name="TextBox 12" id="12"/>
            <p:cNvSpPr txBox="true"/>
            <p:nvPr/>
          </p:nvSpPr>
          <p:spPr>
            <a:xfrm>
              <a:off x="0" y="-47625"/>
              <a:ext cx="9692640" cy="687705"/>
            </a:xfrm>
            <a:prstGeom prst="rect">
              <a:avLst/>
            </a:prstGeom>
          </p:spPr>
          <p:txBody>
            <a:bodyPr anchor="ctr" rtlCol="false" tIns="0" lIns="0" bIns="0" rIns="0"/>
            <a:lstStyle/>
            <a:p>
              <a:pPr algn="l">
                <a:lnSpc>
                  <a:spcPts val="2340"/>
                </a:lnSpc>
              </a:pPr>
              <a:r>
                <a:rPr lang="en-US" b="true" sz="1950" spc="150">
                  <a:solidFill>
                    <a:srgbClr val="0E7C7B"/>
                  </a:solidFill>
                  <a:latin typeface="Calibri (MS) Bold"/>
                  <a:ea typeface="Calibri (MS) Bold"/>
                  <a:cs typeface="Calibri (MS) Bold"/>
                  <a:sym typeface="Calibri (MS) Bold"/>
                </a:rPr>
                <a:t>WHERE IT ADDED REAL INSIGHT</a:t>
              </a:r>
            </a:p>
          </p:txBody>
        </p:sp>
      </p:grpSp>
      <p:grpSp>
        <p:nvGrpSpPr>
          <p:cNvPr name="Group 13" id="13"/>
          <p:cNvGrpSpPr/>
          <p:nvPr/>
        </p:nvGrpSpPr>
        <p:grpSpPr>
          <a:xfrm rot="0">
            <a:off x="1234440" y="3429000"/>
            <a:ext cx="7269480" cy="4183380"/>
            <a:chOff x="0" y="0"/>
            <a:chExt cx="9692640" cy="5577840"/>
          </a:xfrm>
        </p:grpSpPr>
        <p:sp>
          <p:nvSpPr>
            <p:cNvPr name="Freeform 14" id="14"/>
            <p:cNvSpPr/>
            <p:nvPr/>
          </p:nvSpPr>
          <p:spPr>
            <a:xfrm flipH="false" flipV="false" rot="0">
              <a:off x="0" y="0"/>
              <a:ext cx="9692640" cy="5577840"/>
            </a:xfrm>
            <a:custGeom>
              <a:avLst/>
              <a:gdLst/>
              <a:ahLst/>
              <a:cxnLst/>
              <a:rect r="r" b="b" t="t" l="l"/>
              <a:pathLst>
                <a:path h="5577840" w="9692640">
                  <a:moveTo>
                    <a:pt x="0" y="0"/>
                  </a:moveTo>
                  <a:lnTo>
                    <a:pt x="9692640" y="0"/>
                  </a:lnTo>
                  <a:lnTo>
                    <a:pt x="9692640" y="5577840"/>
                  </a:lnTo>
                  <a:lnTo>
                    <a:pt x="0" y="5577840"/>
                  </a:lnTo>
                  <a:close/>
                </a:path>
              </a:pathLst>
            </a:custGeom>
            <a:blipFill>
              <a:blip r:embed="rId3">
                <a:alphaModFix amt="0"/>
              </a:blip>
              <a:stretch>
                <a:fillRect l="-23835" t="0" r="-23835" b="0"/>
              </a:stretch>
            </a:blipFill>
          </p:spPr>
        </p:sp>
        <p:sp>
          <p:nvSpPr>
            <p:cNvPr name="TextBox 15" id="15"/>
            <p:cNvSpPr txBox="true"/>
            <p:nvPr/>
          </p:nvSpPr>
          <p:spPr>
            <a:xfrm>
              <a:off x="0" y="-85725"/>
              <a:ext cx="9692640" cy="5663565"/>
            </a:xfrm>
            <a:prstGeom prst="rect">
              <a:avLst/>
            </a:prstGeom>
          </p:spPr>
          <p:txBody>
            <a:bodyPr anchor="ctr" rtlCol="false" tIns="0" lIns="0" bIns="0" rIns="0"/>
            <a:lstStyle/>
            <a:p>
              <a:pPr algn="l" marL="352901" indent="-176451" lvl="1">
                <a:lnSpc>
                  <a:spcPts val="2700"/>
                </a:lnSpc>
                <a:buFont typeface="Arial"/>
                <a:buChar char="•"/>
              </a:pPr>
              <a:r>
                <a:rPr lang="en-US" sz="1950">
                  <a:solidFill>
                    <a:srgbClr val="23283A"/>
                  </a:solidFill>
                  <a:latin typeface="Calibri (MS)"/>
                  <a:ea typeface="Calibri (MS)"/>
                  <a:cs typeface="Calibri (MS)"/>
                  <a:sym typeface="Calibri (MS)"/>
                </a:rPr>
                <a:t>Connected quantitative winners to qualitative causes — e.g., Prophet's changepoint strength → South's weather surges</a:t>
              </a:r>
            </a:p>
            <a:p>
              <a:pPr algn="l" marL="352901" indent="-176451" lvl="1">
                <a:lnSpc>
                  <a:spcPts val="2700"/>
                </a:lnSpc>
                <a:buFont typeface="Arial"/>
                <a:buChar char="•"/>
              </a:pPr>
              <a:r>
                <a:rPr lang="en-US" sz="1950">
                  <a:solidFill>
                    <a:srgbClr val="23283A"/>
                  </a:solidFill>
                  <a:latin typeface="Calibri (MS)"/>
                  <a:ea typeface="Calibri (MS)"/>
                  <a:cs typeface="Calibri (MS)"/>
                  <a:sym typeface="Calibri (MS)"/>
                </a:rPr>
                <a:t>Correctly diagnosed overfitting behavior in the East without being explicitly told the term</a:t>
              </a:r>
            </a:p>
            <a:p>
              <a:pPr algn="l" marL="352901" indent="-176451" lvl="1">
                <a:lnSpc>
                  <a:spcPts val="2700"/>
                </a:lnSpc>
                <a:buFont typeface="Arial"/>
                <a:buChar char="•"/>
              </a:pPr>
              <a:r>
                <a:rPr lang="en-US" sz="1950">
                  <a:solidFill>
                    <a:srgbClr val="23283A"/>
                  </a:solidFill>
                  <a:latin typeface="Calibri (MS)"/>
                  <a:ea typeface="Calibri (MS)"/>
                  <a:cs typeface="Calibri (MS)"/>
                  <a:sym typeface="Calibri (MS)"/>
                </a:rPr>
                <a:t>Synthesized one consistent, defensible decision rule across all five regions rather than five isolated answers</a:t>
              </a:r>
            </a:p>
          </p:txBody>
        </p:sp>
      </p:grpSp>
      <p:grpSp>
        <p:nvGrpSpPr>
          <p:cNvPr name="Group 16" id="16"/>
          <p:cNvGrpSpPr/>
          <p:nvPr/>
        </p:nvGrpSpPr>
        <p:grpSpPr>
          <a:xfrm rot="0">
            <a:off x="9258300" y="2537460"/>
            <a:ext cx="8229600" cy="5280660"/>
            <a:chOff x="0" y="0"/>
            <a:chExt cx="10972800" cy="7040880"/>
          </a:xfrm>
        </p:grpSpPr>
        <p:sp>
          <p:nvSpPr>
            <p:cNvPr name="Freeform 17" id="17"/>
            <p:cNvSpPr/>
            <p:nvPr/>
          </p:nvSpPr>
          <p:spPr>
            <a:xfrm flipH="false" flipV="false" rot="0">
              <a:off x="0" y="0"/>
              <a:ext cx="10972800" cy="7040880"/>
            </a:xfrm>
            <a:custGeom>
              <a:avLst/>
              <a:gdLst/>
              <a:ahLst/>
              <a:cxnLst/>
              <a:rect r="r" b="b" t="t" l="l"/>
              <a:pathLst>
                <a:path h="7040880" w="10972800">
                  <a:moveTo>
                    <a:pt x="0" y="219456"/>
                  </a:moveTo>
                  <a:cubicBezTo>
                    <a:pt x="0" y="98298"/>
                    <a:pt x="98298" y="0"/>
                    <a:pt x="219456" y="0"/>
                  </a:cubicBezTo>
                  <a:lnTo>
                    <a:pt x="10753344" y="0"/>
                  </a:lnTo>
                  <a:cubicBezTo>
                    <a:pt x="10874502" y="0"/>
                    <a:pt x="10972800" y="98298"/>
                    <a:pt x="10972800" y="219456"/>
                  </a:cubicBezTo>
                  <a:lnTo>
                    <a:pt x="10972800" y="6821424"/>
                  </a:lnTo>
                  <a:cubicBezTo>
                    <a:pt x="10972800" y="6942582"/>
                    <a:pt x="10874502" y="7040880"/>
                    <a:pt x="10753344" y="7040880"/>
                  </a:cubicBezTo>
                  <a:lnTo>
                    <a:pt x="219456" y="7040880"/>
                  </a:lnTo>
                  <a:cubicBezTo>
                    <a:pt x="98298" y="7040880"/>
                    <a:pt x="0" y="6942582"/>
                    <a:pt x="0" y="6821424"/>
                  </a:cubicBezTo>
                  <a:close/>
                </a:path>
              </a:pathLst>
            </a:custGeom>
            <a:solidFill>
              <a:srgbClr val="EEEFF3"/>
            </a:solidFill>
          </p:spPr>
        </p:sp>
      </p:grpSp>
      <p:grpSp>
        <p:nvGrpSpPr>
          <p:cNvPr name="Group 18" id="18"/>
          <p:cNvGrpSpPr/>
          <p:nvPr/>
        </p:nvGrpSpPr>
        <p:grpSpPr>
          <a:xfrm rot="0">
            <a:off x="9669780" y="2811780"/>
            <a:ext cx="7406640" cy="480060"/>
            <a:chOff x="0" y="0"/>
            <a:chExt cx="9875520" cy="640080"/>
          </a:xfrm>
        </p:grpSpPr>
        <p:sp>
          <p:nvSpPr>
            <p:cNvPr name="Freeform 19" id="19"/>
            <p:cNvSpPr/>
            <p:nvPr/>
          </p:nvSpPr>
          <p:spPr>
            <a:xfrm flipH="false" flipV="false" rot="0">
              <a:off x="0" y="0"/>
              <a:ext cx="9875520" cy="640080"/>
            </a:xfrm>
            <a:custGeom>
              <a:avLst/>
              <a:gdLst/>
              <a:ahLst/>
              <a:cxnLst/>
              <a:rect r="r" b="b" t="t" l="l"/>
              <a:pathLst>
                <a:path h="640080" w="9875520">
                  <a:moveTo>
                    <a:pt x="0" y="0"/>
                  </a:moveTo>
                  <a:lnTo>
                    <a:pt x="9875520" y="0"/>
                  </a:lnTo>
                  <a:lnTo>
                    <a:pt x="9875520" y="640080"/>
                  </a:lnTo>
                  <a:lnTo>
                    <a:pt x="0" y="640080"/>
                  </a:lnTo>
                  <a:close/>
                </a:path>
              </a:pathLst>
            </a:custGeom>
            <a:blipFill>
              <a:blip r:embed="rId3">
                <a:alphaModFix amt="0"/>
              </a:blip>
              <a:stretch>
                <a:fillRect l="0" t="-250626" r="0" b="-250626"/>
              </a:stretch>
            </a:blipFill>
          </p:spPr>
        </p:sp>
        <p:sp>
          <p:nvSpPr>
            <p:cNvPr name="TextBox 20" id="20"/>
            <p:cNvSpPr txBox="true"/>
            <p:nvPr/>
          </p:nvSpPr>
          <p:spPr>
            <a:xfrm>
              <a:off x="0" y="-47625"/>
              <a:ext cx="9875520" cy="687705"/>
            </a:xfrm>
            <a:prstGeom prst="rect">
              <a:avLst/>
            </a:prstGeom>
          </p:spPr>
          <p:txBody>
            <a:bodyPr anchor="ctr" rtlCol="false" tIns="0" lIns="0" bIns="0" rIns="0"/>
            <a:lstStyle/>
            <a:p>
              <a:pPr algn="l">
                <a:lnSpc>
                  <a:spcPts val="2340"/>
                </a:lnSpc>
              </a:pPr>
              <a:r>
                <a:rPr lang="en-US" b="true" sz="1950" spc="150">
                  <a:solidFill>
                    <a:srgbClr val="8A93A6"/>
                  </a:solidFill>
                  <a:latin typeface="Calibri (MS) Bold"/>
                  <a:ea typeface="Calibri (MS) Bold"/>
                  <a:cs typeface="Calibri (MS) Bold"/>
                  <a:sym typeface="Calibri (MS) Bold"/>
                </a:rPr>
                <a:t>WHERE IT JUST RESTATED THE DATA</a:t>
              </a:r>
            </a:p>
          </p:txBody>
        </p:sp>
      </p:grpSp>
      <p:grpSp>
        <p:nvGrpSpPr>
          <p:cNvPr name="Group 21" id="21"/>
          <p:cNvGrpSpPr/>
          <p:nvPr/>
        </p:nvGrpSpPr>
        <p:grpSpPr>
          <a:xfrm rot="0">
            <a:off x="9669780" y="3429000"/>
            <a:ext cx="7406640" cy="4183380"/>
            <a:chOff x="0" y="0"/>
            <a:chExt cx="9875520" cy="5577840"/>
          </a:xfrm>
        </p:grpSpPr>
        <p:sp>
          <p:nvSpPr>
            <p:cNvPr name="Freeform 22" id="22"/>
            <p:cNvSpPr/>
            <p:nvPr/>
          </p:nvSpPr>
          <p:spPr>
            <a:xfrm flipH="false" flipV="false" rot="0">
              <a:off x="0" y="0"/>
              <a:ext cx="9875520" cy="5577840"/>
            </a:xfrm>
            <a:custGeom>
              <a:avLst/>
              <a:gdLst/>
              <a:ahLst/>
              <a:cxnLst/>
              <a:rect r="r" b="b" t="t" l="l"/>
              <a:pathLst>
                <a:path h="5577840" w="9875520">
                  <a:moveTo>
                    <a:pt x="0" y="0"/>
                  </a:moveTo>
                  <a:lnTo>
                    <a:pt x="9875520" y="0"/>
                  </a:lnTo>
                  <a:lnTo>
                    <a:pt x="9875520" y="5577840"/>
                  </a:lnTo>
                  <a:lnTo>
                    <a:pt x="0" y="5577840"/>
                  </a:lnTo>
                  <a:close/>
                </a:path>
              </a:pathLst>
            </a:custGeom>
            <a:blipFill>
              <a:blip r:embed="rId3">
                <a:alphaModFix amt="0"/>
              </a:blip>
              <a:stretch>
                <a:fillRect l="-22467" t="0" r="-22467" b="0"/>
              </a:stretch>
            </a:blipFill>
          </p:spPr>
        </p:sp>
        <p:sp>
          <p:nvSpPr>
            <p:cNvPr name="TextBox 23" id="23"/>
            <p:cNvSpPr txBox="true"/>
            <p:nvPr/>
          </p:nvSpPr>
          <p:spPr>
            <a:xfrm>
              <a:off x="0" y="-85725"/>
              <a:ext cx="9875520" cy="5663565"/>
            </a:xfrm>
            <a:prstGeom prst="rect">
              <a:avLst/>
            </a:prstGeom>
          </p:spPr>
          <p:txBody>
            <a:bodyPr anchor="ctr" rtlCol="false" tIns="0" lIns="0" bIns="0" rIns="0"/>
            <a:lstStyle/>
            <a:p>
              <a:pPr algn="l" marL="352901" indent="-176451" lvl="1">
                <a:lnSpc>
                  <a:spcPts val="2700"/>
                </a:lnSpc>
                <a:buFont typeface="Arial"/>
                <a:buChar char="•"/>
              </a:pPr>
              <a:r>
                <a:rPr lang="en-US" sz="1950">
                  <a:solidFill>
                    <a:srgbClr val="23283A"/>
                  </a:solidFill>
                  <a:latin typeface="Calibri (MS)"/>
                  <a:ea typeface="Calibri (MS)"/>
                  <a:cs typeface="Calibri (MS)"/>
                  <a:sym typeface="Calibri (MS)"/>
                </a:rPr>
                <a:t>First-draft answers sometimes just re-listed the lowest MAPE value per region with no unprompted reasoning</a:t>
              </a:r>
            </a:p>
            <a:p>
              <a:pPr algn="l" marL="352901" indent="-176451" lvl="1">
                <a:lnSpc>
                  <a:spcPts val="2700"/>
                </a:lnSpc>
                <a:buFont typeface="Arial"/>
                <a:buChar char="•"/>
              </a:pPr>
              <a:r>
                <a:rPr lang="en-US" sz="1950">
                  <a:solidFill>
                    <a:srgbClr val="23283A"/>
                  </a:solidFill>
                  <a:latin typeface="Calibri (MS)"/>
                  <a:ea typeface="Calibri (MS)"/>
                  <a:cs typeface="Calibri (MS)"/>
                  <a:sym typeface="Calibri (MS)"/>
                </a:rPr>
                <a:t>Needed explicit follow-up prompting to compare methods within a region rather than just report the winner</a:t>
              </a:r>
            </a:p>
            <a:p>
              <a:pPr algn="l" marL="352901" indent="-176451" lvl="1">
                <a:lnSpc>
                  <a:spcPts val="2700"/>
                </a:lnSpc>
                <a:buFont typeface="Arial"/>
                <a:buChar char="•"/>
              </a:pPr>
              <a:r>
                <a:rPr lang="en-US" sz="1950">
                  <a:solidFill>
                    <a:srgbClr val="23283A"/>
                  </a:solidFill>
                  <a:latin typeface="Calibri (MS)"/>
                  <a:ea typeface="Calibri (MS)"/>
                  <a:cs typeface="Calibri (MS)"/>
                  <a:sym typeface="Calibri (MS)"/>
                </a:rPr>
                <a:t>Did not proactively flag data-quality caveats (e.g., a 5-year sample) unless directly asked</a:t>
              </a:r>
            </a:p>
          </p:txBody>
        </p:sp>
      </p:grpSp>
      <p:grpSp>
        <p:nvGrpSpPr>
          <p:cNvPr name="Group 24" id="24"/>
          <p:cNvGrpSpPr/>
          <p:nvPr/>
        </p:nvGrpSpPr>
        <p:grpSpPr>
          <a:xfrm rot="0">
            <a:off x="822960" y="8161020"/>
            <a:ext cx="16664940" cy="1303020"/>
            <a:chOff x="0" y="0"/>
            <a:chExt cx="22219920" cy="1737360"/>
          </a:xfrm>
        </p:grpSpPr>
        <p:sp>
          <p:nvSpPr>
            <p:cNvPr name="Freeform 25" id="25"/>
            <p:cNvSpPr/>
            <p:nvPr/>
          </p:nvSpPr>
          <p:spPr>
            <a:xfrm flipH="false" flipV="false" rot="0">
              <a:off x="0" y="0"/>
              <a:ext cx="22219920" cy="1737360"/>
            </a:xfrm>
            <a:custGeom>
              <a:avLst/>
              <a:gdLst/>
              <a:ahLst/>
              <a:cxnLst/>
              <a:rect r="r" b="b" t="t" l="l"/>
              <a:pathLst>
                <a:path h="1737360" w="22219920">
                  <a:moveTo>
                    <a:pt x="0" y="219456"/>
                  </a:moveTo>
                  <a:cubicBezTo>
                    <a:pt x="0" y="98298"/>
                    <a:pt x="98298" y="0"/>
                    <a:pt x="219456" y="0"/>
                  </a:cubicBezTo>
                  <a:lnTo>
                    <a:pt x="22000463" y="0"/>
                  </a:lnTo>
                  <a:cubicBezTo>
                    <a:pt x="22121622" y="0"/>
                    <a:pt x="22219920" y="98298"/>
                    <a:pt x="22219920" y="219456"/>
                  </a:cubicBezTo>
                  <a:lnTo>
                    <a:pt x="22219920" y="1517904"/>
                  </a:lnTo>
                  <a:cubicBezTo>
                    <a:pt x="22219920" y="1639062"/>
                    <a:pt x="22121622" y="1737360"/>
                    <a:pt x="22000463" y="1737360"/>
                  </a:cubicBezTo>
                  <a:lnTo>
                    <a:pt x="219456" y="1737360"/>
                  </a:lnTo>
                  <a:cubicBezTo>
                    <a:pt x="98298" y="1737360"/>
                    <a:pt x="0" y="1639062"/>
                    <a:pt x="0" y="1517904"/>
                  </a:cubicBezTo>
                  <a:close/>
                </a:path>
              </a:pathLst>
            </a:custGeom>
            <a:solidFill>
              <a:srgbClr val="1E2761"/>
            </a:solidFill>
          </p:spPr>
        </p:sp>
      </p:grpSp>
      <p:grpSp>
        <p:nvGrpSpPr>
          <p:cNvPr name="Group 26" id="26"/>
          <p:cNvGrpSpPr/>
          <p:nvPr/>
        </p:nvGrpSpPr>
        <p:grpSpPr>
          <a:xfrm rot="0">
            <a:off x="1303020" y="8161020"/>
            <a:ext cx="15773400" cy="1303020"/>
            <a:chOff x="0" y="0"/>
            <a:chExt cx="21031200" cy="1737360"/>
          </a:xfrm>
        </p:grpSpPr>
        <p:sp>
          <p:nvSpPr>
            <p:cNvPr name="Freeform 27" id="27"/>
            <p:cNvSpPr/>
            <p:nvPr/>
          </p:nvSpPr>
          <p:spPr>
            <a:xfrm flipH="false" flipV="false" rot="0">
              <a:off x="0" y="0"/>
              <a:ext cx="21031200" cy="1737360"/>
            </a:xfrm>
            <a:custGeom>
              <a:avLst/>
              <a:gdLst/>
              <a:ahLst/>
              <a:cxnLst/>
              <a:rect r="r" b="b" t="t" l="l"/>
              <a:pathLst>
                <a:path h="1737360" w="21031200">
                  <a:moveTo>
                    <a:pt x="0" y="0"/>
                  </a:moveTo>
                  <a:lnTo>
                    <a:pt x="21031200" y="0"/>
                  </a:lnTo>
                  <a:lnTo>
                    <a:pt x="21031200" y="1737360"/>
                  </a:lnTo>
                  <a:lnTo>
                    <a:pt x="0" y="1737360"/>
                  </a:lnTo>
                  <a:close/>
                </a:path>
              </a:pathLst>
            </a:custGeom>
            <a:blipFill>
              <a:blip r:embed="rId3">
                <a:alphaModFix amt="0"/>
              </a:blip>
              <a:stretch>
                <a:fillRect l="0" t="-185871" r="0" b="-185871"/>
              </a:stretch>
            </a:blipFill>
          </p:spPr>
        </p:sp>
        <p:sp>
          <p:nvSpPr>
            <p:cNvPr name="TextBox 28" id="28"/>
            <p:cNvSpPr txBox="true"/>
            <p:nvPr/>
          </p:nvSpPr>
          <p:spPr>
            <a:xfrm>
              <a:off x="0" y="-9525"/>
              <a:ext cx="21031200" cy="1746885"/>
            </a:xfrm>
            <a:prstGeom prst="rect">
              <a:avLst/>
            </a:prstGeom>
          </p:spPr>
          <p:txBody>
            <a:bodyPr anchor="ctr" rtlCol="false" tIns="0" lIns="0" bIns="0" rIns="0"/>
            <a:lstStyle/>
            <a:p>
              <a:pPr algn="ctr">
                <a:lnSpc>
                  <a:spcPts val="2879"/>
                </a:lnSpc>
              </a:pPr>
              <a:r>
                <a:rPr lang="en-US" b="true" sz="2400" i="true">
                  <a:solidFill>
                    <a:srgbClr val="B08D57"/>
                  </a:solidFill>
                  <a:latin typeface="Cambria Bold Italics"/>
                  <a:ea typeface="Cambria Bold Italics"/>
                  <a:cs typeface="Cambria Bold Italics"/>
                  <a:sym typeface="Cambria Bold Italics"/>
                </a:rPr>
                <a:t>“The value NotebookLM added came from the questions I asked it — not from the tool working autonomously.”</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DAHTeW9LeZs</dc:identifier>
  <dcterms:modified xsi:type="dcterms:W3CDTF">2011-08-01T06:04:30Z</dcterms:modified>
  <cp:revision>1</cp:revision>
  <dc:title>Lab4_NotebookLM_Presentation.pptx</dc:title>
</cp:coreProperties>
</file>